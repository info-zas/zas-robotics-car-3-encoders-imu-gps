
<file path=[Content_Types].xml><?xml version="1.0" encoding="utf-8"?>
<Types xmlns="http://schemas.openxmlformats.org/package/2006/content-types">
  <Default Extension="wmf" ContentType="image/x-wmf"/>
  <Default Extension="png" ContentType="image/png"/>
  <Default Extension="jpeg" ContentType="image/jpeg"/>
  <Default Extension="xml" ContentType="application/xml"/>
  <Default Extension="rels" ContentType="application/vnd.openxmlformats-package.relationships+xml"/>
  <Default Extension="bin" ContentType="application/vnd.openxmlformats-officedocument.oleObject"/>
  <Override PartName="/ppt/notesSlides/notesSlide28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28.xml" ContentType="application/vnd.openxmlformats-officedocument.presentationml.slide+xml"/>
  <Override PartName="/ppt/slides/slide27.xml" ContentType="application/vnd.openxmlformats-officedocument.presentationml.slide+xml"/>
  <Override PartName="/ppt/slides/slide24.xml" ContentType="application/vnd.openxmlformats-officedocument.presentationml.slide+xml"/>
  <Override PartName="/ppt/slides/slide23.xml" ContentType="application/vnd.openxmlformats-officedocument.presentationml.slide+xml"/>
  <Override PartName="/ppt/notesSlides/notesSlide2.xml" ContentType="application/vnd.openxmlformats-officedocument.presentationml.notesSlide+xml"/>
  <Override PartName="/ppt/notesSlides/notesSlide14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16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20.xml" ContentType="application/vnd.openxmlformats-officedocument.presentationml.slide+xml"/>
  <Override PartName="/ppt/slides/slide9.xml" ContentType="application/vnd.openxmlformats-officedocument.presentationml.slide+xml"/>
  <Override PartName="/ppt/slides/slide6.xml" ContentType="application/vnd.openxmlformats-officedocument.presentationml.slide+xml"/>
  <Override PartName="/ppt/slides/slide10.xml" ContentType="application/vnd.openxmlformats-officedocument.presentationml.slide+xml"/>
  <Override PartName="/ppt/slides/slide3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Layouts/slideLayout10.xml" ContentType="application/vnd.openxmlformats-officedocument.presentationml.slideLayout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notesSlides/notesSlide11.xml" ContentType="application/vnd.openxmlformats-officedocument.presentationml.notesSlide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5.xml" ContentType="application/vnd.openxmlformats-officedocument.presentationml.notesSlide+xml"/>
  <Override PartName="/ppt/slideLayouts/slideLayout2.xml" ContentType="application/vnd.openxmlformats-officedocument.presentationml.slideLayout+xml"/>
  <Override PartName="/ppt/notesSlides/notesSlide7.xml" ContentType="application/vnd.openxmlformats-officedocument.presentationml.notesSlide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notesSlides/notesSlide17.xml" ContentType="application/vnd.openxmlformats-officedocument.presentationml.notesSlide+xml"/>
  <Override PartName="/ppt/slides/slide8.xml" ContentType="application/vnd.openxmlformats-officedocument.presentationml.slide+xml"/>
  <Override PartName="/ppt/slideLayouts/slideLayout6.xml" ContentType="application/vnd.openxmlformats-officedocument.presentationml.slideLayout+xml"/>
  <Override PartName="/ppt/slides/slide22.xml" ContentType="application/vnd.openxmlformats-officedocument.presentationml.slide+xml"/>
  <Override PartName="/docProps/app.xml" ContentType="application/vnd.openxmlformats-officedocument.extended-properties+xml"/>
  <Override PartName="/ppt/slideLayouts/slideLayout5.xml" ContentType="application/vnd.openxmlformats-officedocument.presentationml.slideLayout+xml"/>
  <Override PartName="/ppt/slides/slide4.xml" ContentType="application/vnd.openxmlformats-officedocument.presentationml.slide+xml"/>
  <Override PartName="/ppt/slides/slide21.xml" ContentType="application/vnd.openxmlformats-officedocument.presentationml.slide+xml"/>
  <Override PartName="/docProps/core.xml" ContentType="application/vnd.openxmlformats-package.core-properties+xml"/>
  <Override PartName="/ppt/slides/slide19.xml" ContentType="application/vnd.openxmlformats-officedocument.presentationml.slide+xml"/>
  <Override PartName="/ppt/viewProps.xml" ContentType="application/vnd.openxmlformats-officedocument.presentationml.viewProps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notesSlides/notesSlide8.xml" ContentType="application/vnd.openxmlformats-officedocument.presentationml.notesSlide+xml"/>
  <Override PartName="/ppt/slides/slide7.xml" ContentType="application/vnd.openxmlformats-officedocument.presentationml.slide+xml"/>
  <Override PartName="/ppt/slides/slide26.xml" ContentType="application/vnd.openxmlformats-officedocument.presentationml.slide+xml"/>
  <Override PartName="/ppt/slides/slide5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25.xml" ContentType="application/vnd.openxmlformats-officedocument.presentationml.slide+xml"/>
  <Override PartName="/ppt/notesSlides/notesSlide19.xml" ContentType="application/vnd.openxmlformats-officedocument.presentationml.notesSlide+xml"/>
  <Override PartName="/ppt/presentation.xml" ContentType="application/vnd.openxmlformats-officedocument.presentationml.presentation.main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32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</p:sldIdLst>
  <p:sldSz cx="12192000" cy="6858000"/>
  <p:notesSz cx="6858000" cy="9144000"/>
  <p:defaultTextStyle>
    <a:defPPr>
      <a:defRPr lang="en-US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>
              <a:solidFill>
                <a:schemeClr val="lt1"/>
              </a:solidFill>
            </a:ln>
          </a:left>
          <a:right>
            <a:ln w="12700">
              <a:solidFill>
                <a:schemeClr val="lt1"/>
              </a:solidFill>
            </a:ln>
          </a:right>
          <a:top>
            <a:ln w="12700">
              <a:solidFill>
                <a:schemeClr val="lt1"/>
              </a:solidFill>
            </a:ln>
          </a:top>
          <a:bottom>
            <a:ln w="12700">
              <a:solidFill>
                <a:schemeClr val="lt1"/>
              </a:solidFill>
            </a:ln>
          </a:bottom>
          <a:insideH>
            <a:ln w="12700">
              <a:solidFill>
                <a:schemeClr val="lt1"/>
              </a:solidFill>
            </a:ln>
          </a:insideH>
          <a:insideV>
            <a:ln w="12700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  <a:fill>
          <a:solidFill>
            <a:schemeClr val="accent1">
              <a:tint val="40000"/>
            </a:schemeClr>
          </a:solidFill>
        </a:fill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Ref idx="minor">
          <a:prstClr val="black"/>
        </a:fontRef>
        <a:schemeClr val="lt1"/>
      </a:tcTxStyle>
      <a:tcStyle>
        <a:tcBdr>
          <a:bottom>
            <a:ln w="38100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70" d="100"/>
          <a:sy n="70" d="100"/>
        </p:scale>
        <p:origin x="1166" y="278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 /><Relationship Id="rId34" Type="http://schemas.openxmlformats.org/officeDocument/2006/relationships/tableStyles" Target="tableStyles.xml" /><Relationship Id="rId35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152116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882783137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117586294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417935717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242210297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158955655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 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 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 ?>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 ?>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 ?>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 ?>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 ?>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 ?>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 ?>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 ?>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 ?>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4488131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1566420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75604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24628D2-0276-7CE8-68C8-A30FE23A6892}" type="slidenum">
              <a:rPr/>
              <a:t/>
            </a:fld>
            <a:endParaRPr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008877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9713268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41464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B2697BB-424E-5718-8107-6BD576F420E8}" type="slidenum">
              <a:rPr/>
              <a:t/>
            </a:fld>
            <a:endParaRPr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915519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9206488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66784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8A4FDE1-3F0C-4337-9D7C-1B70B7216FD1}" type="slidenum">
              <a:rPr/>
              <a:t/>
            </a:fld>
            <a:endParaRPr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430082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246173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3075017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09099D0-B779-4006-3FB6-6199EC37BC99}" type="slidenum">
              <a:rPr/>
              <a:t/>
            </a:fld>
            <a:endParaRPr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095982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232684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22301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D99F1E8-1321-585C-3D9F-F3FDD3EC226D}" type="slidenum">
              <a:rPr/>
              <a:t/>
            </a:fld>
            <a:endParaRPr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118415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913119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441720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A8141-FB9B-3C7F-C8D9-5CEEB289AB1E}" type="slidenum">
              <a:rPr/>
              <a:t/>
            </a:fld>
            <a:endParaRPr/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537220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5729145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024468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EFF108B-88C0-13DC-1C5A-DEA3291501A9}" type="slidenum">
              <a:rPr/>
              <a:t/>
            </a:fld>
            <a:endParaRPr/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747564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026361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553463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8179075-8FE4-8AAB-263C-0101DC4E5F8E}" type="slidenum">
              <a:rPr/>
              <a:t/>
            </a:fld>
            <a:endParaRPr/>
          </a:p>
        </p:txBody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951780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7509582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255815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6EE37EB-7213-E5D1-AE98-F2D0D09CD6C9}" type="slidenum">
              <a:rPr/>
              <a:t/>
            </a:fld>
            <a:endParaRPr/>
          </a:p>
        </p:txBody>
      </p:sp>
    </p:spTree>
  </p:cSld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304145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853600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624054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B3201FF-9CAB-F93A-ACB7-FEC1B08936EC}" type="slidenum">
              <a:rPr/>
              <a:t/>
            </a:fld>
            <a:endParaRPr/>
          </a:p>
        </p:txBody>
      </p:sp>
    </p:spTree>
  </p:cSld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131282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961421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499469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5257A08-ECFA-0615-D751-451BDC6AC83D}" type="slidenum">
              <a:rPr/>
              <a:t/>
            </a:fld>
            <a:endParaRPr/>
          </a:p>
        </p:txBody>
      </p:sp>
    </p:spTree>
  </p:cSld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590485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7844936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8978605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B2F9B8A-82DE-DE30-0A39-07AC1AA4545E}" type="slidenum">
              <a:rPr/>
              <a:t/>
            </a:fld>
            <a:endParaRPr/>
          </a:p>
        </p:txBody>
      </p:sp>
    </p:spTree>
  </p:cSld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283022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4653641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40006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362D6B3-2D79-9C08-B889-4C1AAE474F36}" type="slidenum">
              <a:rPr/>
              <a:t/>
            </a:fld>
            <a:endParaRPr/>
          </a:p>
        </p:txBody>
      </p:sp>
    </p:spTree>
  </p:cSld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582240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930648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91353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240B3F6-BD55-99E7-2ABC-0C6F42E00738}" type="slidenum">
              <a:rPr/>
              <a:t/>
            </a:fld>
            <a:endParaRPr/>
          </a:p>
        </p:txBody>
      </p:sp>
    </p:spTree>
  </p:cSld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714346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685074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63463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EFD0AF3-9423-1090-E642-2E5628F1845F}" type="slidenum">
              <a:rPr/>
              <a:t/>
            </a:fld>
            <a:endParaRPr/>
          </a:p>
        </p:txBody>
      </p:sp>
    </p:spTree>
  </p:cSld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208769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4518429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46392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26FC32B-3A74-67E7-AF86-153688E0125E}" type="slidenum">
              <a:rPr/>
              <a:t/>
            </a:fld>
            <a:endParaRPr/>
          </a:p>
        </p:txBody>
      </p:sp>
    </p:spTree>
  </p:cSld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661926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9146125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5453633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ECDD7F8-9015-6ABA-BDD4-2A8E1F8E5A26}" type="slidenum">
              <a:rPr/>
              <a:t/>
            </a:fld>
            <a:endParaRPr/>
          </a:p>
        </p:txBody>
      </p:sp>
    </p:spTree>
  </p:cSld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7510660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230662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742150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CFD2424-1490-D757-E029-5C8D5C976603}" type="slidenum">
              <a:rPr/>
              <a:t/>
            </a:fld>
            <a:endParaRPr/>
          </a:p>
        </p:txBody>
      </p:sp>
    </p:spTree>
  </p:cSld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219862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654718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6868370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8F4523B-65A3-ADE9-0D9B-978AF2014F62}" type="slidenum">
              <a:rPr/>
              <a:t/>
            </a:fld>
            <a:endParaRPr/>
          </a:p>
        </p:txBody>
      </p:sp>
    </p:spTree>
  </p:cSld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646223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664339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48575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92085A1-3BE4-2D21-85C5-FAB80111CFDD}" type="slidenum">
              <a:rPr/>
              <a:t/>
            </a:fld>
            <a:endParaRPr/>
          </a:p>
        </p:txBody>
      </p:sp>
    </p:spTree>
  </p:cSld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355018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6646715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028042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9A23FAA-6ACF-652B-DF6B-3B0CB1987AAD}" type="slidenum">
              <a:rPr/>
              <a:t/>
            </a:fld>
            <a:endParaRPr/>
          </a:p>
        </p:txBody>
      </p:sp>
    </p:spTree>
  </p:cSld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493698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620514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697158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51B74-4D22-FBD4-B81C-3C7CC4531A9E}" type="slidenum">
              <a:rPr/>
              <a:t/>
            </a:fld>
            <a:endParaRPr/>
          </a:p>
        </p:txBody>
      </p:sp>
    </p:spTree>
  </p:cSld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320700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0116377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9996429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B01371A-401D-9DBF-16EB-4A8714A603F5}" type="slidenum">
              <a:rPr/>
              <a:t/>
            </a:fld>
            <a:endParaRPr/>
          </a:p>
        </p:txBody>
      </p:sp>
    </p:spTree>
  </p:cSld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565759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1407468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5632362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6D8F3D6-F9C8-B728-6F0E-F0B89EF175D7}" type="slidenum">
              <a:rPr/>
              <a:t/>
            </a:fld>
            <a:endParaRPr/>
          </a:p>
        </p:txBody>
      </p:sp>
    </p:spTree>
  </p:cSld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369089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9021543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168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96D6133-EE1A-DD40-1260-845126AFCAC6}" type="slidenum">
              <a:rPr/>
              <a:t/>
            </a:fld>
            <a:endParaRPr/>
          </a:p>
        </p:txBody>
      </p:sp>
    </p:spTree>
  </p:cSld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23576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0200420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3442759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096AE28-1750-FB0A-13D1-D80273FFDC97}" type="slidenum">
              <a:rPr/>
              <a:t/>
            </a:fld>
            <a:endParaRPr/>
          </a:p>
        </p:txBody>
      </p:sp>
    </p:spTree>
  </p:cSld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372622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5086137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876063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C401278-5463-3FBB-39EC-EA3E47386B1E}" type="slidenum">
              <a:rPr/>
              <a:t/>
            </a:fld>
            <a:endParaRPr/>
          </a:p>
        </p:txBody>
      </p:sp>
    </p:spTree>
  </p:cSld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631212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7497688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646894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7932549-8DF2-14CE-32DE-B4134FF987BE}" type="slidenum">
              <a:rPr/>
              <a:t/>
            </a:fld>
            <a:endParaRPr/>
          </a:p>
        </p:txBody>
      </p:sp>
    </p:spTree>
  </p:cSld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6714253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58831179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204185918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1D51BA1-F58B-40DF-9C13-73BC69DE2A80}" type="datetimeFigureOut">
              <a:rPr lang="en-GB"/>
              <a:t>29/11/2025</a:t>
            </a:fld>
            <a:endParaRPr lang="en-GB"/>
          </a:p>
        </p:txBody>
      </p:sp>
      <p:sp>
        <p:nvSpPr>
          <p:cNvPr id="93156647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34180698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9FCE3CD-8E5B-4FEB-BC1E-3D61BE3CC713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643575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227640847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139028451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1D51BA1-F58B-40DF-9C13-73BC69DE2A80}" type="datetimeFigureOut">
              <a:rPr lang="en-GB"/>
              <a:t>29/11/2025</a:t>
            </a:fld>
            <a:endParaRPr lang="en-GB"/>
          </a:p>
        </p:txBody>
      </p:sp>
      <p:sp>
        <p:nvSpPr>
          <p:cNvPr id="48372337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75133396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9FCE3CD-8E5B-4FEB-BC1E-3D61BE3CC713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6267547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43292864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58356356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1D51BA1-F58B-40DF-9C13-73BC69DE2A80}" type="datetimeFigureOut">
              <a:rPr lang="en-GB"/>
              <a:t>29/11/2025</a:t>
            </a:fld>
            <a:endParaRPr lang="en-GB"/>
          </a:p>
        </p:txBody>
      </p:sp>
      <p:sp>
        <p:nvSpPr>
          <p:cNvPr id="33140643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28721724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9FCE3CD-8E5B-4FEB-BC1E-3D61BE3CC713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568012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911040331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1424874629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1549478893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1D51BA1-F58B-40DF-9C13-73BC69DE2A80}" type="datetimeFigureOut">
              <a:rPr lang="en-GB"/>
              <a:t>29/11/2025</a:t>
            </a:fld>
            <a:endParaRPr lang="en-GB"/>
          </a:p>
        </p:txBody>
      </p:sp>
      <p:sp>
        <p:nvSpPr>
          <p:cNvPr id="2124339060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474603171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9FCE3CD-8E5B-4FEB-BC1E-3D61BE3CC713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5216728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6156590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353727036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131109859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083346941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1029911895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1D51BA1-F58B-40DF-9C13-73BC69DE2A80}" type="datetimeFigureOut">
              <a:rPr lang="en-GB"/>
              <a:t>29/11/2025</a:t>
            </a:fld>
            <a:endParaRPr lang="en-GB"/>
          </a:p>
        </p:txBody>
      </p:sp>
      <p:sp>
        <p:nvSpPr>
          <p:cNvPr id="1922568269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494445596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9FCE3CD-8E5B-4FEB-BC1E-3D61BE3CC713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457362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672270455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1D51BA1-F58B-40DF-9C13-73BC69DE2A80}" type="datetimeFigureOut">
              <a:rPr lang="en-GB"/>
              <a:t>29/11/2025</a:t>
            </a:fld>
            <a:endParaRPr lang="en-GB"/>
          </a:p>
        </p:txBody>
      </p:sp>
      <p:sp>
        <p:nvSpPr>
          <p:cNvPr id="517931608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2055514535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9FCE3CD-8E5B-4FEB-BC1E-3D61BE3CC713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3190242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1D51BA1-F58B-40DF-9C13-73BC69DE2A80}" type="datetimeFigureOut">
              <a:rPr lang="en-GB"/>
              <a:t>29/11/2025</a:t>
            </a:fld>
            <a:endParaRPr lang="en-GB"/>
          </a:p>
        </p:txBody>
      </p:sp>
      <p:sp>
        <p:nvSpPr>
          <p:cNvPr id="276915924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054995674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9FCE3CD-8E5B-4FEB-BC1E-3D61BE3CC713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7440243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920144163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302626482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901304136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1D51BA1-F58B-40DF-9C13-73BC69DE2A80}" type="datetimeFigureOut">
              <a:rPr lang="en-GB"/>
              <a:t>29/11/2025</a:t>
            </a:fld>
            <a:endParaRPr lang="en-GB"/>
          </a:p>
        </p:txBody>
      </p:sp>
      <p:sp>
        <p:nvSpPr>
          <p:cNvPr id="1298382889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883414140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9FCE3CD-8E5B-4FEB-BC1E-3D61BE3CC713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7999338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25100973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en-GB"/>
          </a:p>
        </p:txBody>
      </p:sp>
      <p:sp>
        <p:nvSpPr>
          <p:cNvPr id="1288773970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451268142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1D51BA1-F58B-40DF-9C13-73BC69DE2A80}" type="datetimeFigureOut">
              <a:rPr lang="en-GB"/>
              <a:t>29/11/2025</a:t>
            </a:fld>
            <a:endParaRPr lang="en-GB"/>
          </a:p>
        </p:txBody>
      </p:sp>
      <p:sp>
        <p:nvSpPr>
          <p:cNvPr id="725348140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468661732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9FCE3CD-8E5B-4FEB-BC1E-3D61BE3CC713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409314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17161655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209836488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1D51BA1-F58B-40DF-9C13-73BC69DE2A80}" type="datetimeFigureOut">
              <a:rPr lang="en-GB"/>
              <a:t>29/11/2025</a:t>
            </a:fld>
            <a:endParaRPr lang="en-GB"/>
          </a:p>
        </p:txBody>
      </p:sp>
      <p:sp>
        <p:nvSpPr>
          <p:cNvPr id="19754812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46436464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9FCE3CD-8E5B-4FEB-BC1E-3D61BE3CC713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2321956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35781878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195257250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1D51BA1-F58B-40DF-9C13-73BC69DE2A80}" type="datetimeFigureOut">
              <a:rPr lang="en-GB"/>
              <a:t>29/11/2025</a:t>
            </a:fld>
            <a:endParaRPr lang="en-GB"/>
          </a:p>
        </p:txBody>
      </p:sp>
      <p:sp>
        <p:nvSpPr>
          <p:cNvPr id="16102551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96344475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9FCE3CD-8E5B-4FEB-BC1E-3D61BE3CC713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6910111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2096422436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555096806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fld id="{A1D51BA1-F58B-40DF-9C13-73BC69DE2A80}" type="datetimeFigureOut">
              <a:rPr lang="en-GB"/>
              <a:t>29/11/2025</a:t>
            </a:fld>
            <a:endParaRPr lang="en-GB"/>
          </a:p>
        </p:txBody>
      </p:sp>
      <p:sp>
        <p:nvSpPr>
          <p:cNvPr id="437623500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09951748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fld id="{09FCE3CD-8E5B-4FEB-BC1E-3D61BE3CC713}" type="slidenum">
              <a:rPr lang="en-GB"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Relationship Id="rId4" Type="http://schemas.openxmlformats.org/officeDocument/2006/relationships/image" Target="../media/image18.png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Relationship Id="rId7" Type="http://schemas.openxmlformats.org/officeDocument/2006/relationships/image" Target="../media/image24.png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Relationship Id="rId4" Type="http://schemas.openxmlformats.org/officeDocument/2006/relationships/image" Target="../media/image25.png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Relationship Id="rId6" Type="http://schemas.openxmlformats.org/officeDocument/2006/relationships/image" Target="../media/image28.png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png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png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png"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.png"/></Relationships>
</file>

<file path=ppt/slides/_rels/slide2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9.png"/><Relationship Id="rId4" Type="http://schemas.openxmlformats.org/officeDocument/2006/relationships/image" Target="../media/image30.png"/></Relationships>
</file>

<file path=ppt/slides/_rels/slide2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9.png"/></Relationships>
</file>

<file path=ppt/slides/_rels/slide2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8495083" name="Title 1"/>
          <p:cNvSpPr>
            <a:spLocks noGrp="1"/>
          </p:cNvSpPr>
          <p:nvPr>
            <p:ph type="ctrTitle"/>
          </p:nvPr>
        </p:nvSpPr>
        <p:spPr bwMode="auto">
          <a:xfrm>
            <a:off x="0" y="1122363"/>
            <a:ext cx="12192000" cy="2387600"/>
          </a:xfrm>
        </p:spPr>
        <p:txBody>
          <a:bodyPr/>
          <a:lstStyle/>
          <a:p>
            <a:pPr>
              <a:defRPr/>
            </a:pPr>
            <a:r>
              <a:rPr lang="en-GB">
                <a:solidFill>
                  <a:schemeClr val="bg1"/>
                </a:solidFill>
              </a:rPr>
              <a:t>ZAS Robotic Products</a:t>
            </a:r>
            <a:endParaRPr/>
          </a:p>
        </p:txBody>
      </p:sp>
      <p:sp>
        <p:nvSpPr>
          <p:cNvPr id="2146304603" name="Subtitle 2"/>
          <p:cNvSpPr>
            <a:spLocks noGrp="1"/>
          </p:cNvSpPr>
          <p:nvPr>
            <p:ph type="subTitle" idx="1"/>
          </p:nvPr>
        </p:nvSpPr>
        <p:spPr bwMode="auto">
          <a:xfrm flipH="0" flipV="0">
            <a:off x="1523998" y="3602036"/>
            <a:ext cx="9144000" cy="2721938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lang="en-GB" sz="3200">
                <a:solidFill>
                  <a:schemeClr val="accent4"/>
                </a:solidFill>
              </a:rPr>
              <a:t>Navigational Robotic Series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 lang="en-GB" sz="2800">
                <a:solidFill>
                  <a:schemeClr val="accent5">
                    <a:lumMod val="75000"/>
                  </a:schemeClr>
                </a:solidFill>
                <a:latin typeface="Poppins"/>
                <a:ea typeface="Poppins"/>
                <a:cs typeface="Poppins"/>
              </a:rPr>
              <a:t>Robot Car-</a:t>
            </a:r>
            <a:r>
              <a:rPr lang="en-US" sz="2800">
                <a:solidFill>
                  <a:schemeClr val="accent5">
                    <a:lumMod val="75000"/>
                  </a:schemeClr>
                </a:solidFill>
                <a:latin typeface="Poppins"/>
                <a:ea typeface="Poppins"/>
                <a:cs typeface="Poppins"/>
              </a:rPr>
              <a:t>3</a:t>
            </a:r>
            <a:r>
              <a:rPr lang="en-GB" sz="2800">
                <a:solidFill>
                  <a:schemeClr val="accent5">
                    <a:lumMod val="75000"/>
                  </a:schemeClr>
                </a:solidFill>
                <a:latin typeface="Poppins"/>
                <a:ea typeface="Poppins"/>
                <a:cs typeface="Poppins"/>
              </a:rPr>
              <a:t> (</a:t>
            </a:r>
            <a:r>
              <a:rPr lang="en-US" sz="2800">
                <a:solidFill>
                  <a:schemeClr val="accent5">
                    <a:lumMod val="75000"/>
                  </a:schemeClr>
                </a:solidFill>
                <a:latin typeface="Poppins"/>
                <a:ea typeface="Poppins"/>
                <a:cs typeface="Poppins"/>
              </a:rPr>
              <a:t>Advanced Autonomy)</a:t>
            </a:r>
            <a:endParaRPr lang="en-GB" sz="3200">
              <a:solidFill>
                <a:schemeClr val="accent5"/>
              </a:solidFill>
            </a:endParaRPr>
          </a:p>
          <a:p>
            <a:pPr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Gyro-Aided Odometry (Z-axis) with PI Speed Control</a:t>
            </a:r>
            <a:endParaRPr sz="2800" b="0" i="0" u="none">
              <a:solidFill>
                <a:schemeClr val="bg1"/>
              </a:solidFill>
              <a:latin typeface="Aptos Display"/>
              <a:ea typeface="Aptos Display"/>
              <a:cs typeface="Aptos Display"/>
            </a:endParaRPr>
          </a:p>
          <a:p>
            <a:pPr>
              <a:defRPr/>
            </a:pPr>
            <a:r>
              <a:rPr lang="en-US"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(</a:t>
            </a: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Sensor Fusion for Better Heading Estimation</a:t>
            </a:r>
            <a:r>
              <a:rPr lang="en-US"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)</a:t>
            </a:r>
            <a:endParaRPr lang="en-GB" sz="3200">
              <a:solidFill>
                <a:schemeClr val="accent5"/>
              </a:solidFill>
            </a:endParaRPr>
          </a:p>
        </p:txBody>
      </p:sp>
      <p:pic>
        <p:nvPicPr>
          <p:cNvPr id="2027364835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7966071" y="156102"/>
            <a:ext cx="4042963" cy="10897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9337967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23284" y="-35461"/>
            <a:ext cx="10515600" cy="1103685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 fontScale="90000" lnSpcReduction="2000"/>
          </a:bodyPr>
          <a:lstStyle/>
          <a:p>
            <a:pPr>
              <a:defRPr/>
            </a:pPr>
            <a:r>
              <a:rPr lang="en-US" sz="4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Gyro-Aided Odometry (Z-axis) with PI Speed Control</a:t>
            </a:r>
            <a:endParaRPr/>
          </a:p>
        </p:txBody>
      </p:sp>
      <p:sp>
        <p:nvSpPr>
          <p:cNvPr id="338799950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274177" y="1068223"/>
            <a:ext cx="11643644" cy="5795116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lang="en-US" sz="2800" b="1" i="0" u="none" strike="noStrike" cap="none" spc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Robot Car-3 - Assembled view and Creative Board component layout</a:t>
            </a:r>
            <a:endParaRPr sz="2800" b="1" i="0" u="none">
              <a:solidFill>
                <a:schemeClr val="bg1"/>
              </a:solidFill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245503730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3" y="156101"/>
            <a:ext cx="2037719" cy="549228"/>
          </a:xfrm>
          <a:prstGeom prst="rect">
            <a:avLst/>
          </a:prstGeom>
        </p:spPr>
      </p:pic>
      <p:pic>
        <p:nvPicPr>
          <p:cNvPr id="802915439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526121" y="1554661"/>
            <a:ext cx="4557756" cy="5014917"/>
          </a:xfrm>
          <a:prstGeom prst="rect">
            <a:avLst/>
          </a:prstGeom>
        </p:spPr>
      </p:pic>
      <p:sp>
        <p:nvSpPr>
          <p:cNvPr id="1349203074" name=""/>
          <p:cNvSpPr/>
          <p:nvPr/>
        </p:nvSpPr>
        <p:spPr bwMode="auto">
          <a:xfrm flipH="0" flipV="0">
            <a:off x="3819812" y="3302593"/>
            <a:ext cx="2020724" cy="195841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854060407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rot="0" flipH="0" flipV="0">
            <a:off x="5840537" y="1495513"/>
            <a:ext cx="5287710" cy="512747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3823295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17147" y="42546"/>
            <a:ext cx="10515600" cy="1132499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 fontScale="90000" lnSpcReduction="2000"/>
          </a:bodyPr>
          <a:lstStyle/>
          <a:p>
            <a:pPr>
              <a:defRPr/>
            </a:pPr>
            <a:r>
              <a:rPr lang="en-US" sz="48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Gyro-Aided Odometry (Z-axis) with PI Speed Control</a:t>
            </a:r>
            <a:endParaRPr/>
          </a:p>
        </p:txBody>
      </p:sp>
      <p:sp>
        <p:nvSpPr>
          <p:cNvPr id="2079294821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393105" y="1299671"/>
            <a:ext cx="11023515" cy="5145280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Objective of This Program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What is the goal?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This program makes the robot: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Drive </a:t>
            </a: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straight forward</a:t>
            </a: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~1 meter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Maintain </a:t>
            </a: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controlled wheel speed</a:t>
            </a: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(PI control)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Estimate pose </a:t>
            </a: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(</a:t>
            </a: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x</a:t>
            </a: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,</a:t>
            </a: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y</a:t>
            </a: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,</a:t>
            </a: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θ</a:t>
            </a: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)</a:t>
            </a: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using </a:t>
            </a: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odometry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Improve heading </a:t>
            </a: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θ</a:t>
            </a: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using </a:t>
            </a: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MPU6050 gyro Z-axis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Display live data on OLED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It answers: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“How can we reduce odometry heading error using a gyroscope?”</a:t>
            </a:r>
            <a:endParaRPr/>
          </a:p>
        </p:txBody>
      </p:sp>
      <p:pic>
        <p:nvPicPr>
          <p:cNvPr id="1635588000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2" y="156100"/>
            <a:ext cx="2037718" cy="54922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2894413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17146" y="42545"/>
            <a:ext cx="10515600" cy="1132498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 fontScale="90000" lnSpcReduction="2000"/>
          </a:bodyPr>
          <a:lstStyle/>
          <a:p>
            <a:pPr>
              <a:defRPr/>
            </a:pPr>
            <a:r>
              <a:rPr lang="en-US" sz="48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Gyro-Aided Odometry (Z-axis) with PI Speed Control</a:t>
            </a:r>
            <a:endParaRPr/>
          </a:p>
        </p:txBody>
      </p:sp>
      <p:sp>
        <p:nvSpPr>
          <p:cNvPr id="2069242859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393104" y="1299670"/>
            <a:ext cx="11546519" cy="5431329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95000" lnSpcReduction="1000"/>
          </a:bodyPr>
          <a:lstStyle/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Big Picture: Why This Lesson Exists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Why gyro-aided odometry?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Encoder-only odometry works, but in real robots: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Wheels slip slightly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Left/right wheel diameters differ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Floor friction changes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Encoder-only heading </a:t>
            </a: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θ</a:t>
            </a: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drifts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Gyro measures </a:t>
            </a: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rotation directly</a:t>
            </a: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, so we combine: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Encoders → reliable distance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Gyro Z → reliable short-term heading rate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This is the entry point to </a:t>
            </a: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sensor fusion</a:t>
            </a: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(core autonomy skill)</a:t>
            </a:r>
            <a:endParaRPr/>
          </a:p>
        </p:txBody>
      </p:sp>
      <p:pic>
        <p:nvPicPr>
          <p:cNvPr id="400538415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1" y="156099"/>
            <a:ext cx="2037717" cy="54922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3359437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17146" y="42545"/>
            <a:ext cx="10515600" cy="1132498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 fontScale="90000" lnSpcReduction="2000"/>
          </a:bodyPr>
          <a:lstStyle/>
          <a:p>
            <a:pPr>
              <a:defRPr/>
            </a:pPr>
            <a:r>
              <a:rPr lang="en-US" sz="48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Gyro-Aided Odometry (Z-axis) with PI Speed Control</a:t>
            </a:r>
            <a:endParaRPr/>
          </a:p>
        </p:txBody>
      </p:sp>
      <p:sp>
        <p:nvSpPr>
          <p:cNvPr id="2037080528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393104" y="1299670"/>
            <a:ext cx="11546519" cy="5431329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Learning Outcomes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After this experiment, students can: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Explain </a:t>
            </a: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odometry</a:t>
            </a: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and robot pose </a:t>
            </a: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(</a:t>
            </a: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x</a:t>
            </a: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,</a:t>
            </a: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y</a:t>
            </a: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,</a:t>
            </a: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θ</a:t>
            </a: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)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Compute speed from encoders (ticks/sec)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Implement </a:t>
            </a: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PI speed control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Calibrate and use </a:t>
            </a: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gyro bias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Fuse gyro + encoder heading using a complementary blend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Understand why fusion improves navigation robustness</a:t>
            </a:r>
            <a:endParaRPr/>
          </a:p>
        </p:txBody>
      </p:sp>
      <p:pic>
        <p:nvPicPr>
          <p:cNvPr id="750125775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1" y="156099"/>
            <a:ext cx="2037717" cy="54922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1714308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17146" y="42545"/>
            <a:ext cx="10515600" cy="1132498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 fontScale="90000" lnSpcReduction="2000"/>
          </a:bodyPr>
          <a:lstStyle/>
          <a:p>
            <a:pPr>
              <a:defRPr/>
            </a:pPr>
            <a:r>
              <a:rPr lang="en-US" sz="48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Gyro-Aided Odometry (Z-axis) with PI Speed Control</a:t>
            </a:r>
            <a:endParaRPr/>
          </a:p>
        </p:txBody>
      </p:sp>
      <p:sp>
        <p:nvSpPr>
          <p:cNvPr id="1619245766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393104" y="1299670"/>
            <a:ext cx="11546519" cy="5431329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System Components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Hardware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Differential-drive robot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Wheel encoders (Left/Right)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TB6612 motor driver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MPU6050 IMU (gyro + accel)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OLED (U8X8)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Sensors Used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Encoders: distance &amp; wheel speed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Gyro Z: yaw rate (turning rate)</a:t>
            </a:r>
            <a:endParaRPr/>
          </a:p>
        </p:txBody>
      </p:sp>
      <p:pic>
        <p:nvPicPr>
          <p:cNvPr id="1240574587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1" y="156099"/>
            <a:ext cx="2037717" cy="54922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4112016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17146" y="42545"/>
            <a:ext cx="10515600" cy="1132498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 fontScale="90000" lnSpcReduction="2000"/>
          </a:bodyPr>
          <a:lstStyle/>
          <a:p>
            <a:pPr>
              <a:defRPr/>
            </a:pPr>
            <a:r>
              <a:rPr lang="en-US" sz="48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Gyro-Aided Odometry (Z-axis) with PI Speed Control</a:t>
            </a:r>
            <a:endParaRPr/>
          </a:p>
        </p:txBody>
      </p:sp>
      <p:sp>
        <p:nvSpPr>
          <p:cNvPr id="93018087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393104" y="1299670"/>
            <a:ext cx="11546519" cy="5431329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System Components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Hardware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Differential-drive robot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Wheel encoders (Left/Right)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TB6612 motor driver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MPU6050 IMU (gyro + accel)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OLED (U8X8)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Sensors Used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Encoders: distance &amp; wheel speed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Gyro Z: yaw rate (turning rate)</a:t>
            </a:r>
            <a:endParaRPr/>
          </a:p>
        </p:txBody>
      </p:sp>
      <p:pic>
        <p:nvPicPr>
          <p:cNvPr id="395812345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1" y="156099"/>
            <a:ext cx="2037717" cy="54922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7324384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17146" y="42545"/>
            <a:ext cx="10515600" cy="1132498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 fontScale="90000" lnSpcReduction="2000"/>
          </a:bodyPr>
          <a:lstStyle/>
          <a:p>
            <a:pPr>
              <a:defRPr/>
            </a:pPr>
            <a:r>
              <a:rPr lang="en-US" sz="48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Gyro-Aided Odometry (Z-axis) with PI Speed Control</a:t>
            </a:r>
            <a:endParaRPr/>
          </a:p>
        </p:txBody>
      </p:sp>
      <p:sp>
        <p:nvSpPr>
          <p:cNvPr id="1598791552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393104" y="1299670"/>
            <a:ext cx="11546519" cy="5431329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System Components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Hardware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Differential-drive robot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Wheel encoders (Left/Right)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TB6612 motor driver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MPU6050 IMU (gyro + accel)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OLED (U8X8)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Sensors Used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Encoders: distance &amp; wheel speed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Gyro Z: yaw rate (turning rate)</a:t>
            </a:r>
            <a:endParaRPr/>
          </a:p>
        </p:txBody>
      </p:sp>
      <p:pic>
        <p:nvPicPr>
          <p:cNvPr id="1045782685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1" y="156099"/>
            <a:ext cx="2037717" cy="54922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5156017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17146" y="42545"/>
            <a:ext cx="10515600" cy="1132498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 fontScale="90000" lnSpcReduction="2000"/>
          </a:bodyPr>
          <a:lstStyle/>
          <a:p>
            <a:pPr>
              <a:defRPr/>
            </a:pPr>
            <a:r>
              <a:rPr lang="en-US" sz="48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Gyro-Aided Odometry (Z-axis) with PI Speed Control</a:t>
            </a:r>
            <a:endParaRPr/>
          </a:p>
        </p:txBody>
      </p:sp>
      <p:sp>
        <p:nvSpPr>
          <p:cNvPr id="843674245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49249" y="1175044"/>
            <a:ext cx="11890374" cy="5714704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sz="24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Key Terms </a:t>
            </a:r>
            <a:endParaRPr/>
          </a:p>
        </p:txBody>
      </p:sp>
      <p:pic>
        <p:nvPicPr>
          <p:cNvPr id="1009688616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1" y="156099"/>
            <a:ext cx="2037717" cy="549226"/>
          </a:xfrm>
          <a:prstGeom prst="rect">
            <a:avLst/>
          </a:prstGeom>
        </p:spPr>
      </p:pic>
      <p:graphicFrame>
        <p:nvGraphicFramePr>
          <p:cNvPr id="2115986693" name=""/>
          <p:cNvGraphicFramePr>
            <a:graphicFrameLocks xmlns:a="http://schemas.openxmlformats.org/drawingml/2006/main"/>
          </p:cNvGraphicFramePr>
          <p:nvPr/>
        </p:nvGraphicFramePr>
        <p:xfrm>
          <a:off x="303249" y="1527174"/>
          <a:ext cx="5038089" cy="3304539"/>
        </p:xfrm>
        <a:graphic>
          <a:graphicData uri="http://schemas.openxmlformats.org/drawingml/2006/table">
            <a:tbl>
              <a:tblPr firstRow="1" firstCol="1" lastRow="0" lastCol="0" bandRow="1" bandCol="0">
                <a:tableStyleId>{5C22544A-7EE6-4342-B048-85BDC9FD1C3A}</a:tableStyleId>
              </a:tblPr>
              <a:tblGrid>
                <a:gridCol w="1916583"/>
                <a:gridCol w="3477386"/>
              </a:tblGrid>
              <a:tr h="334160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Term</a:t>
                      </a:r>
                      <a:endParaRPr sz="1400"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Meaning (Simple &amp; Clear)</a:t>
                      </a:r>
                      <a:endParaRPr sz="1400"/>
                    </a:p>
                  </a:txBody>
                  <a:tcPr vert="horz"/>
                </a:tc>
              </a:tr>
              <a:tr h="432360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Tick</a:t>
                      </a:r>
                      <a:endParaRPr sz="1400"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Encoder pulse</a:t>
                      </a:r>
                      <a:endParaRPr sz="1400"/>
                    </a:p>
                  </a:txBody>
                  <a:tcPr vert="horz"/>
                </a:tc>
              </a:tr>
              <a:tr h="334160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MM_PER_TICK</a:t>
                      </a:r>
                      <a:endParaRPr sz="1400"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Millimeters traveled per encoder tick</a:t>
                      </a:r>
                      <a:endParaRPr sz="1400"/>
                    </a:p>
                  </a:txBody>
                  <a:tcPr vert="horz"/>
                </a:tc>
              </a:tr>
              <a:tr h="334160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Wheelbase</a:t>
                      </a:r>
                      <a:endParaRPr sz="1400"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Distance between left and right wheels</a:t>
                      </a:r>
                      <a:endParaRPr sz="1400"/>
                    </a:p>
                  </a:txBody>
                  <a:tcPr vert="horz"/>
                </a:tc>
              </a:tr>
              <a:tr h="334160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Pose</a:t>
                      </a:r>
                      <a:endParaRPr sz="1400"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Robot position and orientation → </a:t>
                      </a:r>
                      <a:r>
                        <a:rPr sz="1400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(x, y, θ)</a:t>
                      </a:r>
                      <a:endParaRPr sz="1400"/>
                    </a:p>
                  </a:txBody>
                  <a:tcPr vert="horz"/>
                </a:tc>
              </a:tr>
              <a:tr h="533702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Odometry</a:t>
                      </a:r>
                      <a:endParaRPr sz="1400"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Estimating robot pose using wheel encoders</a:t>
                      </a:r>
                      <a:endParaRPr sz="1400"/>
                    </a:p>
                  </a:txBody>
                  <a:tcPr vert="horz"/>
                </a:tc>
              </a:tr>
              <a:tr h="538356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Gyro bias</a:t>
                      </a:r>
                      <a:endParaRPr sz="1400"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Non-zero gyro output when robot is stationary</a:t>
                      </a:r>
                      <a:endParaRPr sz="1400"/>
                    </a:p>
                  </a:txBody>
                  <a:tcPr vert="horz"/>
                </a:tc>
              </a:tr>
              <a:tr h="334160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ωz</a:t>
                      </a:r>
                      <a:endParaRPr sz="1400"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Angular velocity about Z-axis (rad/s)</a:t>
                      </a:r>
                      <a:endParaRPr sz="1400"/>
                    </a:p>
                  </a:txBody>
                  <a:tcPr vert="horz"/>
                </a:tc>
              </a:tr>
              <a:tr h="538356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Complementary fusion</a:t>
                      </a:r>
                      <a:endParaRPr sz="1400"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Weighted blend of two sensor estimates</a:t>
                      </a:r>
                      <a:endParaRPr sz="1400"/>
                    </a:p>
                  </a:txBody>
                  <a:tcPr vert="horz"/>
                </a:tc>
              </a:tr>
              <a:tr h="538356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PI control</a:t>
                      </a:r>
                      <a:endParaRPr sz="1400"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Feedback control using proportional + integral</a:t>
                      </a:r>
                      <a:endParaRPr sz="1400"/>
                    </a:p>
                  </a:txBody>
                  <a:tcPr vert="horz"/>
                </a:tc>
              </a:tr>
              <a:tr h="538356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Kp (Proportional gain)</a:t>
                      </a:r>
                      <a:endParaRPr sz="1400"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Response to current error</a:t>
                      </a:r>
                      <a:endParaRPr sz="1400"/>
                    </a:p>
                  </a:txBody>
                  <a:tcPr vert="horz"/>
                </a:tc>
              </a:tr>
              <a:tr h="334160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Ki (Integral gain)</a:t>
                      </a:r>
                      <a:endParaRPr sz="1400"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Response to accumulated error</a:t>
                      </a:r>
                      <a:endParaRPr sz="1400"/>
                    </a:p>
                  </a:txBody>
                  <a:tcPr vert="horz"/>
                </a:tc>
              </a:tr>
            </a:tbl>
          </a:graphicData>
        </a:graphic>
      </p:graphicFrame>
      <p:graphicFrame>
        <p:nvGraphicFramePr>
          <p:cNvPr id="584307969" name=""/>
          <p:cNvGraphicFramePr>
            <a:graphicFrameLocks xmlns:a="http://schemas.openxmlformats.org/drawingml/2006/main"/>
          </p:cNvGraphicFramePr>
          <p:nvPr/>
        </p:nvGraphicFramePr>
        <p:xfrm>
          <a:off x="5789295" y="1527174"/>
          <a:ext cx="5424169" cy="5078729"/>
        </p:xfrm>
        <a:graphic>
          <a:graphicData uri="http://schemas.openxmlformats.org/drawingml/2006/table">
            <a:tbl>
              <a:tblPr firstRow="1" firstCol="1" lastRow="0" lastCol="0" bandRow="1" bandCol="0">
                <a:tableStyleId>{5C22544A-7EE6-4342-B048-85BDC9FD1C3A}</a:tableStyleId>
              </a:tblPr>
              <a:tblGrid>
                <a:gridCol w="1922801"/>
                <a:gridCol w="3488667"/>
              </a:tblGrid>
              <a:tr h="431889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Term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Meaning (Simple &amp; Clear)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</a:tr>
              <a:tr h="821431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Error (e)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Difference between setpoint and measurement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</a:tr>
              <a:tr h="431889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PWM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Motor speed control using duty cycle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</a:tr>
              <a:tr h="431889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Duty cycle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Percentage of ON time in PWM signal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</a:tr>
              <a:tr h="431889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Setpoint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Desired target value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</a:tr>
              <a:tr h="431889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Feedback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Measured output returned to controller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</a:tr>
              <a:tr h="431889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Closed-loop control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Control using feedback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</a:tr>
              <a:tr h="431889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Open-loop control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Control without feedback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</a:tr>
              <a:tr h="431889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Yaw (θ)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Rotation about Z-axis (left/right turning)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</a:tr>
              <a:tr h="431889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Heading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Robot’s facing direction in global frame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</a:tr>
              <a:tr h="431889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Bearing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Direction to a target relative to robot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4604190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17146" y="42545"/>
            <a:ext cx="10515600" cy="1132498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 fontScale="90000" lnSpcReduction="2000"/>
          </a:bodyPr>
          <a:lstStyle/>
          <a:p>
            <a:pPr>
              <a:defRPr/>
            </a:pPr>
            <a:r>
              <a:rPr lang="en-US" sz="48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Gyro-Aided Odometry (Z-axis) with PI Speed Control</a:t>
            </a:r>
            <a:endParaRPr/>
          </a:p>
        </p:txBody>
      </p:sp>
      <p:sp>
        <p:nvSpPr>
          <p:cNvPr id="1681092814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49249" y="1175044"/>
            <a:ext cx="11890374" cy="5714704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sz="26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What is Odometry?</a:t>
            </a:r>
            <a:endParaRPr sz="26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6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Odometry</a:t>
            </a:r>
            <a:r>
              <a:rPr sz="26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estimates robot pose from wheel motion:</a:t>
            </a:r>
            <a:endParaRPr sz="26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2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x</a:t>
            </a:r>
            <a:r>
              <a:rPr sz="22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= forward position</a:t>
            </a:r>
            <a:endParaRPr sz="26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2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y</a:t>
            </a:r>
            <a:r>
              <a:rPr sz="22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= sideways position</a:t>
            </a:r>
            <a:endParaRPr sz="26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2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θ</a:t>
            </a:r>
            <a:r>
              <a:rPr sz="22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= heading angle</a:t>
            </a:r>
            <a:endParaRPr sz="26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6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Odometry answers:</a:t>
            </a:r>
            <a:endParaRPr sz="26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marL="0" indent="0">
              <a:buFont typeface="Arial"/>
              <a:buNone/>
              <a:defRPr/>
            </a:pPr>
            <a:r>
              <a:rPr sz="260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	</a:t>
            </a:r>
            <a:r>
              <a:rPr sz="26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“Where am I based on how my wheels moved?”</a:t>
            </a:r>
            <a:endParaRPr/>
          </a:p>
        </p:txBody>
      </p:sp>
      <p:pic>
        <p:nvPicPr>
          <p:cNvPr id="34011110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1" y="156099"/>
            <a:ext cx="2037717" cy="54922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2119242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17146" y="42545"/>
            <a:ext cx="10515600" cy="1132498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 fontScale="90000" lnSpcReduction="2000"/>
          </a:bodyPr>
          <a:lstStyle/>
          <a:p>
            <a:pPr>
              <a:defRPr/>
            </a:pPr>
            <a:r>
              <a:rPr lang="en-US" sz="48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Gyro-Aided Odometry (Z-axis) with PI Speed Control</a:t>
            </a:r>
            <a:endParaRPr/>
          </a:p>
        </p:txBody>
      </p:sp>
      <p:sp>
        <p:nvSpPr>
          <p:cNvPr id="1379933622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49249" y="1175044"/>
            <a:ext cx="11890374" cy="5714704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Encoder Distance Model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2">
              <a:defRPr/>
            </a:pPr>
            <a:r>
              <a:rPr sz="20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Wheel travel per update: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2">
              <a:defRPr/>
            </a:pPr>
            <a:r>
              <a:rPr sz="20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In code:</a:t>
            </a:r>
            <a:endParaRPr/>
          </a:p>
        </p:txBody>
      </p:sp>
      <p:pic>
        <p:nvPicPr>
          <p:cNvPr id="344081846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1" y="156099"/>
            <a:ext cx="2037717" cy="549226"/>
          </a:xfrm>
          <a:prstGeom prst="rect">
            <a:avLst/>
          </a:prstGeom>
        </p:spPr>
      </p:pic>
      <p:pic>
        <p:nvPicPr>
          <p:cNvPr id="1353112969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2469821" y="1936749"/>
            <a:ext cx="7120302" cy="552449"/>
          </a:xfrm>
          <a:prstGeom prst="rect">
            <a:avLst/>
          </a:prstGeom>
        </p:spPr>
      </p:pic>
      <p:pic>
        <p:nvPicPr>
          <p:cNvPr id="724074599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>
            <a:off x="2533321" y="2841624"/>
            <a:ext cx="3038474" cy="685800"/>
          </a:xfrm>
          <a:prstGeom prst="rect">
            <a:avLst/>
          </a:prstGeom>
        </p:spPr>
      </p:pic>
      <p:sp>
        <p:nvSpPr>
          <p:cNvPr id="1241969763" name=""/>
          <p:cNvSpPr/>
          <p:nvPr/>
        </p:nvSpPr>
        <p:spPr bwMode="auto">
          <a:xfrm flipH="0" flipV="0">
            <a:off x="117146" y="3724274"/>
            <a:ext cx="10211507" cy="295691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marL="394023" indent="-394023">
              <a:buFont typeface="Arial"/>
              <a:buChar char="•"/>
              <a:defRPr/>
            </a:pPr>
            <a:r>
              <a:rPr sz="28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Encoder Heading Model (Wheel-based)</a:t>
            </a:r>
            <a:endParaRPr sz="2800">
              <a:solidFill>
                <a:schemeClr val="bg1"/>
              </a:solidFill>
            </a:endParaRPr>
          </a:p>
          <a:p>
            <a:pPr>
              <a:defRPr/>
            </a:pP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	Differential drive heading change:</a:t>
            </a:r>
            <a:endParaRPr sz="2800">
              <a:solidFill>
                <a:schemeClr val="bg1"/>
              </a:solidFill>
            </a:endParaRPr>
          </a:p>
          <a:p>
            <a:pPr>
              <a:defRPr/>
            </a:pPr>
            <a:endParaRPr sz="2800">
              <a:solidFill>
                <a:schemeClr val="bg1"/>
              </a:solidFill>
            </a:endParaRPr>
          </a:p>
          <a:p>
            <a:pPr>
              <a:defRPr/>
            </a:pPr>
            <a:endParaRPr sz="2800">
              <a:solidFill>
                <a:schemeClr val="bg1"/>
              </a:solidFill>
            </a:endParaRPr>
          </a:p>
          <a:p>
            <a:pPr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	In code:</a:t>
            </a:r>
            <a:endParaRPr sz="2800">
              <a:solidFill>
                <a:schemeClr val="bg1"/>
              </a:solidFill>
            </a:endParaRPr>
          </a:p>
          <a:p>
            <a:pPr>
              <a:defRPr/>
            </a:pPr>
            <a:endParaRPr sz="2800">
              <a:solidFill>
                <a:schemeClr val="bg1"/>
              </a:solidFill>
            </a:endParaRPr>
          </a:p>
          <a:p>
            <a:pPr marL="349965" indent="-349965">
              <a:buFont typeface="Arial"/>
              <a:buChar char="•"/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Encoder heading is sensitive to slip/mismatch.</a:t>
            </a:r>
            <a:endParaRPr sz="2800">
              <a:solidFill>
                <a:schemeClr val="bg1"/>
              </a:solidFill>
            </a:endParaRPr>
          </a:p>
        </p:txBody>
      </p:sp>
      <p:pic>
        <p:nvPicPr>
          <p:cNvPr id="1940954917" name="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 flipH="0" flipV="0">
            <a:off x="2616424" y="4619624"/>
            <a:ext cx="2200275" cy="796924"/>
          </a:xfrm>
          <a:prstGeom prst="rect">
            <a:avLst/>
          </a:prstGeom>
        </p:spPr>
      </p:pic>
      <p:pic>
        <p:nvPicPr>
          <p:cNvPr id="1378126807" name=""/>
          <p:cNvPicPr>
            <a:picLocks noChangeAspect="1"/>
          </p:cNvPicPr>
          <p:nvPr/>
        </p:nvPicPr>
        <p:blipFill>
          <a:blip r:embed="rId7"/>
          <a:stretch/>
        </p:blipFill>
        <p:spPr bwMode="auto">
          <a:xfrm>
            <a:off x="2583086" y="5695949"/>
            <a:ext cx="4467224" cy="5143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48101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17146" y="42545"/>
            <a:ext cx="10515600" cy="1132498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 fontScale="90000" lnSpcReduction="2000"/>
          </a:bodyPr>
          <a:lstStyle/>
          <a:p>
            <a:pPr>
              <a:defRPr/>
            </a:pPr>
            <a:r>
              <a:rPr lang="en-US" sz="48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Gyro-Aided Odometry (Z-axis) with PI Speed Control</a:t>
            </a:r>
            <a:endParaRPr/>
          </a:p>
        </p:txBody>
      </p:sp>
      <p:sp>
        <p:nvSpPr>
          <p:cNvPr id="1276502368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49249" y="1175044"/>
            <a:ext cx="11890374" cy="5714704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Encoder Distance Model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2">
              <a:defRPr/>
            </a:pPr>
            <a:r>
              <a:rPr sz="20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Wheel travel per update: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2">
              <a:defRPr/>
            </a:pPr>
            <a:r>
              <a:rPr sz="20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In code:</a:t>
            </a:r>
            <a:endParaRPr/>
          </a:p>
        </p:txBody>
      </p:sp>
      <p:pic>
        <p:nvPicPr>
          <p:cNvPr id="797893041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1" y="156099"/>
            <a:ext cx="2037717" cy="549226"/>
          </a:xfrm>
          <a:prstGeom prst="rect">
            <a:avLst/>
          </a:prstGeom>
        </p:spPr>
      </p:pic>
      <p:pic>
        <p:nvPicPr>
          <p:cNvPr id="1801271191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2469821" y="1936749"/>
            <a:ext cx="7120302" cy="552449"/>
          </a:xfrm>
          <a:prstGeom prst="rect">
            <a:avLst/>
          </a:prstGeom>
        </p:spPr>
      </p:pic>
      <p:pic>
        <p:nvPicPr>
          <p:cNvPr id="1819921053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>
            <a:off x="2533321" y="2841624"/>
            <a:ext cx="3038474" cy="685800"/>
          </a:xfrm>
          <a:prstGeom prst="rect">
            <a:avLst/>
          </a:prstGeom>
        </p:spPr>
      </p:pic>
      <p:sp>
        <p:nvSpPr>
          <p:cNvPr id="1058963449" name=""/>
          <p:cNvSpPr/>
          <p:nvPr/>
        </p:nvSpPr>
        <p:spPr bwMode="auto">
          <a:xfrm flipH="0" flipV="0">
            <a:off x="117146" y="3724274"/>
            <a:ext cx="10211507" cy="295691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marL="394023" indent="-394023">
              <a:buFont typeface="Arial"/>
              <a:buChar char="•"/>
              <a:defRPr/>
            </a:pPr>
            <a:r>
              <a:rPr sz="28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Encoder Heading Model (Wheel-based)</a:t>
            </a:r>
            <a:endParaRPr sz="2800">
              <a:solidFill>
                <a:schemeClr val="bg1"/>
              </a:solidFill>
            </a:endParaRPr>
          </a:p>
          <a:p>
            <a:pPr>
              <a:defRPr/>
            </a:pP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	Differential drive heading change:</a:t>
            </a:r>
            <a:endParaRPr sz="2800">
              <a:solidFill>
                <a:schemeClr val="bg1"/>
              </a:solidFill>
            </a:endParaRPr>
          </a:p>
          <a:p>
            <a:pPr>
              <a:defRPr/>
            </a:pPr>
            <a:endParaRPr sz="2800">
              <a:solidFill>
                <a:schemeClr val="bg1"/>
              </a:solidFill>
            </a:endParaRPr>
          </a:p>
          <a:p>
            <a:pPr>
              <a:defRPr/>
            </a:pPr>
            <a:endParaRPr sz="2800">
              <a:solidFill>
                <a:schemeClr val="bg1"/>
              </a:solidFill>
            </a:endParaRPr>
          </a:p>
          <a:p>
            <a:pPr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	In code:</a:t>
            </a:r>
            <a:endParaRPr sz="2800">
              <a:solidFill>
                <a:schemeClr val="bg1"/>
              </a:solidFill>
            </a:endParaRPr>
          </a:p>
          <a:p>
            <a:pPr>
              <a:defRPr/>
            </a:pPr>
            <a:endParaRPr sz="2800">
              <a:solidFill>
                <a:schemeClr val="bg1"/>
              </a:solidFill>
            </a:endParaRPr>
          </a:p>
          <a:p>
            <a:pPr marL="349965" indent="-349965">
              <a:buFont typeface="Arial"/>
              <a:buChar char="•"/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Encoder heading is sensitive to slip/mismatch.</a:t>
            </a:r>
            <a:endParaRPr sz="2800">
              <a:solidFill>
                <a:schemeClr val="bg1"/>
              </a:solidFill>
            </a:endParaRPr>
          </a:p>
        </p:txBody>
      </p:sp>
      <p:pic>
        <p:nvPicPr>
          <p:cNvPr id="1829221452" name="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 flipH="0" flipV="0">
            <a:off x="2616424" y="4619624"/>
            <a:ext cx="2200275" cy="796924"/>
          </a:xfrm>
          <a:prstGeom prst="rect">
            <a:avLst/>
          </a:prstGeom>
        </p:spPr>
      </p:pic>
      <p:pic>
        <p:nvPicPr>
          <p:cNvPr id="512882177" name=""/>
          <p:cNvPicPr>
            <a:picLocks noChangeAspect="1"/>
          </p:cNvPicPr>
          <p:nvPr/>
        </p:nvPicPr>
        <p:blipFill>
          <a:blip r:embed="rId7"/>
          <a:stretch/>
        </p:blipFill>
        <p:spPr bwMode="auto">
          <a:xfrm>
            <a:off x="2583086" y="5695949"/>
            <a:ext cx="4467224" cy="5143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4848562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17146" y="42545"/>
            <a:ext cx="10515600" cy="1132498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 fontScale="90000" lnSpcReduction="2000"/>
          </a:bodyPr>
          <a:lstStyle/>
          <a:p>
            <a:pPr>
              <a:defRPr/>
            </a:pPr>
            <a:r>
              <a:rPr lang="en-US" sz="48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Gyro-Aided Odometry (Z-axis) with PI Speed Control</a:t>
            </a:r>
            <a:endParaRPr/>
          </a:p>
        </p:txBody>
      </p:sp>
      <p:sp>
        <p:nvSpPr>
          <p:cNvPr id="1663641540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49249" y="1175044"/>
            <a:ext cx="11890374" cy="5714704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Gyroscope Heading Model (Rate-based)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Gyro measures yaw rate </a:t>
            </a: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ω</a:t>
            </a: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z</a:t>
            </a: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(rad/s):</a:t>
            </a:r>
            <a:endParaRPr sz="2800">
              <a:solidFill>
                <a:schemeClr val="bg1"/>
              </a:solidFill>
              <a:latin typeface="Aptos Display"/>
              <a:ea typeface="Aptos Display"/>
              <a:cs typeface="Aptos Display"/>
            </a:endParaRPr>
          </a:p>
          <a:p>
            <a:pPr>
              <a:defRPr/>
            </a:pPr>
            <a:endParaRPr/>
          </a:p>
        </p:txBody>
      </p:sp>
      <p:pic>
        <p:nvPicPr>
          <p:cNvPr id="1710204886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1" y="156099"/>
            <a:ext cx="2037717" cy="549226"/>
          </a:xfrm>
          <a:prstGeom prst="rect">
            <a:avLst/>
          </a:prstGeom>
        </p:spPr>
      </p:pic>
      <p:pic>
        <p:nvPicPr>
          <p:cNvPr id="1608686237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2374571" y="2206624"/>
            <a:ext cx="1943100" cy="581024"/>
          </a:xfrm>
          <a:prstGeom prst="rect">
            <a:avLst/>
          </a:prstGeom>
        </p:spPr>
      </p:pic>
      <p:sp>
        <p:nvSpPr>
          <p:cNvPr id="261688828" name=""/>
          <p:cNvSpPr/>
          <p:nvPr/>
        </p:nvSpPr>
        <p:spPr bwMode="auto">
          <a:xfrm flipH="0" flipV="0">
            <a:off x="498150" y="2893059"/>
            <a:ext cx="1552068" cy="51851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In code:</a:t>
            </a:r>
            <a:endParaRPr/>
          </a:p>
        </p:txBody>
      </p:sp>
      <p:pic>
        <p:nvPicPr>
          <p:cNvPr id="959732935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>
            <a:off x="2374571" y="3333749"/>
            <a:ext cx="3000375" cy="361949"/>
          </a:xfrm>
          <a:prstGeom prst="rect">
            <a:avLst/>
          </a:prstGeom>
        </p:spPr>
      </p:pic>
      <p:sp>
        <p:nvSpPr>
          <p:cNvPr id="1367710692" name=""/>
          <p:cNvSpPr/>
          <p:nvPr/>
        </p:nvSpPr>
        <p:spPr bwMode="auto">
          <a:xfrm flipH="0" flipV="0">
            <a:off x="498150" y="4032397"/>
            <a:ext cx="6949568" cy="48803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defRPr/>
            </a:pPr>
            <a:r>
              <a:rPr sz="26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Gyro measures turning directly, but drifts if biased.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4397123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17146" y="42545"/>
            <a:ext cx="10515600" cy="1132498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 fontScale="90000" lnSpcReduction="2000"/>
          </a:bodyPr>
          <a:lstStyle/>
          <a:p>
            <a:pPr>
              <a:defRPr/>
            </a:pPr>
            <a:r>
              <a:rPr lang="en-US" sz="48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Gyro-Aided Odometry (Z-axis) with PI Speed Control</a:t>
            </a:r>
            <a:endParaRPr/>
          </a:p>
        </p:txBody>
      </p:sp>
      <p:sp>
        <p:nvSpPr>
          <p:cNvPr id="1974485478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49249" y="1175044"/>
            <a:ext cx="11890374" cy="5714704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Gyro Bias Calibration (Why + How)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Why bias calibration?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Gyro output at rest is not exactly zero: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marL="0" indent="0">
              <a:buFont typeface="Arial"/>
              <a:buNone/>
              <a:defRPr/>
            </a:pP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How it’s done here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Keep robot still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Average </a:t>
            </a: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N</a:t>
            </a: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samples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Bias = mean value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In code: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marL="457200" lvl="1" indent="0">
              <a:buFont typeface="Arial"/>
              <a:buNone/>
              <a:defRPr/>
            </a:pP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📌 Bias removal is mandatory before using gyro for heading.</a:t>
            </a:r>
            <a:endParaRPr/>
          </a:p>
        </p:txBody>
      </p:sp>
      <p:pic>
        <p:nvPicPr>
          <p:cNvPr id="853306630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1" y="156099"/>
            <a:ext cx="2037717" cy="549226"/>
          </a:xfrm>
          <a:prstGeom prst="rect">
            <a:avLst/>
          </a:prstGeom>
        </p:spPr>
      </p:pic>
      <p:pic>
        <p:nvPicPr>
          <p:cNvPr id="463919861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2206624" y="2619374"/>
            <a:ext cx="2657474" cy="444499"/>
          </a:xfrm>
          <a:prstGeom prst="rect">
            <a:avLst/>
          </a:prstGeom>
        </p:spPr>
      </p:pic>
      <p:pic>
        <p:nvPicPr>
          <p:cNvPr id="1611662697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>
            <a:off x="2206624" y="5270499"/>
            <a:ext cx="2971800" cy="35242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1830739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17146" y="42545"/>
            <a:ext cx="10515600" cy="1132498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 fontScale="90000" lnSpcReduction="2000"/>
          </a:bodyPr>
          <a:lstStyle/>
          <a:p>
            <a:pPr>
              <a:defRPr/>
            </a:pPr>
            <a:r>
              <a:rPr lang="en-US" sz="48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Gyro-Aided Odometry (Z-axis) with PI Speed Control</a:t>
            </a:r>
            <a:endParaRPr/>
          </a:p>
        </p:txBody>
      </p:sp>
      <p:sp>
        <p:nvSpPr>
          <p:cNvPr id="1825138219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49249" y="1111249"/>
            <a:ext cx="11890374" cy="5778499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95000" lnSpcReduction="1000"/>
          </a:bodyPr>
          <a:lstStyle/>
          <a:p>
            <a:pPr>
              <a:defRPr/>
            </a:pPr>
            <a:r>
              <a:rPr sz="2400" b="1" i="0" u="none">
                <a:solidFill>
                  <a:srgbClr val="FFC000"/>
                </a:solidFill>
                <a:latin typeface="Aptos Display"/>
                <a:ea typeface="Aptos Display"/>
                <a:cs typeface="Aptos Display"/>
              </a:rPr>
              <a:t>Noise Handling: Deadband</a:t>
            </a:r>
            <a:endParaRPr sz="24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Small gyro noise is suppressed:</a:t>
            </a:r>
            <a:endParaRPr sz="24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marL="0" indent="0">
              <a:buFont typeface="Arial"/>
              <a:buNone/>
              <a:defRPr/>
            </a:pPr>
            <a:endParaRPr sz="24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📌 Prevents tiny noise from integrating into false heading changes.</a:t>
            </a:r>
            <a:endParaRPr sz="2400" b="0" i="0" u="none">
              <a:solidFill>
                <a:schemeClr val="bg1"/>
              </a:solidFill>
              <a:latin typeface="Aptos Display"/>
              <a:ea typeface="Aptos Display"/>
              <a:cs typeface="Aptos Display"/>
            </a:endParaRPr>
          </a:p>
          <a:p>
            <a:pPr>
              <a:defRPr/>
            </a:pPr>
            <a:r>
              <a:rPr sz="2400" b="1" i="0" u="none">
                <a:solidFill>
                  <a:srgbClr val="FFC000"/>
                </a:solidFill>
                <a:latin typeface="Aptos Display"/>
                <a:ea typeface="Aptos Display"/>
                <a:cs typeface="Aptos Display"/>
              </a:rPr>
              <a:t>Sensor Fusion (Complementary Blend)</a:t>
            </a:r>
            <a:endParaRPr sz="24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We fuse heading increments:</a:t>
            </a:r>
            <a:endParaRPr sz="2400">
              <a:solidFill>
                <a:schemeClr val="bg1"/>
              </a:solidFill>
              <a:latin typeface="Aptos Display"/>
              <a:ea typeface="Aptos Display"/>
              <a:cs typeface="Aptos Display"/>
            </a:endParaRPr>
          </a:p>
          <a:p>
            <a:pPr marL="457200" lvl="1" indent="0">
              <a:buFont typeface="Arial"/>
              <a:buNone/>
              <a:defRPr/>
            </a:pPr>
            <a:endParaRPr sz="24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In code:</a:t>
            </a:r>
            <a:endParaRPr sz="24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marL="0" indent="0">
              <a:buFont typeface="Arial"/>
              <a:buNone/>
              <a:defRPr/>
            </a:pPr>
            <a:endParaRPr sz="24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marL="0" indent="0">
              <a:buFont typeface="Arial"/>
              <a:buNone/>
              <a:defRPr/>
            </a:pPr>
            <a:endParaRPr sz="24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Interpretation:</a:t>
            </a:r>
            <a:endParaRPr sz="24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α</a:t>
            </a: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closer to 1 → trust gyro more (short-term)</a:t>
            </a:r>
            <a:endParaRPr sz="24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1</a:t>
            </a: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−</a:t>
            </a: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α</a:t>
            </a: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 keeps encoder contribution (stability)</a:t>
            </a:r>
            <a:endParaRPr sz="24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This is a simple but powerful fusion approach.</a:t>
            </a:r>
            <a:endParaRPr/>
          </a:p>
        </p:txBody>
      </p:sp>
      <p:pic>
        <p:nvPicPr>
          <p:cNvPr id="126140962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1" y="156099"/>
            <a:ext cx="2037717" cy="549226"/>
          </a:xfrm>
          <a:prstGeom prst="rect">
            <a:avLst/>
          </a:prstGeom>
        </p:spPr>
      </p:pic>
      <p:pic>
        <p:nvPicPr>
          <p:cNvPr id="1734193047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1485899" y="1825624"/>
            <a:ext cx="4610099" cy="552449"/>
          </a:xfrm>
          <a:prstGeom prst="rect">
            <a:avLst/>
          </a:prstGeom>
        </p:spPr>
      </p:pic>
      <p:pic>
        <p:nvPicPr>
          <p:cNvPr id="1308560733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>
            <a:off x="3867187" y="3508522"/>
            <a:ext cx="3238499" cy="523874"/>
          </a:xfrm>
          <a:prstGeom prst="rect">
            <a:avLst/>
          </a:prstGeom>
        </p:spPr>
      </p:pic>
      <p:pic>
        <p:nvPicPr>
          <p:cNvPr id="87146847" name="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>
            <a:off x="3951287" y="4571999"/>
            <a:ext cx="4791074" cy="46672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5436164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17146" y="42545"/>
            <a:ext cx="10515600" cy="1132498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 fontScale="90000" lnSpcReduction="2000"/>
          </a:bodyPr>
          <a:lstStyle/>
          <a:p>
            <a:pPr>
              <a:defRPr/>
            </a:pPr>
            <a:r>
              <a:rPr lang="en-US" sz="48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Gyro-Aided Odometry (Z-axis) with PI Speed Control</a:t>
            </a:r>
            <a:endParaRPr/>
          </a:p>
        </p:txBody>
      </p:sp>
      <p:sp>
        <p:nvSpPr>
          <p:cNvPr id="2090896672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49249" y="1111249"/>
            <a:ext cx="11890374" cy="5778499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Pose Update Using Fused Heading</a:t>
            </a:r>
            <a:endParaRPr/>
          </a:p>
        </p:txBody>
      </p:sp>
      <p:pic>
        <p:nvPicPr>
          <p:cNvPr id="1397221130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1" y="156099"/>
            <a:ext cx="2037717" cy="549226"/>
          </a:xfrm>
          <a:prstGeom prst="rect">
            <a:avLst/>
          </a:prstGeom>
        </p:spPr>
      </p:pic>
      <p:pic>
        <p:nvPicPr>
          <p:cNvPr id="565793398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2733674" y="1682749"/>
            <a:ext cx="2967074" cy="2000250"/>
          </a:xfrm>
          <a:prstGeom prst="rect">
            <a:avLst/>
          </a:prstGeom>
        </p:spPr>
      </p:pic>
      <p:sp>
        <p:nvSpPr>
          <p:cNvPr id="986673682" name=""/>
          <p:cNvSpPr/>
          <p:nvPr/>
        </p:nvSpPr>
        <p:spPr bwMode="auto">
          <a:xfrm flipH="0" flipV="0">
            <a:off x="736275" y="4067809"/>
            <a:ext cx="2044193" cy="45755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defRPr/>
            </a:pPr>
            <a:r>
              <a:rPr sz="24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In code:</a:t>
            </a:r>
            <a:endParaRPr/>
          </a:p>
        </p:txBody>
      </p:sp>
      <p:pic>
        <p:nvPicPr>
          <p:cNvPr id="109487931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>
            <a:off x="2733674" y="4349749"/>
            <a:ext cx="3495674" cy="10096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3785817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17146" y="42545"/>
            <a:ext cx="10515600" cy="1132498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 fontScale="90000" lnSpcReduction="2000"/>
          </a:bodyPr>
          <a:lstStyle/>
          <a:p>
            <a:pPr>
              <a:defRPr/>
            </a:pPr>
            <a:r>
              <a:rPr lang="en-US" sz="48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Gyro-Aided Odometry (Z-axis) with PI Speed Control</a:t>
            </a:r>
            <a:endParaRPr/>
          </a:p>
        </p:txBody>
      </p:sp>
      <p:sp>
        <p:nvSpPr>
          <p:cNvPr id="1379693746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49249" y="1111249"/>
            <a:ext cx="11890374" cy="5778499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sz="24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Why PI Speed Control Still Matters</a:t>
            </a:r>
            <a:endParaRPr sz="24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Even with good heading estimation, motors must be controlled:</a:t>
            </a:r>
            <a:endParaRPr sz="24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0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Battery voltage changes</a:t>
            </a:r>
            <a:endParaRPr sz="24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0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Motor friction differs</a:t>
            </a:r>
            <a:endParaRPr sz="24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0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Speed measurement:</a:t>
            </a:r>
            <a:endParaRPr sz="2000">
              <a:solidFill>
                <a:schemeClr val="bg1"/>
              </a:solidFill>
              <a:latin typeface="Aptos Display"/>
              <a:ea typeface="Aptos Display"/>
              <a:cs typeface="Aptos Display"/>
            </a:endParaRPr>
          </a:p>
          <a:p>
            <a:pPr lvl="1">
              <a:defRPr/>
            </a:pPr>
            <a:endParaRPr sz="24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marL="457200" lvl="1" indent="0">
              <a:buFont typeface="Arial"/>
              <a:buNone/>
              <a:defRPr/>
            </a:pPr>
            <a:endParaRPr sz="24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PI updates PWM to match target speed.</a:t>
            </a:r>
            <a:endParaRPr/>
          </a:p>
        </p:txBody>
      </p:sp>
      <p:pic>
        <p:nvPicPr>
          <p:cNvPr id="1667195286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1" y="156099"/>
            <a:ext cx="2037717" cy="549226"/>
          </a:xfrm>
          <a:prstGeom prst="rect">
            <a:avLst/>
          </a:prstGeom>
        </p:spPr>
      </p:pic>
      <p:pic>
        <p:nvPicPr>
          <p:cNvPr id="420378553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3184562" y="2862262"/>
            <a:ext cx="1952624" cy="86677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7918730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17146" y="42545"/>
            <a:ext cx="10515600" cy="1132498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 fontScale="90000" lnSpcReduction="2000"/>
          </a:bodyPr>
          <a:lstStyle/>
          <a:p>
            <a:pPr>
              <a:defRPr/>
            </a:pPr>
            <a:r>
              <a:rPr lang="en-US" sz="48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Gyro-Aided Odometry (Z-axis) with PI Speed Control</a:t>
            </a:r>
            <a:endParaRPr/>
          </a:p>
        </p:txBody>
      </p:sp>
      <p:sp>
        <p:nvSpPr>
          <p:cNvPr id="1903506443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49249" y="1111249"/>
            <a:ext cx="11890374" cy="5778499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Wheel Synchronization (Drive Straight)</a:t>
            </a:r>
            <a:endParaRPr sz="2800" b="1" i="0" u="none">
              <a:solidFill>
                <a:schemeClr val="bg1"/>
              </a:solidFill>
              <a:latin typeface="Aptos Display"/>
              <a:ea typeface="Aptos Display"/>
              <a:cs typeface="Aptos Display"/>
            </a:endParaRPr>
          </a:p>
          <a:p>
            <a:pPr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Speed difference: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2">
              <a:defRPr/>
            </a:pP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Targets corrected:</a:t>
            </a:r>
            <a:endParaRPr sz="2800">
              <a:solidFill>
                <a:schemeClr val="bg1"/>
              </a:solidFill>
              <a:latin typeface="Aptos Display"/>
              <a:ea typeface="Aptos Display"/>
              <a:cs typeface="Aptos Display"/>
            </a:endParaRPr>
          </a:p>
          <a:p>
            <a:pPr>
              <a:defRPr/>
            </a:pPr>
            <a:endParaRPr sz="2800">
              <a:solidFill>
                <a:schemeClr val="bg1"/>
              </a:solidFill>
              <a:latin typeface="Aptos Display"/>
              <a:ea typeface="Aptos Display"/>
              <a:cs typeface="Aptos Display"/>
            </a:endParaRPr>
          </a:p>
          <a:p>
            <a:pPr>
              <a:defRPr/>
            </a:pP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marL="0" indent="0">
              <a:buFont typeface="Arial"/>
              <a:buNone/>
              <a:defRPr/>
            </a:pP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Keeps robot straight even if motors differ.</a:t>
            </a:r>
            <a:endParaRPr/>
          </a:p>
        </p:txBody>
      </p:sp>
      <p:pic>
        <p:nvPicPr>
          <p:cNvPr id="1130911468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1" y="156099"/>
            <a:ext cx="2037717" cy="549226"/>
          </a:xfrm>
          <a:prstGeom prst="rect">
            <a:avLst/>
          </a:prstGeom>
        </p:spPr>
      </p:pic>
      <p:pic>
        <p:nvPicPr>
          <p:cNvPr id="1968437307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2292021" y="2587624"/>
            <a:ext cx="3209924" cy="438149"/>
          </a:xfrm>
          <a:prstGeom prst="rect">
            <a:avLst/>
          </a:prstGeom>
        </p:spPr>
      </p:pic>
      <p:pic>
        <p:nvPicPr>
          <p:cNvPr id="1506535688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>
            <a:off x="2308262" y="3876674"/>
            <a:ext cx="3686175" cy="8381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4803546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17146" y="42545"/>
            <a:ext cx="10515600" cy="1132498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 fontScale="90000" lnSpcReduction="2000"/>
          </a:bodyPr>
          <a:lstStyle/>
          <a:p>
            <a:pPr>
              <a:defRPr/>
            </a:pPr>
            <a:r>
              <a:rPr lang="en-US" sz="48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Gyro-Aided Odometry (Z-axis) with PI Speed Control</a:t>
            </a:r>
            <a:endParaRPr/>
          </a:p>
        </p:txBody>
      </p:sp>
      <p:sp>
        <p:nvSpPr>
          <p:cNvPr id="380222773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49249" y="1111249"/>
            <a:ext cx="11890374" cy="5778499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90000" lnSpcReduction="2000"/>
          </a:bodyPr>
          <a:lstStyle/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Overall Algorithm (Chronological)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Initialize OLED, encoders, motor pins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Initialize MPU6050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Calibrate gyro bias (robot still)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Every 50 ms: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Read encoder ticks and compute wheel speed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Compute encoder-based 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Read gyro Z and compute </a:t>
            </a: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​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Fuse heading increment 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Update odometry pose 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Apply speed planning (cruise/slow zone)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Sync wheel targets, run PI to compute PWM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Drive motors and update OLED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Stop at 1 meter (brake + coast)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</p:txBody>
      </p:sp>
      <p:pic>
        <p:nvPicPr>
          <p:cNvPr id="925271332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1" y="156099"/>
            <a:ext cx="2037717" cy="549226"/>
          </a:xfrm>
          <a:prstGeom prst="rect">
            <a:avLst/>
          </a:prstGeom>
        </p:spPr>
      </p:pic>
      <p:pic>
        <p:nvPicPr>
          <p:cNvPr id="2118618758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4317999" y="3619499"/>
            <a:ext cx="1333499" cy="304799"/>
          </a:xfrm>
          <a:prstGeom prst="rect">
            <a:avLst/>
          </a:prstGeom>
        </p:spPr>
      </p:pic>
      <p:pic>
        <p:nvPicPr>
          <p:cNvPr id="764035680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>
            <a:off x="4317999" y="4413249"/>
            <a:ext cx="323849" cy="304799"/>
          </a:xfrm>
          <a:prstGeom prst="rect">
            <a:avLst/>
          </a:prstGeom>
        </p:spPr>
      </p:pic>
      <p:pic>
        <p:nvPicPr>
          <p:cNvPr id="1169363991" name="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>
            <a:off x="4317999" y="4000500"/>
            <a:ext cx="647699" cy="323849"/>
          </a:xfrm>
          <a:prstGeom prst="rect">
            <a:avLst/>
          </a:prstGeom>
        </p:spPr>
      </p:pic>
      <p:pic>
        <p:nvPicPr>
          <p:cNvPr id="1688855833" name=""/>
          <p:cNvPicPr>
            <a:picLocks noChangeAspect="1"/>
          </p:cNvPicPr>
          <p:nvPr/>
        </p:nvPicPr>
        <p:blipFill>
          <a:blip r:embed="rId7"/>
          <a:stretch/>
        </p:blipFill>
        <p:spPr bwMode="auto">
          <a:xfrm flipH="0" flipV="0">
            <a:off x="3865562" y="4797424"/>
            <a:ext cx="904874" cy="3936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6154094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17146" y="42545"/>
            <a:ext cx="10515600" cy="1132498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 fontScale="90000" lnSpcReduction="2000"/>
          </a:bodyPr>
          <a:lstStyle/>
          <a:p>
            <a:pPr>
              <a:defRPr/>
            </a:pPr>
            <a:r>
              <a:rPr lang="en-US" sz="48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Gyro-Aided Odometry (Z-axis) with PI Speed Control</a:t>
            </a:r>
            <a:endParaRPr/>
          </a:p>
        </p:txBody>
      </p:sp>
      <p:sp>
        <p:nvSpPr>
          <p:cNvPr id="575382705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49249" y="1111249"/>
            <a:ext cx="11890374" cy="5778499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Flowchart</a:t>
            </a:r>
            <a:endParaRPr sz="2800">
              <a:solidFill>
                <a:schemeClr val="bg1"/>
              </a:solidFill>
              <a:latin typeface="Aptos Display"/>
              <a:ea typeface="Aptos Display"/>
              <a:cs typeface="Aptos Display"/>
            </a:endParaRPr>
          </a:p>
          <a:p>
            <a:pPr>
              <a:defRPr/>
            </a:pPr>
            <a:endParaRPr/>
          </a:p>
        </p:txBody>
      </p:sp>
      <p:pic>
        <p:nvPicPr>
          <p:cNvPr id="1881011693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1" y="156099"/>
            <a:ext cx="2037717" cy="549226"/>
          </a:xfrm>
          <a:prstGeom prst="rect">
            <a:avLst/>
          </a:prstGeom>
        </p:spPr>
      </p:pic>
      <p:pic>
        <p:nvPicPr>
          <p:cNvPr id="1603014946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2333624" y="1175044"/>
            <a:ext cx="2868774" cy="439707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5384025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17146" y="42545"/>
            <a:ext cx="10515600" cy="1132498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 fontScale="90000" lnSpcReduction="2000"/>
          </a:bodyPr>
          <a:lstStyle/>
          <a:p>
            <a:pPr>
              <a:defRPr/>
            </a:pPr>
            <a:r>
              <a:rPr lang="en-US" sz="48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Gyro-Aided Odometry (Z-axis) with PI Speed Control</a:t>
            </a:r>
            <a:endParaRPr/>
          </a:p>
        </p:txBody>
      </p:sp>
      <p:sp>
        <p:nvSpPr>
          <p:cNvPr id="2066022646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49249" y="1111249"/>
            <a:ext cx="11890374" cy="5778499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Code Highlights (Only the Essentials)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1) Gyro bias calibration (still robot)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2) Fusion equation (core autonomy concept)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3) Pose update (odometry)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marL="0" indent="0">
              <a:buFont typeface="Arial"/>
              <a:buNone/>
              <a:defRPr/>
            </a:pPr>
            <a:endParaRPr/>
          </a:p>
        </p:txBody>
      </p:sp>
      <p:pic>
        <p:nvPicPr>
          <p:cNvPr id="1756495815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1" y="156099"/>
            <a:ext cx="2037717" cy="549226"/>
          </a:xfrm>
          <a:prstGeom prst="rect">
            <a:avLst/>
          </a:prstGeom>
        </p:spPr>
      </p:pic>
      <p:pic>
        <p:nvPicPr>
          <p:cNvPr id="538458070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3127374" y="2143124"/>
            <a:ext cx="2914650" cy="428625"/>
          </a:xfrm>
          <a:prstGeom prst="rect">
            <a:avLst/>
          </a:prstGeom>
        </p:spPr>
      </p:pic>
      <p:pic>
        <p:nvPicPr>
          <p:cNvPr id="459054723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>
            <a:off x="3127374" y="3219449"/>
            <a:ext cx="4162424" cy="419099"/>
          </a:xfrm>
          <a:prstGeom prst="rect">
            <a:avLst/>
          </a:prstGeom>
        </p:spPr>
      </p:pic>
      <p:pic>
        <p:nvPicPr>
          <p:cNvPr id="1949975966" name="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>
            <a:off x="3127374" y="4302124"/>
            <a:ext cx="3105149" cy="10096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9918876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17146" y="42545"/>
            <a:ext cx="10515600" cy="1132498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 fontScale="90000" lnSpcReduction="2000"/>
          </a:bodyPr>
          <a:lstStyle/>
          <a:p>
            <a:pPr>
              <a:defRPr/>
            </a:pPr>
            <a:r>
              <a:rPr lang="en-US" sz="48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Gyro-Aided Odometry (Z-axis) with PI Speed Control</a:t>
            </a:r>
            <a:endParaRPr/>
          </a:p>
        </p:txBody>
      </p:sp>
      <p:sp>
        <p:nvSpPr>
          <p:cNvPr id="181529417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49249" y="1111249"/>
            <a:ext cx="11890374" cy="5778499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95000" lnSpcReduction="1000"/>
          </a:bodyPr>
          <a:lstStyle/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Test Procedure (1–2 slides max)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Safety + Ground Test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Upload code with motor-driver OFF (if switch exists)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Lift robot (wheels free):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ensure forward rotation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OLED updates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Place on flat floor (≥1.5 m clear)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Mark start line and stop point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Observe OLED: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x</a:t>
            </a: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increases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y</a:t>
            </a: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stays near 0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θ</a:t>
            </a: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stays near 0°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L/R speeds close; PWM may differ slightly</a:t>
            </a:r>
            <a:endParaRPr/>
          </a:p>
        </p:txBody>
      </p:sp>
      <p:pic>
        <p:nvPicPr>
          <p:cNvPr id="610766585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1" y="156099"/>
            <a:ext cx="2037717" cy="54922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045918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17146" y="42545"/>
            <a:ext cx="10515600" cy="1132498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 fontScale="90000" lnSpcReduction="2000"/>
          </a:bodyPr>
          <a:lstStyle/>
          <a:p>
            <a:pPr>
              <a:defRPr/>
            </a:pPr>
            <a:r>
              <a:rPr lang="en-US" sz="48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Gyro-Aided Odometry (Z-axis) with PI Speed Control</a:t>
            </a:r>
            <a:endParaRPr/>
          </a:p>
        </p:txBody>
      </p:sp>
      <p:sp>
        <p:nvSpPr>
          <p:cNvPr id="1246953951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49249" y="1111249"/>
            <a:ext cx="11890374" cy="5778499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95000" lnSpcReduction="1000"/>
          </a:bodyPr>
          <a:lstStyle/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Test Procedure (1–2 slides max)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Safety + Ground Test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Upload code with motor-driver OFF (if switch exists)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Lift robot (wheels free):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ensure forward rotation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OLED updates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Place on flat floor (≥1.5 m clear)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Mark start line and stop point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Observe OLED: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x</a:t>
            </a: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increases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y</a:t>
            </a: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stays near 0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θ</a:t>
            </a: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stays near 0°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L/R speeds close; PWM may differ slightly</a:t>
            </a:r>
            <a:endParaRPr/>
          </a:p>
        </p:txBody>
      </p:sp>
      <p:pic>
        <p:nvPicPr>
          <p:cNvPr id="1358588093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1" y="156099"/>
            <a:ext cx="2037717" cy="54922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0648928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17146" y="42545"/>
            <a:ext cx="10515600" cy="1132498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 fontScale="90000" lnSpcReduction="2000"/>
          </a:bodyPr>
          <a:lstStyle/>
          <a:p>
            <a:pPr>
              <a:defRPr/>
            </a:pPr>
            <a:r>
              <a:rPr lang="en-US" sz="48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Gyro-Aided Odometry (Z-axis) with PI Speed Control</a:t>
            </a:r>
            <a:endParaRPr/>
          </a:p>
        </p:txBody>
      </p:sp>
      <p:sp>
        <p:nvSpPr>
          <p:cNvPr id="318993814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49249" y="1111249"/>
            <a:ext cx="11890374" cy="5778499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90000" lnSpcReduction="2000"/>
          </a:bodyPr>
          <a:lstStyle/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Expected Results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Robot travels ~1 m and stops smoothly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Straighter than open loop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Heading drift reduced due to gyro fusion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OLED shows stable pose estimation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Small PWM differences are normal and indicate correction.</a:t>
            </a:r>
            <a:endParaRPr sz="2800">
              <a:solidFill>
                <a:schemeClr val="bg1"/>
              </a:solidFill>
              <a:latin typeface="Aptos Display"/>
              <a:ea typeface="Aptos Display"/>
              <a:cs typeface="Aptos Display"/>
            </a:endParaRPr>
          </a:p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Applications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This method is foundational for: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Dead-reckoning navigation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Autonomous indoor robots (no GPS)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SLAM pre-requisite (needs odometry)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Sensor fusion pipelines (EKF later)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Reliable turning and path following</a:t>
            </a:r>
            <a:endParaRPr/>
          </a:p>
        </p:txBody>
      </p:sp>
      <p:pic>
        <p:nvPicPr>
          <p:cNvPr id="31915433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1" y="156099"/>
            <a:ext cx="2037717" cy="54922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8177670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17146" y="42545"/>
            <a:ext cx="10515600" cy="1132498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 fontScale="90000" lnSpcReduction="2000"/>
          </a:bodyPr>
          <a:lstStyle/>
          <a:p>
            <a:pPr>
              <a:defRPr/>
            </a:pPr>
            <a:r>
              <a:rPr lang="en-US" sz="48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Gyro-Aided Odometry (Z-axis) with PI Speed Control</a:t>
            </a:r>
            <a:endParaRPr/>
          </a:p>
        </p:txBody>
      </p:sp>
      <p:sp>
        <p:nvSpPr>
          <p:cNvPr id="253045578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49249" y="1111249"/>
            <a:ext cx="11890374" cy="5778499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 marL="0" indent="0">
              <a:buFont typeface="Arial"/>
              <a:buNone/>
              <a:defRPr/>
            </a:pP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Key Takeaway</a:t>
            </a:r>
            <a:endParaRPr sz="2800" b="1" i="0" u="none">
              <a:solidFill>
                <a:schemeClr val="bg1"/>
              </a:solidFill>
              <a:latin typeface="Aptos Display"/>
              <a:ea typeface="Aptos Display"/>
              <a:cs typeface="Aptos Display"/>
            </a:endParaRPr>
          </a:p>
          <a:p>
            <a:pPr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Encoders measure </a:t>
            </a: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translation</a:t>
            </a:r>
            <a:b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</a:b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Gyro measures </a:t>
            </a: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rotation rate</a:t>
            </a:r>
            <a:b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</a:b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Fusion improves </a:t>
            </a: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heading estimation</a:t>
            </a:r>
            <a:b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</a:b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Odometry gives </a:t>
            </a: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robot awareness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This experiment is the bridge from: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control → estimation → autonomy</a:t>
            </a:r>
            <a:endParaRPr/>
          </a:p>
        </p:txBody>
      </p:sp>
      <p:pic>
        <p:nvPicPr>
          <p:cNvPr id="350902520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1" y="156099"/>
            <a:ext cx="2037717" cy="54922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0854744" name="Title 1"/>
          <p:cNvSpPr>
            <a:spLocks noGrp="1"/>
          </p:cNvSpPr>
          <p:nvPr>
            <p:ph type="title"/>
          </p:nvPr>
        </p:nvSpPr>
        <p:spPr bwMode="auto">
          <a:xfrm>
            <a:off x="197113" y="156098"/>
            <a:ext cx="10515600" cy="1325559"/>
          </a:xfrm>
        </p:spPr>
        <p:txBody>
          <a:bodyPr/>
          <a:lstStyle/>
          <a:p>
            <a:pPr>
              <a:defRPr/>
            </a:pPr>
            <a:r>
              <a:rPr lang="en-US" sz="4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Gyro-Aided Odometry (Z-axis) with PI Speed Control</a:t>
            </a:r>
            <a:endParaRPr/>
          </a:p>
        </p:txBody>
      </p:sp>
      <p:sp>
        <p:nvSpPr>
          <p:cNvPr id="1950944364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197113" y="1530681"/>
            <a:ext cx="11196689" cy="5982711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sz="2800" b="1" i="0" u="none">
                <a:solidFill>
                  <a:schemeClr val="accent5"/>
                </a:solidFill>
                <a:latin typeface="Aptos Display"/>
                <a:ea typeface="Aptos Display"/>
                <a:cs typeface="Aptos Display"/>
              </a:rPr>
              <a:t>Critical Programming Setup</a:t>
            </a: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MANDATORY Switch Settings Before Uploading Code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Before connecting USB and uploading program: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2">
              <a:defRPr/>
            </a:pPr>
            <a:r>
              <a:rPr sz="2800" b="1" i="1" u="none">
                <a:solidFill>
                  <a:schemeClr val="accent5"/>
                </a:solidFill>
                <a:latin typeface="Aptos Display"/>
                <a:ea typeface="Aptos Display"/>
                <a:cs typeface="Aptos Display"/>
              </a:rPr>
              <a:t>“Motor Driver ON/OFF”  Switch</a:t>
            </a: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3">
              <a:defRPr/>
            </a:pPr>
            <a:r>
              <a:rPr sz="2800" b="0" i="0" u="none">
                <a:solidFill>
                  <a:schemeClr val="accent4">
                    <a:lumMod val="75000"/>
                  </a:schemeClr>
                </a:solidFill>
                <a:latin typeface="Aptos Display"/>
                <a:ea typeface="Aptos Display"/>
                <a:cs typeface="Aptos Display"/>
              </a:rPr>
              <a:t>⚠️ MUST BE SET TO: OFF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2"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Why?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3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Prevents motors from running during code upload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3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Avoids car moving unexpectedly on desk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3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Protects USB connection from power surges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</p:txBody>
      </p:sp>
      <p:pic>
        <p:nvPicPr>
          <p:cNvPr id="931547172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3" y="156099"/>
            <a:ext cx="2037717" cy="549226"/>
          </a:xfrm>
          <a:prstGeom prst="rect">
            <a:avLst/>
          </a:prstGeom>
        </p:spPr>
      </p:pic>
      <p:sp>
        <p:nvSpPr>
          <p:cNvPr id="105931348" name=""/>
          <p:cNvSpPr txBox="1"/>
          <p:nvPr/>
        </p:nvSpPr>
        <p:spPr bwMode="auto">
          <a:xfrm flipH="0" flipV="0">
            <a:off x="6004378" y="3246120"/>
            <a:ext cx="183240" cy="365756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endParaRPr/>
          </a:p>
        </p:txBody>
      </p:sp>
      <p:pic>
        <p:nvPicPr>
          <p:cNvPr id="555983286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9126493" y="3479257"/>
            <a:ext cx="2545290" cy="28001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3978749" name="Title 1"/>
          <p:cNvSpPr>
            <a:spLocks noGrp="1"/>
          </p:cNvSpPr>
          <p:nvPr>
            <p:ph type="title"/>
          </p:nvPr>
        </p:nvSpPr>
        <p:spPr bwMode="auto">
          <a:xfrm>
            <a:off x="295032" y="-10865"/>
            <a:ext cx="10515600" cy="1325559"/>
          </a:xfrm>
        </p:spPr>
        <p:txBody>
          <a:bodyPr/>
          <a:lstStyle/>
          <a:p>
            <a:pPr>
              <a:defRPr/>
            </a:pPr>
            <a:r>
              <a:rPr lang="en-US" sz="4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Gyro-Aided Odometry (Z-axis) with PI Speed Control</a:t>
            </a:r>
            <a:endParaRPr/>
          </a:p>
        </p:txBody>
      </p:sp>
      <p:sp>
        <p:nvSpPr>
          <p:cNvPr id="1038816790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194068" y="1210214"/>
            <a:ext cx="11620618" cy="5982711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During Programming (Code Upload):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Step 1: Connect USB cable to computer</a:t>
            </a:r>
            <a:endParaRPr sz="2800" b="0" i="0" u="none">
              <a:solidFill>
                <a:schemeClr val="bg1"/>
              </a:solidFill>
              <a:latin typeface="Aptos Display"/>
              <a:ea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Step 2: Set Switch “</a:t>
            </a:r>
            <a:r>
              <a:rPr lang="en-US" sz="2400" b="1" i="1" u="none" strike="noStrike" cap="none" spc="0">
                <a:solidFill>
                  <a:schemeClr val="accent5"/>
                </a:solidFill>
                <a:latin typeface="Aptos Display"/>
                <a:ea typeface="Aptos Display"/>
                <a:cs typeface="Aptos Display"/>
              </a:rPr>
              <a:t>Motor Driver ON/OFF</a:t>
            </a: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” → OFF</a:t>
            </a:r>
            <a:endParaRPr sz="2800" b="0" i="0" u="none">
              <a:solidFill>
                <a:schemeClr val="bg1"/>
              </a:solidFill>
              <a:latin typeface="Aptos Display"/>
              <a:ea typeface="Aptos Display"/>
              <a:cs typeface="Aptos Display"/>
            </a:endParaRPr>
          </a:p>
          <a:p>
            <a:pPr lvl="1">
              <a:defRPr/>
            </a:pPr>
            <a:r>
              <a:rPr lang="en-US" sz="2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Step 3: Set Switch “</a:t>
            </a:r>
            <a:r>
              <a:rPr lang="en-US" sz="2400" b="1" i="0" u="none" strike="noStrike" cap="none" spc="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</a:rPr>
              <a:t>Battery ON/OFF </a:t>
            </a:r>
            <a:r>
              <a:rPr lang="en-US" sz="2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” → OFF -&gt;for batter power</a:t>
            </a:r>
            <a:endParaRPr sz="2800" b="0" i="0" u="none">
              <a:solidFill>
                <a:schemeClr val="bg1"/>
              </a:solidFill>
              <a:latin typeface="Aptos Display"/>
              <a:ea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Step 4: Upload your the respective program</a:t>
            </a:r>
            <a:endParaRPr sz="2800" b="0" i="0" u="none">
              <a:solidFill>
                <a:schemeClr val="bg1"/>
              </a:solidFill>
              <a:latin typeface="Aptos Display"/>
              <a:ea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Step 5: Wait for "Upload Complete" message</a:t>
            </a:r>
            <a:endParaRPr sz="2800" b="0" i="0" u="none">
              <a:solidFill>
                <a:schemeClr val="bg1"/>
              </a:solidFill>
              <a:latin typeface="Aptos Display"/>
              <a:ea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Step 6: Disconnect USB cable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Before Testing (Running the Robot):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Step 1: Place robot on the ground. No obstacle as this test for basic movements </a:t>
            </a:r>
            <a:endParaRPr sz="2400" b="0" i="0" u="none">
              <a:solidFill>
                <a:schemeClr val="bg1"/>
              </a:solidFill>
              <a:latin typeface="Aptos Display"/>
              <a:ea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Step 2: Set Switch </a:t>
            </a:r>
            <a:r>
              <a:rPr lang="en-US" sz="2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“</a:t>
            </a:r>
            <a:r>
              <a:rPr lang="en-US" sz="2400" b="1" i="1" u="none" strike="noStrike" cap="none" spc="0">
                <a:solidFill>
                  <a:schemeClr val="accent5"/>
                </a:solidFill>
                <a:latin typeface="Aptos Display"/>
                <a:ea typeface="Aptos Display"/>
                <a:cs typeface="Aptos Display"/>
              </a:rPr>
              <a:t>Motor Driver ON/OFF</a:t>
            </a:r>
            <a:r>
              <a:rPr lang="en-US" sz="2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”</a:t>
            </a: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-&gt;</a:t>
            </a: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ON (  motor driver</a:t>
            </a:r>
            <a:r>
              <a:rPr lang="en-US" sz="2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ON</a:t>
            </a: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)</a:t>
            </a:r>
            <a:endParaRPr sz="2400" b="0" i="0" u="none">
              <a:solidFill>
                <a:schemeClr val="bg1"/>
              </a:solidFill>
              <a:latin typeface="Aptos Display"/>
              <a:ea typeface="Aptos Display"/>
              <a:cs typeface="Aptos Display"/>
            </a:endParaRPr>
          </a:p>
          <a:p>
            <a:pPr lvl="1">
              <a:defRPr/>
            </a:pPr>
            <a:r>
              <a:rPr lang="en-US" sz="2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Step 3: Set Switch “</a:t>
            </a:r>
            <a:r>
              <a:rPr lang="en-US" sz="2800" b="1" i="0" u="none" strike="noStrike" cap="none" spc="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</a:rPr>
              <a:t>Battery ON/OFF</a:t>
            </a:r>
            <a:r>
              <a:rPr lang="en-US" sz="2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” → ON -&gt; for batter power</a:t>
            </a:r>
            <a:endParaRPr sz="2400" b="0" i="0" u="none">
              <a:solidFill>
                <a:schemeClr val="bg1"/>
              </a:solidFill>
              <a:latin typeface="Aptos Display"/>
              <a:ea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Step 4: Monitor the Robot car-3 Movements &amp; OLED , Monitior the functionality according to the program</a:t>
            </a:r>
            <a:endParaRPr sz="2400" b="0" i="0" u="none">
              <a:solidFill>
                <a:schemeClr val="bg1"/>
              </a:solidFill>
              <a:latin typeface="Aptos Display"/>
              <a:ea typeface="Aptos Display"/>
              <a:cs typeface="Aptos Display"/>
            </a:endParaRPr>
          </a:p>
        </p:txBody>
      </p:sp>
      <p:pic>
        <p:nvPicPr>
          <p:cNvPr id="1293402201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3" y="156099"/>
            <a:ext cx="2037717" cy="549226"/>
          </a:xfrm>
          <a:prstGeom prst="rect">
            <a:avLst/>
          </a:prstGeom>
        </p:spPr>
      </p:pic>
      <p:sp>
        <p:nvSpPr>
          <p:cNvPr id="1684940667" name=""/>
          <p:cNvSpPr txBox="1"/>
          <p:nvPr/>
        </p:nvSpPr>
        <p:spPr bwMode="auto">
          <a:xfrm flipH="0" flipV="0">
            <a:off x="6004378" y="3246120"/>
            <a:ext cx="183240" cy="365756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endParaRPr/>
          </a:p>
        </p:txBody>
      </p:sp>
      <p:sp>
        <p:nvSpPr>
          <p:cNvPr id="778135816" name=""/>
          <p:cNvSpPr txBox="1"/>
          <p:nvPr/>
        </p:nvSpPr>
        <p:spPr bwMode="auto">
          <a:xfrm flipH="0" flipV="0">
            <a:off x="495643" y="6493988"/>
            <a:ext cx="2862434" cy="3657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Lesson Code – GitHub URL:</a:t>
            </a:r>
            <a:endParaRPr/>
          </a:p>
        </p:txBody>
      </p:sp>
      <p:sp>
        <p:nvSpPr>
          <p:cNvPr id="1382649542" name=""/>
          <p:cNvSpPr txBox="1"/>
          <p:nvPr/>
        </p:nvSpPr>
        <p:spPr bwMode="auto">
          <a:xfrm flipH="0" flipV="0">
            <a:off x="4351745" y="6173767"/>
            <a:ext cx="7276086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>
                <a:solidFill>
                  <a:schemeClr val="bg1"/>
                </a:solidFill>
              </a:rPr>
              <a:t>https://github.com/info-zas/zas-robotics-car-3-encoders-imu-gps/tree/main/01_FoundationProjects/10_Car-3_Sine_Trajectory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6684571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838198" y="365124"/>
            <a:ext cx="10515600" cy="2536884"/>
          </a:xfrm>
        </p:spPr>
        <p:txBody>
          <a:bodyPr/>
          <a:lstStyle/>
          <a:p>
            <a:pPr>
              <a:defRPr/>
            </a:pPr>
            <a:r>
              <a:rPr lang="en-GB">
                <a:solidFill>
                  <a:schemeClr val="bg1"/>
                </a:solidFill>
              </a:rPr>
              <a:t>Q&amp;A</a:t>
            </a:r>
            <a:endParaRPr/>
          </a:p>
        </p:txBody>
      </p:sp>
      <p:sp>
        <p:nvSpPr>
          <p:cNvPr id="1708308253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  <a:p>
            <a:pPr>
              <a:defRPr/>
            </a:pPr>
            <a:endParaRPr sz="2800" b="0" i="0" u="none">
              <a:solidFill>
                <a:schemeClr val="bg1"/>
              </a:solidFill>
              <a:latin typeface="Times New Roman"/>
              <a:ea typeface="Times New Roman"/>
              <a:cs typeface="Times New Roman"/>
            </a:endParaRPr>
          </a:p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Invite Questions</a:t>
            </a: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: Encourage the audience to ask questions for further clarification or discussion.</a:t>
            </a:r>
            <a:endParaRPr sz="2800" b="0" i="0" u="none">
              <a:solidFill>
                <a:schemeClr val="bg1"/>
              </a:solidFill>
              <a:latin typeface="Times New Roman"/>
              <a:ea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endParaRPr lang="en-GB">
              <a:solidFill>
                <a:schemeClr val="bg1"/>
              </a:solidFill>
            </a:endParaRPr>
          </a:p>
        </p:txBody>
      </p:sp>
      <p:pic>
        <p:nvPicPr>
          <p:cNvPr id="1353557842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4" y="156102"/>
            <a:ext cx="2037720" cy="54922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1_Office Theme">
  <a:themeElements>
    <a:clrScheme name="ZASRobotics">
      <a:dk1>
        <a:sysClr val="windowText" lastClr="000000"/>
      </a:dk1>
      <a:lt1>
        <a:sysClr val="window" lastClr="FFFFFF"/>
      </a:lt1>
      <a:dk2>
        <a:srgbClr val="0E2841"/>
      </a:dk2>
      <a:lt2>
        <a:srgbClr val="8ECAE6"/>
      </a:lt2>
      <a:accent1>
        <a:srgbClr val="219EBC"/>
      </a:accent1>
      <a:accent2>
        <a:srgbClr val="8ECAE6"/>
      </a:accent2>
      <a:accent3>
        <a:srgbClr val="023047"/>
      </a:accent3>
      <a:accent4>
        <a:srgbClr val="FF715B"/>
      </a:accent4>
      <a:accent5>
        <a:srgbClr val="F9CB40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Arial"/>
        <a:cs typeface="Arial"/>
      </a:majorFont>
      <a:minorFont>
        <a:latin typeface="Aptos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1_Office Theme">
  <a:themeElements>
    <a:clrScheme name="ZASRobotics">
      <a:dk1>
        <a:sysClr val="windowText" lastClr="000000"/>
      </a:dk1>
      <a:lt1>
        <a:sysClr val="window" lastClr="FFFFFF"/>
      </a:lt1>
      <a:dk2>
        <a:srgbClr val="0E2841"/>
      </a:dk2>
      <a:lt2>
        <a:srgbClr val="8ECAE6"/>
      </a:lt2>
      <a:accent1>
        <a:srgbClr val="219EBC"/>
      </a:accent1>
      <a:accent2>
        <a:srgbClr val="8ECAE6"/>
      </a:accent2>
      <a:accent3>
        <a:srgbClr val="023047"/>
      </a:accent3>
      <a:accent4>
        <a:srgbClr val="FF715B"/>
      </a:accent4>
      <a:accent5>
        <a:srgbClr val="F9CB40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 Display"/>
        <a:ea typeface="Arial"/>
        <a:cs typeface="Arial"/>
      </a:majorFont>
      <a:minorFont>
        <a:latin typeface="Aptos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ONLYOFFICE/8.3.3.21</Application>
  <PresentationFormat>On-screen Show (4:3)</PresentationFormat>
  <Paragraphs>0</Paragraphs>
  <Slides>28</Slides>
  <Notes>28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29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/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Fakruddin Mohammed</dc:creator>
  <cp:lastModifiedBy/>
  <cp:revision>18</cp:revision>
  <dcterms:created xsi:type="dcterms:W3CDTF">2025-11-29T15:09:33Z</dcterms:created>
  <dcterms:modified xsi:type="dcterms:W3CDTF">2026-01-18T15:34:33Z</dcterms:modified>
</cp:coreProperties>
</file>