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7.xml" ContentType="application/vnd.openxmlformats-officedocument.presentationml.notesSlide+xml"/>
  <Override PartName="/ppt/slideLayouts/slideLayout6.xml" ContentType="application/vnd.openxmlformats-officedocument.presentationml.slideLayout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ppt/slides/slide4.xml" ContentType="application/vnd.openxmlformats-officedocument.presentationml.slide+xml"/>
  <Override PartName="/ppt/viewProps.xml" ContentType="application/vnd.openxmlformats-officedocument.presentationml.viewProps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0" d="100"/>
          <a:sy n="70" d="100"/>
        </p:scale>
        <p:origin x="1166" y="278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 /><Relationship Id="rId23" Type="http://schemas.openxmlformats.org/officeDocument/2006/relationships/tableStyles" Target="tableStyles.xml" /><Relationship Id="rId2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666717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5250268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10236472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89658100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90120013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1950012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93435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67824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29761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4628D2-0276-7CE8-68C8-A30FE23A6892}" type="slidenum">
              <a:rPr/>
              <a:t/>
            </a:fld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8256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87954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81835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A4FDE1-3F0C-4337-9D7C-1B70B7216FD1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40882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99238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44458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FB64D1-0EC3-AFBF-992C-812C2048C25B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04622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70560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76106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C897D6A-899F-BF6A-F8B1-9A10CAC698B0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48705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71149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67161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7A02AE-AECF-9F67-4310-6F8F216D46F5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20397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16217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66559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073A3B-6766-BAB4-FAD5-AE168DD828E9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52512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92149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78870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C42634-8F99-6BD1-F982-8245EB90940C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88682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738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5266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3E1090-5A7D-926F-287F-B15030D7C4F4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50382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37923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7088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75B5B2D-941D-0498-4B66-11E91D45D69B}" type="slidenum">
              <a:rPr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42794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764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32625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98196B-8AC0-7957-09EF-95DBCBB49F3D}" type="slidenum">
              <a:rPr/>
              <a:t/>
            </a:fld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94895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40222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3123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307C50-6F31-3FF4-72EF-35743BFD5DE8}" type="slidenum">
              <a:rPr/>
              <a:t/>
            </a:fld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22743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38932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2476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E2C283-E7A4-6247-0C5A-0989A6D2B1D4}" type="slidenum">
              <a:rPr/>
              <a:t/>
            </a:fld>
            <a:endParaRPr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73071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91382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99347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8A0412-DED6-26DF-B5C3-C47D1FD5A03B}" type="slidenum">
              <a:rPr/>
              <a:t/>
            </a:fld>
            <a:endParaRPr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99776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37883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98981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9D1F4B-E549-A3CA-D4D5-4FC26A93690C}" type="slidenum">
              <a:rPr/>
              <a:t/>
            </a:fld>
            <a:endParaRPr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388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47755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67277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96AE28-1750-FB0A-13D1-D80273FFDC97}" type="slidenum">
              <a:rPr/>
              <a:t/>
            </a:fld>
            <a:endParaRPr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05191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61231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50517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401278-5463-3FBB-39EC-EA3E47386B1E}" type="slidenum">
              <a:rPr/>
              <a:t/>
            </a:fld>
            <a:endParaRPr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6095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87204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15635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932549-8DF2-14CE-32DE-B4134FF987BE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4773880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41271841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42342534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204126146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70422693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446900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96101350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92590694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5962766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40713183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7552183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4964968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2933886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4276198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58475782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421856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2638373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60291684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31929795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5046664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12442092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0247939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3736051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1366072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84458962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423216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592921443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38599373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06436707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479286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27035030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8594393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79590112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4899061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057122942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20560137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1137681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33715520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55248478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7284781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73257276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37169949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257544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899397220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GB"/>
          </a:p>
        </p:txBody>
      </p:sp>
      <p:sp>
        <p:nvSpPr>
          <p:cNvPr id="151855436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735771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41832164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88013871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77771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50510492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35806109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4864351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3977983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699329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5714872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05661370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51486321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70321579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38711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8656160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961389622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62562215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5365296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179598" name="Title 1"/>
          <p:cNvSpPr>
            <a:spLocks noGrp="1"/>
          </p:cNvSpPr>
          <p:nvPr>
            <p:ph type="ctrTitle"/>
          </p:nvPr>
        </p:nvSpPr>
        <p:spPr bwMode="auto">
          <a:xfrm>
            <a:off x="0" y="934985"/>
            <a:ext cx="12192000" cy="2387600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ZAS Robotic Products</a:t>
            </a:r>
            <a:endParaRPr/>
          </a:p>
        </p:txBody>
      </p:sp>
      <p:sp>
        <p:nvSpPr>
          <p:cNvPr id="232917383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523998" y="3322584"/>
            <a:ext cx="9144000" cy="293893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lang="en-GB" sz="3200">
                <a:solidFill>
                  <a:schemeClr val="accent4"/>
                </a:solidFill>
              </a:rPr>
              <a:t>Navigational Robotic Series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GB" sz="2800">
                <a:solidFill>
                  <a:schemeClr val="accent5">
                    <a:lumMod val="75000"/>
                  </a:schemeClr>
                </a:solidFill>
                <a:latin typeface="Poppins"/>
                <a:ea typeface="Poppins"/>
                <a:cs typeface="Poppins"/>
              </a:rPr>
              <a:t>Robot Car-</a:t>
            </a:r>
            <a:r>
              <a:rPr lang="en-US" sz="2800">
                <a:solidFill>
                  <a:schemeClr val="accent5">
                    <a:lumMod val="75000"/>
                  </a:schemeClr>
                </a:solidFill>
                <a:latin typeface="Poppins"/>
                <a:ea typeface="Poppins"/>
                <a:cs typeface="Poppins"/>
              </a:rPr>
              <a:t>3</a:t>
            </a:r>
            <a:r>
              <a:rPr lang="en-GB" sz="2800">
                <a:solidFill>
                  <a:schemeClr val="accent5">
                    <a:lumMod val="75000"/>
                  </a:schemeClr>
                </a:solidFill>
                <a:latin typeface="Poppins"/>
                <a:ea typeface="Poppins"/>
                <a:cs typeface="Poppins"/>
              </a:rPr>
              <a:t> (</a:t>
            </a:r>
            <a:r>
              <a:rPr lang="en-US" sz="2800">
                <a:solidFill>
                  <a:schemeClr val="accent5">
                    <a:lumMod val="75000"/>
                  </a:schemeClr>
                </a:solidFill>
                <a:latin typeface="Poppins"/>
                <a:ea typeface="Poppins"/>
                <a:cs typeface="Poppins"/>
              </a:rPr>
              <a:t>Advanced Autonomy)</a:t>
            </a:r>
            <a:endParaRPr lang="en-GB" sz="3200">
              <a:solidFill>
                <a:schemeClr val="accent5"/>
              </a:solidFill>
            </a:endParaRPr>
          </a:p>
          <a:p>
            <a:pPr>
              <a:defRPr/>
            </a:pPr>
            <a:r>
              <a:rPr sz="4800" b="0" i="1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MPU6050 Accelerometer Calibration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>
              <a:defRPr/>
            </a:pPr>
            <a:b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</a:b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Course Context: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Robotics / Embedded Systems / Sensors &amp; Actuators</a:t>
            </a:r>
            <a:endParaRPr lang="en-GB" sz="3200">
              <a:solidFill>
                <a:schemeClr val="accent5"/>
              </a:solidFill>
            </a:endParaRPr>
          </a:p>
        </p:txBody>
      </p:sp>
      <p:pic>
        <p:nvPicPr>
          <p:cNvPr id="610685636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966071" y="156102"/>
            <a:ext cx="4042963" cy="10897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288874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7" y="42546"/>
            <a:ext cx="10515600" cy="113249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MPU6050 Accelerometer Calibration</a:t>
            </a:r>
            <a:endParaRPr/>
          </a:p>
        </p:txBody>
      </p:sp>
      <p:sp>
        <p:nvSpPr>
          <p:cNvPr id="42746396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17146" y="1175044"/>
            <a:ext cx="11527408" cy="558147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Why This Experiment Is Important</a:t>
            </a:r>
            <a:endParaRPr sz="280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Modern robots rely on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IMU sensors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for: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Orientation (roll &amp; pitch)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Balance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Navigation	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Sensor fusion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457200" lvl="1" indent="0">
              <a:buFont typeface="Arial"/>
              <a:buNone/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Raw accelerometer data is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not accurate</a:t>
            </a:r>
            <a:b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</a:b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✔ Calibration is mandatory before using IMU data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This experiment converts raw sensor data into physically correct data</a:t>
            </a:r>
            <a:endParaRPr/>
          </a:p>
        </p:txBody>
      </p:sp>
      <p:pic>
        <p:nvPicPr>
          <p:cNvPr id="269636607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2" y="156100"/>
            <a:ext cx="2037718" cy="5492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473262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MPU6050 Accelerometer Calibration</a:t>
            </a:r>
            <a:endParaRPr/>
          </a:p>
        </p:txBody>
      </p:sp>
      <p:sp>
        <p:nvSpPr>
          <p:cNvPr id="198063907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17146" y="1246259"/>
            <a:ext cx="11749955" cy="552806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lvl="2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Car-3</a:t>
            </a:r>
            <a:r>
              <a:rPr sz="280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 – MPU6050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914400" lvl="2" indent="0">
              <a:buFont typeface="Arial"/>
              <a:buNone/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457119058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  <p:pic>
        <p:nvPicPr>
          <p:cNvPr id="160138370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09173" y="1651295"/>
            <a:ext cx="10223572" cy="49405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938134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MPU6050 Accelerometer Calibration</a:t>
            </a:r>
            <a:endParaRPr/>
          </a:p>
        </p:txBody>
      </p:sp>
      <p:sp>
        <p:nvSpPr>
          <p:cNvPr id="19990241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17145" y="1175043"/>
            <a:ext cx="11527407" cy="558147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What Problem Are We Solving?</a:t>
            </a:r>
            <a:endParaRPr sz="280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Real Sensor Issues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Manufacturing bias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Scale error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Axis misalignment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Consequences if ignored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Wrong tilt angles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Unstable control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Incorrect fusion with gyroscope</a:t>
            </a:r>
            <a:endParaRPr sz="240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marL="457200" lvl="1" indent="0">
              <a:buFont typeface="Arial"/>
              <a:buNone/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Calibration corrects bias and scale errors</a:t>
            </a:r>
            <a:endParaRPr/>
          </a:p>
        </p:txBody>
      </p:sp>
      <p:pic>
        <p:nvPicPr>
          <p:cNvPr id="666304651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02405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MPU6050 Accelerometer Calibration</a:t>
            </a:r>
            <a:endParaRPr/>
          </a:p>
        </p:txBody>
      </p:sp>
      <p:sp>
        <p:nvSpPr>
          <p:cNvPr id="163482388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17145" y="1175043"/>
            <a:ext cx="11527407" cy="558147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Learning Outcomes</a:t>
            </a:r>
            <a:endParaRPr sz="2800" b="1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800" b="1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After this lab, students will be able to:</a:t>
            </a:r>
            <a:endParaRPr sz="280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Explain what an accelerometer measures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Use gravity as a calibration reference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Perform 6-pose calibration correctly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Compute offset and scale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Implement calibration in embedded code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Validate sensor correctness using plots</a:t>
            </a:r>
            <a:endParaRPr/>
          </a:p>
        </p:txBody>
      </p:sp>
      <p:pic>
        <p:nvPicPr>
          <p:cNvPr id="2031932815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41921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-51142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MPU6050 Accelerometer Calibration</a:t>
            </a:r>
            <a:endParaRPr/>
          </a:p>
        </p:txBody>
      </p:sp>
      <p:sp>
        <p:nvSpPr>
          <p:cNvPr id="554420516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17145" y="890040"/>
            <a:ext cx="11527407" cy="586647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An </a:t>
            </a:r>
            <a:r>
              <a:rPr lang="en-US" sz="2800" b="0" i="0" u="none" strike="noStrike" cap="none" spc="0">
                <a:solidFill>
                  <a:srgbClr val="FFC000"/>
                </a:solidFill>
                <a:latin typeface="Aptos"/>
                <a:ea typeface="Aptos"/>
                <a:cs typeface="Aptos"/>
              </a:rPr>
              <a:t>accelerometer</a:t>
            </a:r>
            <a:r>
              <a:rPr lang="en-US" sz="28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 measures specific force (force per unit mass).</a:t>
            </a:r>
            <a:endParaRPr sz="2800" b="0" i="0" u="none" strike="noStrike" cap="none" spc="0">
              <a:solidFill>
                <a:schemeClr val="bg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When the robot is stationary, the only force acting on it is gravity.</a:t>
            </a:r>
            <a:endParaRPr sz="2800" b="0" i="0" u="none" strike="noStrike" cap="none" spc="0">
              <a:solidFill>
                <a:schemeClr val="bg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Gravity magnitude ≈ 1 g (9.81 m/s²), which is constant and always present.</a:t>
            </a:r>
            <a:endParaRPr sz="2800" b="0" i="0" u="none" strike="noStrike" cap="none" spc="0">
              <a:solidFill>
                <a:schemeClr val="bg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IMPORTANT: </a:t>
            </a:r>
            <a:endParaRPr lang="en-US" sz="2800" b="0" i="0" u="none" strike="noStrike" cap="none" spc="0">
              <a:solidFill>
                <a:schemeClr val="bg1"/>
              </a:solidFill>
              <a:latin typeface="Aptos"/>
              <a:ea typeface="Aptos"/>
              <a:cs typeface="Aptos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The accelerometer does NOT distinguish between motion force and gravity — it only senses total force.</a:t>
            </a:r>
            <a:endParaRPr sz="2800" b="0" i="0" u="none" strike="noStrike" cap="none" spc="0">
              <a:solidFill>
                <a:schemeClr val="bg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Because gravity always points downward, it provides a natural reference direction.</a:t>
            </a:r>
            <a:endParaRPr sz="2800" b="0" i="0" u="none" strike="noStrike" cap="none" spc="0">
              <a:solidFill>
                <a:schemeClr val="bg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Using gravity, an accelerometer can directly estimate:</a:t>
            </a:r>
            <a:endParaRPr sz="2800" b="0" i="0" u="none" strike="noStrike" cap="none" spc="0">
              <a:solidFill>
                <a:schemeClr val="bg1"/>
              </a:solidFill>
              <a:latin typeface="Aptos"/>
              <a:cs typeface="Aptos"/>
            </a:endParaRPr>
          </a:p>
          <a:p>
            <a:pPr marL="0" indent="0">
              <a:buFont typeface="Arial"/>
              <a:buNone/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  	 – Roll</a:t>
            </a:r>
            <a:endParaRPr sz="2800" b="0" i="0" u="none" strike="noStrike" cap="none" spc="0">
              <a:solidFill>
                <a:schemeClr val="bg1"/>
              </a:solidFill>
              <a:latin typeface="Aptos"/>
              <a:cs typeface="Aptos"/>
            </a:endParaRPr>
          </a:p>
          <a:p>
            <a:pPr marL="0" indent="0">
              <a:buFont typeface="Arial"/>
              <a:buNone/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	 – Pitch</a:t>
            </a:r>
            <a:endParaRPr sz="2800" b="0" i="0" u="none" strike="noStrike" cap="none" spc="0">
              <a:solidFill>
                <a:schemeClr val="bg1"/>
              </a:solidFill>
              <a:latin typeface="Aptos"/>
              <a:cs typeface="Aptos"/>
            </a:endParaRPr>
          </a:p>
          <a:p>
            <a:pPr marL="0" indent="0">
              <a:buFont typeface="Arial"/>
              <a:buNone/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Yaw cannot be determined because gravity has no left/right direction.</a:t>
            </a:r>
            <a:endParaRPr/>
          </a:p>
        </p:txBody>
      </p:sp>
      <p:pic>
        <p:nvPicPr>
          <p:cNvPr id="756378287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697688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-51142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MPU6050 Accelerometer Calibration</a:t>
            </a:r>
            <a:endParaRPr/>
          </a:p>
        </p:txBody>
      </p:sp>
      <p:sp>
        <p:nvSpPr>
          <p:cNvPr id="111004684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17145" y="890040"/>
            <a:ext cx="11527407" cy="586647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rgbClr val="FFC000"/>
                </a:solidFill>
                <a:latin typeface="Aptos Display"/>
                <a:ea typeface="Aptos Display"/>
                <a:cs typeface="Aptos Display"/>
              </a:rPr>
              <a:t>Understanding +1g and −1g (Key Concept)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+1 g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→ gravity acts </a:t>
            </a: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along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the sensor axis direction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−1 g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→ gravity acts </a:t>
            </a: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opposite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to the sensor axis direction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0 g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→ axis is perpendicular to gravity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📌 Sign depends on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sensor axis direction</a:t>
            </a:r>
            <a:endParaRPr/>
          </a:p>
        </p:txBody>
      </p:sp>
      <p:pic>
        <p:nvPicPr>
          <p:cNvPr id="1164511722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  <p:sp>
        <p:nvSpPr>
          <p:cNvPr id="504453917" name=""/>
          <p:cNvSpPr/>
          <p:nvPr/>
        </p:nvSpPr>
        <p:spPr bwMode="auto">
          <a:xfrm flipH="0" flipV="0">
            <a:off x="506066" y="3174595"/>
            <a:ext cx="5167287" cy="358192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400" b="1" i="0" u="none">
                <a:solidFill>
                  <a:srgbClr val="FFC000"/>
                </a:solidFill>
                <a:latin typeface="Aptos Display"/>
                <a:ea typeface="Aptos Display"/>
                <a:cs typeface="Aptos Display"/>
              </a:rPr>
              <a:t>Why 6-Pose Calibration?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Each accelerometer axis must experience: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40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	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+1 g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40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	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−1 g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There are 3 axes → </a:t>
            </a: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3 × 2 = 6 poses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📌 This allows accurate estimation of: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Offset (bias)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Scale (gain)</a:t>
            </a:r>
            <a:endParaRPr/>
          </a:p>
        </p:txBody>
      </p:sp>
      <p:pic>
        <p:nvPicPr>
          <p:cNvPr id="17557341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490373" y="2342847"/>
            <a:ext cx="5296947" cy="37722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50877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-51142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MPU6050 Accelerometer Calibration</a:t>
            </a:r>
            <a:endParaRPr/>
          </a:p>
        </p:txBody>
      </p:sp>
      <p:sp>
        <p:nvSpPr>
          <p:cNvPr id="179842737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17145" y="890040"/>
            <a:ext cx="11527407" cy="586647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Two-Phase Calibration Strategy (Very Important)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This program runs in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two clear phases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PHASE-1: Data Collection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Rotate robot into 6 poses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Record min/max values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No calibration applied yet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PHASE-2: Calibration Application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Paste measured values into code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Apply offset and scale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Verify ±1g behavior</a:t>
            </a:r>
            <a:endParaRPr sz="240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marL="457200" lvl="1" indent="0">
              <a:buFont typeface="Arial"/>
              <a:buNone/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Only one line changes in code</a:t>
            </a:r>
            <a:endParaRPr/>
          </a:p>
        </p:txBody>
      </p:sp>
      <p:pic>
        <p:nvPicPr>
          <p:cNvPr id="1726786988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968442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-51142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MPU6050 Accelerometer Calibration</a:t>
            </a:r>
            <a:endParaRPr/>
          </a:p>
        </p:txBody>
      </p:sp>
      <p:sp>
        <p:nvSpPr>
          <p:cNvPr id="299688665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17145" y="890040"/>
            <a:ext cx="11527407" cy="586647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rgbClr val="FFC000"/>
                </a:solidFill>
                <a:latin typeface="Aptos"/>
                <a:ea typeface="Aptos"/>
                <a:cs typeface="Aptos"/>
              </a:rPr>
              <a:t>Program Control</a:t>
            </a:r>
            <a:endParaRPr sz="2800" b="0" i="0" u="none" strike="noStrike" cap="none" spc="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COLLECT_MIN_MAX = true → Phase-1: Collect Min/Max</a:t>
            </a:r>
            <a:endParaRPr sz="2800" b="0" i="0" u="none" strike="noStrike" cap="none" spc="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COLLECT_MIN_MAX = false → Phase-2: Apply Calibration</a:t>
            </a:r>
            <a:endParaRPr sz="2800" b="0" i="0" u="none" strike="noStrike" cap="none" spc="0">
              <a:solidFill>
                <a:schemeClr val="bg1"/>
              </a:solidFill>
              <a:latin typeface="Aptos"/>
              <a:cs typeface="Aptos"/>
            </a:endParaRPr>
          </a:p>
          <a:p>
            <a:pPr marL="0" indent="0">
              <a:buFont typeface="Arial"/>
              <a:buNone/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Note: Avoids comment/uncomment mistakes; student-safe</a:t>
            </a:r>
            <a:endParaRPr sz="2800" b="0" i="0" u="none" strike="noStrike" cap="none" spc="0">
              <a:solidFill>
                <a:schemeClr val="bg1"/>
              </a:solidFill>
              <a:latin typeface="Aptos"/>
              <a:cs typeface="Aptos"/>
            </a:endParaRPr>
          </a:p>
          <a:p>
            <a:pPr>
              <a:defRPr/>
            </a:pPr>
            <a:endParaRPr sz="2800" b="0" i="0" u="none" strike="noStrike" cap="none" spc="0">
              <a:solidFill>
                <a:schemeClr val="bg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PHASE-1: Data Collection (6-Pose Method)</a:t>
            </a:r>
            <a:endParaRPr sz="2800" b="0" i="0" u="none" strike="noStrike" cap="none" spc="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Robot powered ON, completely still</a:t>
            </a:r>
            <a:endParaRPr sz="2800" b="0" i="0" u="none" strike="noStrike" cap="none" spc="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Carefully rotate sensor</a:t>
            </a:r>
            <a:endParaRPr sz="2800" b="0" i="0" u="none" strike="noStrike" cap="none" spc="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+X/−X → xMax/xMin | +Y/−Y → yMax/yMin | +Z/−Z → zMax/zMin</a:t>
            </a:r>
            <a:endParaRPr sz="2800" b="0" i="0" u="none" strike="noStrike" cap="none" spc="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Hold each pose 2–3 seconds</a:t>
            </a:r>
            <a:endParaRPr sz="2800" b="0" i="0" u="none" strike="noStrike" cap="none" spc="0">
              <a:solidFill>
                <a:schemeClr val="bg1"/>
              </a:solidFill>
              <a:latin typeface="Aptos"/>
              <a:cs typeface="Aptos"/>
            </a:endParaRPr>
          </a:p>
        </p:txBody>
      </p:sp>
      <p:pic>
        <p:nvPicPr>
          <p:cNvPr id="18825094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230192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-51142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MPU6050 Accelerometer Calibration</a:t>
            </a:r>
            <a:endParaRPr/>
          </a:p>
        </p:txBody>
      </p:sp>
      <p:sp>
        <p:nvSpPr>
          <p:cNvPr id="153984070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17145" y="890040"/>
            <a:ext cx="11527407" cy="586647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rgbClr val="FFC000"/>
                </a:solidFill>
                <a:latin typeface="Aptos Display"/>
                <a:ea typeface="Aptos Display"/>
                <a:cs typeface="Aptos Display"/>
              </a:rPr>
              <a:t>Program Control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PHASE-1 Algorithm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Init MPU6050 → Read accel → Convert to g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Continuously update min/max → Display live values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Calibration Mathematics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rgbClr val="FFC000"/>
                </a:solidFill>
                <a:latin typeface="Aptos Display"/>
                <a:ea typeface="Aptos Display"/>
                <a:cs typeface="Aptos Display"/>
              </a:rPr>
              <a:t>Offset = (max + min) / 2</a:t>
            </a:r>
            <a:endParaRPr sz="2800" b="0" i="0" u="none" strike="noStrike" cap="none" spc="0">
              <a:solidFill>
                <a:srgbClr val="FFC000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rgbClr val="FFC000"/>
                </a:solidFill>
                <a:latin typeface="Aptos Display"/>
                <a:ea typeface="Aptos Display"/>
                <a:cs typeface="Aptos Display"/>
              </a:rPr>
              <a:t>Scale = 2 / (max − min)</a:t>
            </a:r>
            <a:endParaRPr sz="2800" b="0" i="0" u="none" strike="noStrike" cap="none" spc="0">
              <a:solidFill>
                <a:srgbClr val="FFC000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PHASE-2: Apply Calibration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A_cal = scale × (A_raw − offset)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Expected: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Vertical axis → ±1 g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Horizontal axis → ≈ 0 g</a:t>
            </a:r>
            <a:endParaRPr sz="2800"/>
          </a:p>
          <a:p>
            <a:pPr>
              <a:defRPr/>
            </a:pPr>
            <a:endParaRPr sz="2800" b="0" i="0" u="none" strike="noStrike" cap="none" spc="0">
              <a:solidFill>
                <a:schemeClr val="bg1"/>
              </a:solidFill>
              <a:latin typeface="Aptos"/>
              <a:cs typeface="Aptos"/>
            </a:endParaRPr>
          </a:p>
        </p:txBody>
      </p:sp>
      <p:pic>
        <p:nvPicPr>
          <p:cNvPr id="692334425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2018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-51142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MPU6050 Accelerometer Calibration</a:t>
            </a:r>
            <a:endParaRPr/>
          </a:p>
        </p:txBody>
      </p:sp>
      <p:sp>
        <p:nvSpPr>
          <p:cNvPr id="137996735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17145" y="890040"/>
            <a:ext cx="11527407" cy="586647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PHASE-1 Output (What Students Record)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Students must note: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xMax, xMin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yMax, yMin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zMax, zMin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These values represent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real sensor behavior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, not ideal physics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Offset (Bias Correction)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r>
              <a:rPr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	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Scale (Gain Correction)</a:t>
            </a:r>
            <a:endParaRPr sz="2800" b="0" i="0" u="none" strike="noStrike" cap="none" spc="0">
              <a:solidFill>
                <a:schemeClr val="bg1"/>
              </a:solidFill>
              <a:latin typeface="Aptos"/>
              <a:cs typeface="Aptos"/>
            </a:endParaRPr>
          </a:p>
        </p:txBody>
      </p:sp>
      <p:pic>
        <p:nvPicPr>
          <p:cNvPr id="1024338132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  <p:pic>
        <p:nvPicPr>
          <p:cNvPr id="57547797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07663" y="3997377"/>
            <a:ext cx="2647949" cy="640204"/>
          </a:xfrm>
          <a:prstGeom prst="rect">
            <a:avLst/>
          </a:prstGeom>
        </p:spPr>
      </p:pic>
      <p:pic>
        <p:nvPicPr>
          <p:cNvPr id="2087708091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2607663" y="5106024"/>
            <a:ext cx="2593647" cy="733893"/>
          </a:xfrm>
          <a:prstGeom prst="rect">
            <a:avLst/>
          </a:prstGeom>
        </p:spPr>
      </p:pic>
      <p:sp>
        <p:nvSpPr>
          <p:cNvPr id="1453926853" name=""/>
          <p:cNvSpPr/>
          <p:nvPr/>
        </p:nvSpPr>
        <p:spPr bwMode="auto">
          <a:xfrm flipH="0" flipV="0">
            <a:off x="488811" y="6257518"/>
            <a:ext cx="8616907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These formulas convert raw data into physical values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84359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-51142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MPU6050 Accelerometer Calibration</a:t>
            </a:r>
            <a:endParaRPr/>
          </a:p>
        </p:txBody>
      </p:sp>
      <p:sp>
        <p:nvSpPr>
          <p:cNvPr id="133851210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17145" y="890040"/>
            <a:ext cx="11527407" cy="586647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PHASE-2 Objective (Apply Calibration)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Goal of Phase-2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Correct raw accelerometer data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Validate ±1g physics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Prepare data for roll/pitch computation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No rotation needed in this phase</a:t>
            </a:r>
            <a:endParaRPr sz="280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PHASE-2 Algorithm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Read raw accelerometer data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Subtract offset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Multiply by scale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Output calibrated values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Compare with ±1g reference</a:t>
            </a:r>
            <a:endParaRPr/>
          </a:p>
        </p:txBody>
      </p:sp>
      <p:pic>
        <p:nvPicPr>
          <p:cNvPr id="1433262692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83443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-51142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MPU6050 Accelerometer Calibration</a:t>
            </a:r>
            <a:endParaRPr/>
          </a:p>
        </p:txBody>
      </p:sp>
      <p:sp>
        <p:nvSpPr>
          <p:cNvPr id="16952188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17145" y="890040"/>
            <a:ext cx="11527407" cy="586647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PHASE-2 Calibration Formula</a:t>
            </a:r>
            <a:endParaRPr/>
          </a:p>
        </p:txBody>
      </p:sp>
      <p:pic>
        <p:nvPicPr>
          <p:cNvPr id="1510957740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  <p:pic>
        <p:nvPicPr>
          <p:cNvPr id="96214234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2513975" y="1358483"/>
            <a:ext cx="3686175" cy="685800"/>
          </a:xfrm>
          <a:prstGeom prst="rect">
            <a:avLst/>
          </a:prstGeom>
        </p:spPr>
      </p:pic>
      <p:sp>
        <p:nvSpPr>
          <p:cNvPr id="410565380" name=""/>
          <p:cNvSpPr/>
          <p:nvPr/>
        </p:nvSpPr>
        <p:spPr bwMode="auto">
          <a:xfrm flipH="0" flipV="0">
            <a:off x="307570" y="2239920"/>
            <a:ext cx="5488541" cy="11890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Expected behavior:</a:t>
            </a:r>
            <a:endParaRPr sz="2400">
              <a:solidFill>
                <a:schemeClr val="bg1"/>
              </a:solidFill>
            </a:endParaRPr>
          </a:p>
          <a:p>
            <a:pPr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Axis vertical → ±1 g</a:t>
            </a:r>
            <a:endParaRPr sz="2400">
              <a:solidFill>
                <a:schemeClr val="bg1"/>
              </a:solidFill>
            </a:endParaRPr>
          </a:p>
          <a:p>
            <a:pPr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Axis horizontal → ≈ 0 g</a:t>
            </a:r>
            <a:endParaRPr/>
          </a:p>
        </p:txBody>
      </p:sp>
      <p:sp>
        <p:nvSpPr>
          <p:cNvPr id="198520753" name=""/>
          <p:cNvSpPr/>
          <p:nvPr/>
        </p:nvSpPr>
        <p:spPr bwMode="auto">
          <a:xfrm flipH="0" flipV="0">
            <a:off x="360195" y="3429000"/>
            <a:ext cx="8436468" cy="350555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Validation Using Serial Plotter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Program outputs: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794073" lvl="1" indent="-394023">
              <a:buFont typeface="Arial"/>
              <a:buChar char="•"/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Ax, Ay, Az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794073" lvl="1" indent="-394023">
              <a:buFont typeface="Arial"/>
              <a:buChar char="•"/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UL = +1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794073" lvl="1" indent="-394023">
              <a:buFont typeface="Arial"/>
              <a:buChar char="•"/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LL = −1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Correct calibration shows: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794073" lvl="1" indent="-394023">
              <a:buFont typeface="Arial"/>
              <a:buChar char="•"/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Signals centered between +1 and −1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794073" lvl="1" indent="-394023">
              <a:buFont typeface="Arial"/>
              <a:buChar char="•"/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Minimal offset drift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104036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-51142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MPU6050 Accelerometer Calibration</a:t>
            </a:r>
            <a:endParaRPr/>
          </a:p>
        </p:txBody>
      </p:sp>
      <p:sp>
        <p:nvSpPr>
          <p:cNvPr id="15184911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17145" y="890040"/>
            <a:ext cx="11527407" cy="586647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Complete Program Flowchart</a:t>
            </a:r>
            <a:endParaRPr/>
          </a:p>
        </p:txBody>
      </p:sp>
      <p:pic>
        <p:nvPicPr>
          <p:cNvPr id="609843793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  <p:pic>
        <p:nvPicPr>
          <p:cNvPr id="150932432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510087" y="1403928"/>
            <a:ext cx="3171825" cy="48386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1338447" name="Title 1"/>
          <p:cNvSpPr>
            <a:spLocks noGrp="1"/>
          </p:cNvSpPr>
          <p:nvPr>
            <p:ph type="title"/>
          </p:nvPr>
        </p:nvSpPr>
        <p:spPr bwMode="auto">
          <a:xfrm>
            <a:off x="197113" y="156098"/>
            <a:ext cx="10515600" cy="1325559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MPU6050 Accelerometer Calibration</a:t>
            </a:r>
            <a:endParaRPr/>
          </a:p>
        </p:txBody>
      </p:sp>
      <p:sp>
        <p:nvSpPr>
          <p:cNvPr id="108767905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97113" y="1530681"/>
            <a:ext cx="11196689" cy="598271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Critical Programming Setup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MANDATORY Switch Settings Before Uploading Code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Before connecting USB and uploading program: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1" i="1" u="none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“Motor Driver ON/OFF”  Switch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3">
              <a:defRPr/>
            </a:pPr>
            <a:r>
              <a:rPr sz="2800" b="0" i="0" u="none">
                <a:solidFill>
                  <a:schemeClr val="accent4">
                    <a:lumMod val="75000"/>
                  </a:schemeClr>
                </a:solidFill>
                <a:latin typeface="Aptos Display"/>
                <a:ea typeface="Aptos Display"/>
                <a:cs typeface="Aptos Display"/>
              </a:rPr>
              <a:t>⚠️ MUST BE SET TO: OFF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Why?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3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Prevents motors from running during code upload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3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Avoids car moving unexpectedly on desk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3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Protects USB connection from power surges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</p:txBody>
      </p:sp>
      <p:pic>
        <p:nvPicPr>
          <p:cNvPr id="1780991630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099"/>
            <a:ext cx="2037717" cy="549226"/>
          </a:xfrm>
          <a:prstGeom prst="rect">
            <a:avLst/>
          </a:prstGeom>
        </p:spPr>
      </p:pic>
      <p:sp>
        <p:nvSpPr>
          <p:cNvPr id="377687655" name=""/>
          <p:cNvSpPr txBox="1"/>
          <p:nvPr/>
        </p:nvSpPr>
        <p:spPr bwMode="auto">
          <a:xfrm flipH="0" flipV="0">
            <a:off x="6004378" y="3246120"/>
            <a:ext cx="183240" cy="36575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  <p:pic>
        <p:nvPicPr>
          <p:cNvPr id="9835037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9063013" y="3854012"/>
            <a:ext cx="2545290" cy="28001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114665" name="Title 1"/>
          <p:cNvSpPr>
            <a:spLocks noGrp="1"/>
          </p:cNvSpPr>
          <p:nvPr>
            <p:ph type="title"/>
          </p:nvPr>
        </p:nvSpPr>
        <p:spPr bwMode="auto">
          <a:xfrm>
            <a:off x="194067" y="-115344"/>
            <a:ext cx="10515600" cy="1325559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MPU6050 Accelerometer Calibration</a:t>
            </a:r>
            <a:endParaRPr/>
          </a:p>
        </p:txBody>
      </p:sp>
      <p:sp>
        <p:nvSpPr>
          <p:cNvPr id="195474331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94067" y="962125"/>
            <a:ext cx="11620617" cy="623079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During Programming (Code Upload):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1: Connect USB cable to computer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2: Set Switch “</a:t>
            </a:r>
            <a:r>
              <a:rPr lang="en-US" sz="2400" b="1" i="1" u="none" strike="noStrike" cap="none" spc="0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Motor Driver ON/OFF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→ OFF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3: Set Switch “</a:t>
            </a:r>
            <a:r>
              <a:rPr lang="en-US" sz="2400" b="1" i="0" u="none" strike="noStrike" cap="none" spc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rPr>
              <a:t>Battery ON/OFF 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→ OFF -&gt;for batter power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4: Upload your the respective program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5: Wait for "Upload Complete" message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6: Disconnect USB cable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Before Testing (Running the Robot):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1: Place robot on the ground. No obstacle as this test for basic movements 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2: Set Switch 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“</a:t>
            </a:r>
            <a:r>
              <a:rPr lang="en-US" sz="2400" b="1" i="1" u="none" strike="noStrike" cap="none" spc="0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Motor Driver ON/OFF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-&gt;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ON (  motor driver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ON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)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3: Set Switch “</a:t>
            </a:r>
            <a:r>
              <a:rPr lang="en-US" sz="2800" b="1" i="0" u="none" strike="noStrike" cap="none" spc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rPr>
              <a:t>Battery ON/OFF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→ ON -&gt; for batter power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4: Monitor the Robot car-3 Movements &amp; OLED , Monitior the functionality according to the program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</p:txBody>
      </p:sp>
      <p:pic>
        <p:nvPicPr>
          <p:cNvPr id="1930279420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099"/>
            <a:ext cx="2037717" cy="549226"/>
          </a:xfrm>
          <a:prstGeom prst="rect">
            <a:avLst/>
          </a:prstGeom>
        </p:spPr>
      </p:pic>
      <p:sp>
        <p:nvSpPr>
          <p:cNvPr id="1971758908" name=""/>
          <p:cNvSpPr txBox="1"/>
          <p:nvPr/>
        </p:nvSpPr>
        <p:spPr bwMode="auto">
          <a:xfrm flipH="0" flipV="0">
            <a:off x="6004378" y="3246120"/>
            <a:ext cx="183240" cy="36575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  <p:sp>
        <p:nvSpPr>
          <p:cNvPr id="1568725555" name=""/>
          <p:cNvSpPr txBox="1"/>
          <p:nvPr/>
        </p:nvSpPr>
        <p:spPr bwMode="auto">
          <a:xfrm flipH="0" flipV="0">
            <a:off x="703450" y="6441890"/>
            <a:ext cx="2862434" cy="365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Lesson Code – GitHub URL:</a:t>
            </a:r>
            <a:endParaRPr/>
          </a:p>
        </p:txBody>
      </p:sp>
      <p:sp>
        <p:nvSpPr>
          <p:cNvPr id="950891849" name=""/>
          <p:cNvSpPr txBox="1"/>
          <p:nvPr/>
        </p:nvSpPr>
        <p:spPr bwMode="auto">
          <a:xfrm flipH="0" flipV="0">
            <a:off x="4399173" y="5892890"/>
            <a:ext cx="7204906" cy="9147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>
                <a:solidFill>
                  <a:schemeClr val="bg1"/>
                </a:solidFill>
              </a:rPr>
              <a:t>https://github.com/info-zas/zas-robotics-car-3-encoders-imu-gps/tree/main/01_FoundationProjects/09_Car-3_MPU6050_Accelerometer_Caliberation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869508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365124"/>
            <a:ext cx="10515600" cy="2536884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Q&amp;A</a:t>
            </a:r>
            <a:endParaRPr/>
          </a:p>
        </p:txBody>
      </p:sp>
      <p:sp>
        <p:nvSpPr>
          <p:cNvPr id="124244071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Invite Questions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: Encourage the audience to ask questions for further clarification or discussion.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endParaRPr lang="en-GB">
              <a:solidFill>
                <a:schemeClr val="bg1"/>
              </a:solidFill>
            </a:endParaRPr>
          </a:p>
        </p:txBody>
      </p:sp>
      <p:pic>
        <p:nvPicPr>
          <p:cNvPr id="86076128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4" y="156102"/>
            <a:ext cx="2037720" cy="5492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1_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1_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ONLYOFFICE/8.3.3.21</Application>
  <PresentationFormat>On-screen Show (4:3)</PresentationFormat>
  <Paragraphs>0</Paragraphs>
  <Slides>17</Slides>
  <Notes>17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/>
  <cp:revision>19</cp:revision>
  <dcterms:created xsi:type="dcterms:W3CDTF">2025-11-29T15:09:33Z</dcterms:created>
  <dcterms:modified xsi:type="dcterms:W3CDTF">2026-01-17T17:01:15Z</dcterms:modified>
</cp:coreProperties>
</file>