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7.xml" ContentType="application/vnd.openxmlformats-officedocument.presentationml.notesSlid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 /><Relationship Id="rId23" Type="http://schemas.openxmlformats.org/officeDocument/2006/relationships/tableStyles" Target="tableStyles.xml" /><Relationship Id="rId2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129143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18446354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3865430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95954694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474118672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69140345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08760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6825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77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75963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45857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0575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A4FDE1-3F0C-4337-9D7C-1B70B7216FD1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1582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263581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54533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FB64D1-0EC3-AFBF-992C-812C2048C25B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246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73900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17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C897D6A-899F-BF6A-F8B1-9A10CAC698B0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9067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21725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075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7A02AE-AECF-9F67-4310-6F8F216D46F5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58539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11830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6801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073A3B-6766-BAB4-FAD5-AE168DD828E9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7254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39957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30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C42634-8F99-6BD1-F982-8245EB90940C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6258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20552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337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3E1090-5A7D-926F-287F-B15030D7C4F4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88336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071465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06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5B5B2D-941D-0498-4B66-11E91D45D69B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6783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246463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190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8196B-8AC0-7957-09EF-95DBCBB49F3D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231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60673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3401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307C50-6F31-3FF4-72EF-35743BFD5DE8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21273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83047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144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E2C283-E7A4-6247-0C5A-0989A6D2B1D4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6374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0434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4478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A0412-DED6-26DF-B5C3-C47D1FD5A03B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9591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53572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923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F9D1F4B-E549-A3CA-D4D5-4FC26A93690C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8145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349641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2828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96AE28-1750-FB0A-13D1-D80273FFDC97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981467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5072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1881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401278-5463-3FBB-39EC-EA3E47386B1E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73362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039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950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27192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6830047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228344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5391583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472309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4526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2543706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805254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9983644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0468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930694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5806150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9174925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15325210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75863188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6442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2840973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8989907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61629478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67050877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135998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2767663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1255900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12198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6744700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29995151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07959023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4178340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78756059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46836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30449033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4649858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585441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632996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6669639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3334394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35737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30995123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01004343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6748652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00127565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1054746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2522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0655105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202821246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29416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6011149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9251656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962318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40915908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653336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25340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2094559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15980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041195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1211157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25208680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597042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8866462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346975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173044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507528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24469706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7467099" name="Title 1"/>
          <p:cNvSpPr>
            <a:spLocks noGrp="1"/>
          </p:cNvSpPr>
          <p:nvPr>
            <p:ph type="ctrTitle"/>
          </p:nvPr>
        </p:nvSpPr>
        <p:spPr bwMode="auto">
          <a:xfrm>
            <a:off x="0" y="934985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578791492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8" y="3322584"/>
            <a:ext cx="9144000" cy="293893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Robot Car-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3</a:t>
            </a:r>
            <a:r>
              <a:rPr lang="en-GB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 (</a:t>
            </a:r>
            <a:r>
              <a:rPr lang="en-US" sz="2800">
                <a:solidFill>
                  <a:schemeClr val="accent5">
                    <a:lumMod val="75000"/>
                  </a:schemeClr>
                </a:solidFill>
                <a:latin typeface="Poppins"/>
                <a:ea typeface="Poppins"/>
                <a:cs typeface="Poppins"/>
              </a:rPr>
              <a:t>Advanced Autonomy)</a:t>
            </a: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sz="4800" b="0" i="1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b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Course Context: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Robotics / Embedded Systems / Sensors &amp; Actuators</a:t>
            </a: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90612048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153745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7" y="42546"/>
            <a:ext cx="10515600" cy="1132499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200958394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6" y="1175044"/>
            <a:ext cx="11527408" cy="558147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 This Experiment Is Important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Modern robots rely on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IMU sensors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for: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Orientation (roll &amp; pitch)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Balance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Navigation	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Sensor fusion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457200" lvl="1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Raw accelerometer data is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not accurate</a:t>
            </a:r>
            <a:b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</a:b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✔ Calibration is mandatory before using IMU data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experiment converts raw sensor data into physically correct data</a:t>
            </a:r>
            <a:endParaRPr/>
          </a:p>
        </p:txBody>
      </p:sp>
      <p:pic>
        <p:nvPicPr>
          <p:cNvPr id="96992164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07404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195308614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6" y="1246259"/>
            <a:ext cx="11749955" cy="552806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Car-3</a:t>
            </a:r>
            <a:r>
              <a:rPr sz="28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 – MPU6050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914400" lvl="2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39404401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92180880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09173" y="1651295"/>
            <a:ext cx="10223572" cy="494053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46941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119697024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5" y="1175043"/>
            <a:ext cx="11527407" cy="558147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What Problem Are We Solving?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Real Sensor Issues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Manufacturing bias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Scale error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Axis misalignment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Consequences if ignored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Wrong tilt angles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Unstable control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Incorrect fusion with gyroscope</a:t>
            </a:r>
            <a:endParaRPr sz="24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457200" lvl="1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Calibration corrects bias and scale errors</a:t>
            </a:r>
            <a:endParaRPr/>
          </a:p>
        </p:txBody>
      </p:sp>
      <p:pic>
        <p:nvPicPr>
          <p:cNvPr id="133067625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48880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42545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1996313981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5" y="1175043"/>
            <a:ext cx="11527407" cy="558147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Learning Outcomes</a:t>
            </a: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endParaRPr sz="2800" b="1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After this lab, students will be able to: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Explain what an accelerometer measures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 gravity as a calibration reference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Perform 6-pose calibration correctly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Compute offset and scale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Implement calibration in embedded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Validate sensor correctness using plots</a:t>
            </a:r>
            <a:endParaRPr/>
          </a:p>
        </p:txBody>
      </p:sp>
      <p:pic>
        <p:nvPicPr>
          <p:cNvPr id="154375762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54549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-51142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50918995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5" y="890040"/>
            <a:ext cx="11527407" cy="586647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An </a:t>
            </a:r>
            <a:r>
              <a:rPr lang="en-US" sz="2800" b="0" i="0" u="none" strike="noStrike" cap="none" spc="0">
                <a:solidFill>
                  <a:srgbClr val="FFC000"/>
                </a:solidFill>
                <a:latin typeface="Aptos"/>
                <a:ea typeface="Aptos"/>
                <a:cs typeface="Aptos"/>
              </a:rPr>
              <a:t>accelerometer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 measures specific force (force per unit mass).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When the robot is stationary, the only force acting on it is gravity.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Gravity magnitude ≈ 1 g (9.81 m/s²), which is constant and always present.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IMPORTANT: </a:t>
            </a:r>
            <a:endParaRPr lang="en-US" sz="2800" b="0" i="0" u="none" strike="noStrike" cap="none" spc="0">
              <a:solidFill>
                <a:schemeClr val="bg1"/>
              </a:solidFill>
              <a:latin typeface="Aptos"/>
              <a:ea typeface="Aptos"/>
              <a:cs typeface="Aptos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The accelerometer does NOT distinguish between motion force and gravity — it only senses total force.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Because gravity always points downward, it provides a natural reference direction.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Using gravity, an accelerometer can directly estimate: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 marL="0" indent="0"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  	 – Roll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 marL="0" indent="0"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	 – Pitch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 marL="0" indent="0"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Yaw cannot be determined because gravity has no left/right direction.</a:t>
            </a:r>
            <a:endParaRPr/>
          </a:p>
        </p:txBody>
      </p:sp>
      <p:pic>
        <p:nvPicPr>
          <p:cNvPr id="52282444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577641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-51142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67337813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5" y="890040"/>
            <a:ext cx="11527407" cy="586647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Understanding +1g and −1g (Key Concept)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+1 g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→ gravity acts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along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the sensor axis direction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−1 g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→ gravity acts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opposite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to the sensor axis direction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0 g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→ axis is perpendicular to gravity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📌 Sign depends on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sensor axis direction</a:t>
            </a:r>
            <a:endParaRPr/>
          </a:p>
        </p:txBody>
      </p:sp>
      <p:pic>
        <p:nvPicPr>
          <p:cNvPr id="183624389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sp>
        <p:nvSpPr>
          <p:cNvPr id="1975346884" name=""/>
          <p:cNvSpPr/>
          <p:nvPr/>
        </p:nvSpPr>
        <p:spPr bwMode="auto">
          <a:xfrm flipH="0" flipV="0">
            <a:off x="506066" y="3174595"/>
            <a:ext cx="5167287" cy="3581920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400" b="1" i="0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Why 6-Pose Calibration?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Each accelerometer axis must experience: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+1 g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−1 g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There are 3 axes → </a:t>
            </a:r>
            <a:r>
              <a:rPr sz="24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3 × 2 = 6 poses</a:t>
            </a: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endParaRPr sz="24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📌 This allows accurate estimation of: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Offset (bias)</a:t>
            </a:r>
            <a:endParaRPr/>
          </a:p>
          <a:p>
            <a:pPr>
              <a:defRPr/>
            </a:pPr>
            <a:r>
              <a:rPr sz="1200" b="0" i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Scale (gain)</a:t>
            </a:r>
            <a:endParaRPr/>
          </a:p>
        </p:txBody>
      </p:sp>
      <p:pic>
        <p:nvPicPr>
          <p:cNvPr id="43435798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6490373" y="2342847"/>
            <a:ext cx="5296947" cy="37722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755346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-51142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26346421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5" y="890040"/>
            <a:ext cx="11527407" cy="586647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Two-Phase Calibration Strategy (Very Important)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This program runs in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two clear phases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PHASE-1: Data Collection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Rotate robot into 6 poses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Record min/max values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No calibration applied yet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PHASE-2: Calibration Application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Paste measured values into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Apply offset and scale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Verify ±1g behavior</a:t>
            </a:r>
            <a:endParaRPr sz="24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457200" lvl="1" indent="0">
              <a:buFont typeface="Arial"/>
              <a:buNone/>
              <a:defRPr/>
            </a:pP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Only one line changes in code</a:t>
            </a:r>
            <a:endParaRPr/>
          </a:p>
        </p:txBody>
      </p:sp>
      <p:pic>
        <p:nvPicPr>
          <p:cNvPr id="211968720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70362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-51142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5243907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5" y="890040"/>
            <a:ext cx="11527407" cy="586647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rgbClr val="FFC000"/>
                </a:solidFill>
                <a:latin typeface="Aptos"/>
                <a:ea typeface="Aptos"/>
                <a:cs typeface="Aptos"/>
              </a:rPr>
              <a:t>Program Control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COLLECT_MIN_MAX = true → Phase-1: Collect Min/Max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COLLECT_MIN_MAX = false → Phase-2: Apply Calibration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 marL="0" indent="0"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Note: Avoids comment/uncomment mistakes; student-safe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PHASE-1: Data Collection (6-Pose Method)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Robot powered ON, completely still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Carefully rotate sensor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+X/−X → xMax/xMin | +Y/−Y → yMax/yMin | +Z/−Z → zMax/zMin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Hold each pose 2–3 seconds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</p:txBody>
      </p:sp>
      <p:pic>
        <p:nvPicPr>
          <p:cNvPr id="62602300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77159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-51142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28186578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5" y="890040"/>
            <a:ext cx="11527407" cy="586647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Program Control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PHASE-1 Algorithm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Init MPU6050 → Read accel → Convert to g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Continuously update min/max → Display live values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Calibration Mathematics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Offset = (max + min) / 2</a:t>
            </a:r>
            <a:endParaRPr sz="2800" b="0" i="0" u="none" strike="noStrike" cap="none" spc="0">
              <a:solidFill>
                <a:srgbClr val="FFC000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Scale = 2 / (max − min)</a:t>
            </a:r>
            <a:endParaRPr sz="2800" b="0" i="0" u="none" strike="noStrike" cap="none" spc="0">
              <a:solidFill>
                <a:srgbClr val="FFC000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PHASE-2: Apply Calibration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A_cal = scale × (A_raw − offset)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Expected: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Vertical axis → ±1 g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Horizontal axis → ≈ 0 g</a:t>
            </a:r>
            <a:endParaRPr sz="2800"/>
          </a:p>
          <a:p>
            <a:pPr>
              <a:defRPr/>
            </a:pP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</p:txBody>
      </p:sp>
      <p:pic>
        <p:nvPicPr>
          <p:cNvPr id="121746695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37255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-51142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65536176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5" y="890040"/>
            <a:ext cx="11527407" cy="586647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PHASE-1 Output (What Students Record)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Students must note: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xMax, xMin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yMax, yMin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zMax, zMin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These values represent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real sensor behavior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, not ideal physics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Offset (Bias Correction)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marL="0" indent="0">
              <a:buFont typeface="Arial"/>
              <a:buNone/>
              <a:defRPr/>
            </a:pPr>
            <a:r>
              <a:rPr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	</a:t>
            </a:r>
            <a:endParaRPr sz="2800" b="0" i="0" u="none" strike="noStrike" cap="none" spc="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Scale (Gain Correction)</a:t>
            </a:r>
            <a:endParaRPr sz="2800" b="0" i="0" u="none" strike="noStrike" cap="none" spc="0">
              <a:solidFill>
                <a:schemeClr val="bg1"/>
              </a:solidFill>
              <a:latin typeface="Aptos"/>
              <a:cs typeface="Aptos"/>
            </a:endParaRPr>
          </a:p>
        </p:txBody>
      </p:sp>
      <p:pic>
        <p:nvPicPr>
          <p:cNvPr id="34881608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24073850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2607663" y="3997377"/>
            <a:ext cx="2647949" cy="640204"/>
          </a:xfrm>
          <a:prstGeom prst="rect">
            <a:avLst/>
          </a:prstGeom>
        </p:spPr>
      </p:pic>
      <p:pic>
        <p:nvPicPr>
          <p:cNvPr id="43955345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2607663" y="5106024"/>
            <a:ext cx="2593647" cy="733893"/>
          </a:xfrm>
          <a:prstGeom prst="rect">
            <a:avLst/>
          </a:prstGeom>
        </p:spPr>
      </p:pic>
      <p:sp>
        <p:nvSpPr>
          <p:cNvPr id="2047975661" name=""/>
          <p:cNvSpPr/>
          <p:nvPr/>
        </p:nvSpPr>
        <p:spPr bwMode="auto">
          <a:xfrm flipH="0" flipV="0">
            <a:off x="488811" y="6257518"/>
            <a:ext cx="8616907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These formulas convert raw data into physical values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302443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-51142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210092794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5" y="890040"/>
            <a:ext cx="11527407" cy="586647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PHASE-2 Objective (Apply Calibration)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Goal of Phase-2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Correct raw accelerometer data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Validate ±1g physics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Prepare data for roll/pitch computation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No rotation needed in this phase</a:t>
            </a:r>
            <a:endParaRPr sz="2800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PHASE-2 Algorithm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Read raw accelerometer data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Subtract offset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Multiply by scale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Output calibrated values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Compare with ±1g reference</a:t>
            </a:r>
            <a:endParaRPr/>
          </a:p>
        </p:txBody>
      </p:sp>
      <p:pic>
        <p:nvPicPr>
          <p:cNvPr id="90799739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72688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-51142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122656709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5" y="890040"/>
            <a:ext cx="11527407" cy="586647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PHASE-2 Calibration Formula</a:t>
            </a:r>
            <a:endParaRPr/>
          </a:p>
        </p:txBody>
      </p:sp>
      <p:pic>
        <p:nvPicPr>
          <p:cNvPr id="177722304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86050120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2513975" y="1358483"/>
            <a:ext cx="3686175" cy="685800"/>
          </a:xfrm>
          <a:prstGeom prst="rect">
            <a:avLst/>
          </a:prstGeom>
        </p:spPr>
      </p:pic>
      <p:sp>
        <p:nvSpPr>
          <p:cNvPr id="863813375" name=""/>
          <p:cNvSpPr/>
          <p:nvPr/>
        </p:nvSpPr>
        <p:spPr bwMode="auto">
          <a:xfrm flipH="0" flipV="0">
            <a:off x="307570" y="2239920"/>
            <a:ext cx="5488541" cy="11890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Expected behavior:</a:t>
            </a:r>
            <a:endParaRPr sz="2400">
              <a:solidFill>
                <a:schemeClr val="bg1"/>
              </a:solidFill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Axis vertical → ±1 g</a:t>
            </a:r>
            <a:endParaRPr sz="2400">
              <a:solidFill>
                <a:schemeClr val="bg1"/>
              </a:solidFill>
            </a:endParaRPr>
          </a:p>
          <a:p>
            <a:pPr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Axis horizontal → ≈ 0 g</a:t>
            </a:r>
            <a:endParaRPr/>
          </a:p>
        </p:txBody>
      </p:sp>
      <p:sp>
        <p:nvSpPr>
          <p:cNvPr id="152992593" name=""/>
          <p:cNvSpPr/>
          <p:nvPr/>
        </p:nvSpPr>
        <p:spPr bwMode="auto">
          <a:xfrm flipH="0" flipV="0">
            <a:off x="360195" y="3429000"/>
            <a:ext cx="8436468" cy="350555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Validation Using Serial Plotter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Program outputs: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794073" lvl="1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Ax, Ay, Az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794073" lvl="1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UL = +1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794073" lvl="1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LL = −1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Correct calibration shows: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794073" lvl="1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Signals centered between +1 and −1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794073" lvl="1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Minimal offset drift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595618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17146" y="-51142"/>
            <a:ext cx="10515600" cy="113249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16177970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17145" y="890040"/>
            <a:ext cx="11527407" cy="586647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Complete Program Flowchart</a:t>
            </a:r>
            <a:endParaRPr/>
          </a:p>
        </p:txBody>
      </p:sp>
      <p:pic>
        <p:nvPicPr>
          <p:cNvPr id="97421786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114755122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510087" y="1403928"/>
            <a:ext cx="3171825" cy="48386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3374930" name="Title 1"/>
          <p:cNvSpPr>
            <a:spLocks noGrp="1"/>
          </p:cNvSpPr>
          <p:nvPr>
            <p:ph type="title"/>
          </p:nvPr>
        </p:nvSpPr>
        <p:spPr bwMode="auto">
          <a:xfrm>
            <a:off x="197113" y="156098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179095407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7113" y="1530681"/>
            <a:ext cx="11196689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Critical Programming Setup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MANDATORY Switch Settings Before Uploading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connecting USB and uploading program: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“Motor Driver ON/OFF”  Switch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OFF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motors from running during code upload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Avoids car moving unexpectedly on desk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3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Protects USB connection from power surges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</p:txBody>
      </p:sp>
      <p:pic>
        <p:nvPicPr>
          <p:cNvPr id="182735389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583273616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1961616" name="Title 1"/>
          <p:cNvSpPr>
            <a:spLocks noGrp="1"/>
          </p:cNvSpPr>
          <p:nvPr>
            <p:ph type="title"/>
          </p:nvPr>
        </p:nvSpPr>
        <p:spPr bwMode="auto">
          <a:xfrm>
            <a:off x="295033" y="4254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MPU6050 Accelerometer Calibration</a:t>
            </a:r>
            <a:endParaRPr/>
          </a:p>
        </p:txBody>
      </p:sp>
      <p:sp>
        <p:nvSpPr>
          <p:cNvPr id="8184216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94068" y="1210214"/>
            <a:ext cx="11620618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4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Upload your the respective program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Wait for "Upload Complete" message</a:t>
            </a:r>
            <a:endParaRPr sz="28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Disconnect USB cable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Place robot on the ground. No obstacle as this test for basic movements 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400" b="1" i="1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-&gt;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ON (  motor driver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ON</a:t>
            </a: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8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Battery ON/OFF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ON -&gt; for batter power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Monitor the Robot car-3 Movements &amp; OLED , Monitior the functionality according to the program</a:t>
            </a:r>
            <a:endParaRPr sz="24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11208229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755828834" name=""/>
          <p:cNvSpPr txBox="1"/>
          <p:nvPr/>
        </p:nvSpPr>
        <p:spPr bwMode="auto">
          <a:xfrm flipH="0" flipV="0"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698127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10515600" cy="2536884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Q&amp;A</a:t>
            </a:r>
            <a:endParaRPr/>
          </a:p>
        </p:txBody>
      </p:sp>
      <p:sp>
        <p:nvSpPr>
          <p:cNvPr id="38522880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  <a:p>
            <a:pPr>
              <a:defRPr/>
            </a:pP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Invite Questions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Encourage the audience to ask questions for further clarification or discussion.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lang="en-GB">
              <a:solidFill>
                <a:schemeClr val="bg1"/>
              </a:solidFill>
            </a:endParaRPr>
          </a:p>
        </p:txBody>
      </p:sp>
      <p:pic>
        <p:nvPicPr>
          <p:cNvPr id="206729705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17</Slides>
  <Notes>17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18</cp:revision>
  <dcterms:created xsi:type="dcterms:W3CDTF">2025-11-29T15:09:33Z</dcterms:created>
  <dcterms:modified xsi:type="dcterms:W3CDTF">2026-01-17T08:36:16Z</dcterms:modified>
</cp:coreProperties>
</file>