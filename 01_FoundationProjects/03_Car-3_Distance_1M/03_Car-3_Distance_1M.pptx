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0" d="100"/>
          <a:sy n="70" d="100"/>
        </p:scale>
        <p:origin x="1166" y="27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038984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2045966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911140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4302309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12739646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4688008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040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705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9065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4628D2-0276-7CE8-68C8-A30FE23A6892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4454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43510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574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A4FDE1-3F0C-4337-9D7C-1B70B7216FD1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9134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3712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3140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D98CCE-FE2C-5CA1-EAE1-2C238298F207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884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3395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3998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6599F9-CF31-A872-DF27-C26CF4C98D76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78118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0701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1850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37D2D5-2B3F-048C-142C-322AF1232805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1006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9285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054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1F5F6B-DB94-F3A9-9C07-A3F9B2FE6157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169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0685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146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2697BB-424E-5718-8107-6BD576F420E8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7249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699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791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C87FC3-957F-DFCA-C092-65691E03839C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5622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830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6346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104A24-EB9B-8C27-DDD1-DABBB7DF96FB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4287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9477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6027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5740D1-DFAD-CBC9-F6E8-25AF9205847C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0173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928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63645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D05D4C-0383-E6D5-65B1-C5E12CCB90C5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692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09941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6373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7230C2-BF6E-9794-E324-EE2689B39297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197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94075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4015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B927A9-F266-6B1C-E254-78D6CA9F7A4E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8551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5865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34891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96AE28-1750-FB0A-13D1-D80273FFDC97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115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5846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4660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401278-5463-3FBB-39EC-EA3E47386B1E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0635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4831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482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932549-8DF2-14CE-32DE-B4134FF987BE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8075214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506979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30072241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394003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863084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7543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4002958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04072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18830171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112179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3115511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376119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590018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8762647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306334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0741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9062161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41939702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994957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76363752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966911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371821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577220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363489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1564113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2115248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5046212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9849570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5884982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6851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6897227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24190953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9197304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47826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3484170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0731564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60304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64533159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46882266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7486846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3448829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044896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3815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4222218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4776909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543728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81679947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93794400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9929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3762993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753698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14553742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076313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80504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0673544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4685105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3457375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693772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65538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025863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65093127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54429438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8680064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173005" name="Title 1"/>
          <p:cNvSpPr>
            <a:spLocks noGrp="1"/>
          </p:cNvSpPr>
          <p:nvPr>
            <p:ph type="ctrTitle"/>
          </p:nvPr>
        </p:nvSpPr>
        <p:spPr bwMode="auto">
          <a:xfrm>
            <a:off x="0" y="1122363"/>
            <a:ext cx="12192000" cy="2387600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ZAS Robotic Products</a:t>
            </a:r>
            <a:endParaRPr/>
          </a:p>
        </p:txBody>
      </p:sp>
      <p:sp>
        <p:nvSpPr>
          <p:cNvPr id="2059755767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3602037"/>
            <a:ext cx="9144000" cy="196162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GB" sz="3200">
                <a:solidFill>
                  <a:schemeClr val="accent4"/>
                </a:solidFill>
              </a:rPr>
              <a:t>Navigational Robotic Series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GB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Robot Car-</a:t>
            </a:r>
            <a:r>
              <a:rPr lang="en-US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3</a:t>
            </a:r>
            <a:r>
              <a:rPr lang="en-GB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 (</a:t>
            </a:r>
            <a:r>
              <a:rPr lang="en-US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Advanced Autonomy)</a:t>
            </a:r>
            <a:endParaRPr lang="en-GB" sz="3200">
              <a:solidFill>
                <a:schemeClr val="accent5"/>
              </a:solidFill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Distance Measurement &amp; Straight Motion</a:t>
            </a:r>
            <a:endParaRPr lang="en-GB" sz="3200">
              <a:solidFill>
                <a:schemeClr val="accent5"/>
              </a:solidFill>
            </a:endParaRPr>
          </a:p>
        </p:txBody>
      </p:sp>
      <p:pic>
        <p:nvPicPr>
          <p:cNvPr id="113572056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966071" y="156102"/>
            <a:ext cx="4042963" cy="1089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83692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3106" y="42547"/>
            <a:ext cx="10515600" cy="113249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Distance Measurement  &amp; Straight Motion</a:t>
            </a:r>
            <a:endParaRPr/>
          </a:p>
        </p:txBody>
      </p:sp>
      <p:sp>
        <p:nvSpPr>
          <p:cNvPr id="172150433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3105" y="1299672"/>
            <a:ext cx="11023515" cy="514528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Objective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Move the robot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exactly 1 meter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Use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 feedback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to measure distance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Maintain straight motion using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tick comparison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Introduce encoders as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position sensors</a:t>
            </a:r>
            <a:endParaRPr sz="2800" b="1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457200" lvl="1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1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This program answers only one question: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“How far has the robot moved?”</a:t>
            </a:r>
            <a:endParaRPr/>
          </a:p>
        </p:txBody>
      </p:sp>
      <p:pic>
        <p:nvPicPr>
          <p:cNvPr id="3295333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32555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3105" y="42546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Distance Measurement  &amp; Straight Motion</a:t>
            </a:r>
            <a:endParaRPr/>
          </a:p>
        </p:txBody>
      </p:sp>
      <p:sp>
        <p:nvSpPr>
          <p:cNvPr id="53338786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3105" y="1299672"/>
            <a:ext cx="11023515" cy="514528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Learning Outcomes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 tick counting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Distance calculation from encoder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Straight motion correction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Encoders as </a:t>
            </a: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position sensors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Foundation program — mandatory before advanced control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endParaRPr/>
          </a:p>
        </p:txBody>
      </p:sp>
      <p:pic>
        <p:nvPicPr>
          <p:cNvPr id="54122681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44359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3106" y="42547"/>
            <a:ext cx="10515600" cy="113249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Distance Measurement   &amp; Straight Motion</a:t>
            </a:r>
            <a:endParaRPr/>
          </a:p>
        </p:txBody>
      </p:sp>
      <p:sp>
        <p:nvSpPr>
          <p:cNvPr id="180328849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2359" y="1086027"/>
            <a:ext cx="11554626" cy="557256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 Basics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Incremental Encoder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0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Generates </a:t>
            </a:r>
            <a:r>
              <a:rPr sz="20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digital pulses (ticks)</a:t>
            </a:r>
            <a:r>
              <a:rPr sz="20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when motor shaft rotates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0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Output = </a:t>
            </a:r>
            <a:r>
              <a:rPr sz="20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ticks only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Tick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One pulse generated by the encoder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 PPR (Pulses Per Revolution)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Number of ticks per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motor shaft revolution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457200" lvl="1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</a:t>
            </a:r>
            <a:r>
              <a:rPr lang="en-US" sz="2400" b="0" i="1" u="none" strike="noStrike" cap="none" spc="0">
                <a:solidFill>
                  <a:schemeClr val="accent5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ENCODER_PPR = 11</a:t>
            </a:r>
            <a:endParaRPr lang="en-US" sz="2400" b="0" i="1" u="none" strike="noStrike" cap="none" spc="0">
              <a:solidFill>
                <a:schemeClr val="accent5">
                  <a:lumMod val="75000"/>
                </a:schemeClr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Gear Ratio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457200" lvl="1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Ratio between motor rotation and wheel rotation</a:t>
            </a:r>
            <a:endParaRPr lang="en-US" sz="2800" b="0" i="1" u="none" strike="noStrike" cap="none" spc="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457200" lvl="1" indent="0">
              <a:buFont typeface="Arial"/>
              <a:buNone/>
              <a:defRPr/>
            </a:pPr>
            <a:r>
              <a:rPr lang="en-US" sz="2400" b="0" i="1" u="none" strike="noStrike" cap="none" spc="0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	GEAR_RATIO = 35;</a:t>
            </a:r>
            <a:endParaRPr lang="en-US" sz="2400" b="0" i="1" u="none" strike="noStrike" cap="none" spc="0">
              <a:solidFill>
                <a:srgbClr val="FFC000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Meaning:</a:t>
            </a:r>
            <a:endParaRPr sz="2800">
              <a:solidFill>
                <a:schemeClr val="bg1"/>
              </a:solidFill>
            </a:endParaRPr>
          </a:p>
          <a:p>
            <a:pPr marL="457200" lvl="1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Motor rotates 35 times → Wheel rotates once</a:t>
            </a:r>
            <a:endParaRPr lang="en-US" sz="2400" b="0" i="1" u="none">
              <a:solidFill>
                <a:schemeClr val="accent5">
                  <a:lumMod val="75000"/>
                </a:schemeClr>
              </a:solidFill>
              <a:latin typeface="Aptos Display"/>
              <a:ea typeface="Aptos Display"/>
              <a:cs typeface="Aptos Display"/>
            </a:endParaRPr>
          </a:p>
        </p:txBody>
      </p:sp>
      <p:pic>
        <p:nvPicPr>
          <p:cNvPr id="160331492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  <p:pic>
        <p:nvPicPr>
          <p:cNvPr id="16837216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04084" y="3616238"/>
            <a:ext cx="4532009" cy="2752724"/>
          </a:xfrm>
          <a:prstGeom prst="rect">
            <a:avLst/>
          </a:prstGeom>
        </p:spPr>
      </p:pic>
      <p:pic>
        <p:nvPicPr>
          <p:cNvPr id="141470901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7404084" y="705326"/>
            <a:ext cx="1507597" cy="28077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49160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8245" y="-46471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Distance Measurement   &amp; Straight Motion</a:t>
            </a:r>
            <a:endParaRPr/>
          </a:p>
        </p:txBody>
      </p:sp>
      <p:sp>
        <p:nvSpPr>
          <p:cNvPr id="169073290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2359" y="1086027"/>
            <a:ext cx="11554626" cy="557256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Distance Calculation (Core Formula)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Step-1: Wheel Circumference</a:t>
            </a:r>
            <a:endParaRPr/>
          </a:p>
        </p:txBody>
      </p:sp>
      <p:pic>
        <p:nvPicPr>
          <p:cNvPr id="190759360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152676736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572454" y="1629088"/>
            <a:ext cx="1485900" cy="466724"/>
          </a:xfrm>
          <a:prstGeom prst="rect">
            <a:avLst/>
          </a:prstGeom>
        </p:spPr>
      </p:pic>
      <p:sp>
        <p:nvSpPr>
          <p:cNvPr id="1539133265" name=""/>
          <p:cNvSpPr txBox="1"/>
          <p:nvPr/>
        </p:nvSpPr>
        <p:spPr bwMode="auto">
          <a:xfrm flipH="0" flipV="0">
            <a:off x="2618060" y="2261074"/>
            <a:ext cx="665923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>
                <a:solidFill>
                  <a:schemeClr val="bg1"/>
                </a:solidFill>
              </a:rPr>
              <a:t>Program :   WHEEL_CIRC_MM = 3.1416 * WHEEL_DIAMETER_MM;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826744675" name=""/>
          <p:cNvSpPr/>
          <p:nvPr/>
        </p:nvSpPr>
        <p:spPr bwMode="auto">
          <a:xfrm flipH="0" flipV="0">
            <a:off x="513777" y="2676193"/>
            <a:ext cx="9458613" cy="7928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Step-2: Ticks per Wheel Revolution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endParaRPr/>
          </a:p>
        </p:txBody>
      </p:sp>
      <p:pic>
        <p:nvPicPr>
          <p:cNvPr id="163155279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791341" y="3183255"/>
            <a:ext cx="4933949" cy="428625"/>
          </a:xfrm>
          <a:prstGeom prst="rect">
            <a:avLst/>
          </a:prstGeom>
        </p:spPr>
      </p:pic>
      <p:sp>
        <p:nvSpPr>
          <p:cNvPr id="561478114" name=""/>
          <p:cNvSpPr txBox="1"/>
          <p:nvPr/>
        </p:nvSpPr>
        <p:spPr bwMode="auto">
          <a:xfrm flipH="0" flipV="0">
            <a:off x="2693330" y="3611880"/>
            <a:ext cx="591514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>
                <a:solidFill>
                  <a:schemeClr val="bg1"/>
                </a:solidFill>
              </a:rPr>
              <a:t>TICKS_PER_WHEEL_REV = ENCODER_PPR * GEAR_RATIO;</a:t>
            </a:r>
            <a:endParaRPr/>
          </a:p>
        </p:txBody>
      </p:sp>
      <p:sp>
        <p:nvSpPr>
          <p:cNvPr id="1633265218" name=""/>
          <p:cNvSpPr/>
          <p:nvPr/>
        </p:nvSpPr>
        <p:spPr bwMode="auto">
          <a:xfrm flipH="0" flipV="0">
            <a:off x="496141" y="4201041"/>
            <a:ext cx="4197497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Step-3: Distance per Tick</a:t>
            </a:r>
            <a:endParaRPr/>
          </a:p>
        </p:txBody>
      </p:sp>
      <p:pic>
        <p:nvPicPr>
          <p:cNvPr id="98982283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4791341" y="4201041"/>
            <a:ext cx="4933949" cy="838199"/>
          </a:xfrm>
          <a:prstGeom prst="rect">
            <a:avLst/>
          </a:prstGeom>
        </p:spPr>
      </p:pic>
      <p:sp>
        <p:nvSpPr>
          <p:cNvPr id="495876082" name=""/>
          <p:cNvSpPr txBox="1"/>
          <p:nvPr/>
        </p:nvSpPr>
        <p:spPr bwMode="auto">
          <a:xfrm flipH="0" flipV="0">
            <a:off x="2782006" y="5085174"/>
            <a:ext cx="687769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>
                <a:solidFill>
                  <a:schemeClr val="bg1"/>
                </a:solidFill>
              </a:rPr>
              <a:t>MM_PER_TICK = WHEEL_CIRC_MM / TICKS_PER_WHEEL_REV;</a:t>
            </a:r>
            <a:endParaRPr/>
          </a:p>
        </p:txBody>
      </p:sp>
      <p:sp>
        <p:nvSpPr>
          <p:cNvPr id="586771061" name=""/>
          <p:cNvSpPr/>
          <p:nvPr/>
        </p:nvSpPr>
        <p:spPr bwMode="auto">
          <a:xfrm flipH="0" flipV="0">
            <a:off x="496141" y="5504706"/>
            <a:ext cx="9357076" cy="10671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Distance  Traveled 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		       </a:t>
            </a:r>
            <a:r>
              <a:rPr lang="en-US" sz="1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distanceMM = avgTicks * MM_PER_TICK;</a:t>
            </a:r>
            <a:endParaRPr lang="en-US" sz="2800" b="0" i="0" u="none" strike="noStrike" cap="none" spc="0">
              <a:solidFill>
                <a:schemeClr val="bg1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14993975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4791341" y="5605850"/>
            <a:ext cx="4933949" cy="5905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125665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8245" y="-46471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Distance Measurement   &amp; Straight Motion</a:t>
            </a:r>
            <a:endParaRPr/>
          </a:p>
        </p:txBody>
      </p:sp>
      <p:sp>
        <p:nvSpPr>
          <p:cNvPr id="16885983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08245" y="1210653"/>
            <a:ext cx="11554626" cy="557256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Straight Motion Logic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 Straight Correction is Needed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Left and right motors never rotate exactly the same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Small mismatch causes drift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Correction Formula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correction = (lTicks - rTicks) * kStraight;</a:t>
            </a:r>
            <a:endParaRPr sz="2400" b="0" i="0" u="none" strike="noStrike" cap="none" spc="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pwmL = basePWM - correction;</a:t>
            </a:r>
            <a:endParaRPr sz="24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pwmR = basePWM + correction;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endParaRPr sz="2800" b="0" i="0" u="none" strike="noStrike" cap="none" spc="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This is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NOT PI control</a:t>
            </a:r>
            <a:b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</a:b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	This is simple proportional balancing</a:t>
            </a:r>
            <a:endParaRPr lang="en-US" sz="2400" b="0" i="0" u="none" strike="noStrike" cap="none" spc="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</p:txBody>
      </p:sp>
      <p:pic>
        <p:nvPicPr>
          <p:cNvPr id="88151393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61687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23284" y="-35461"/>
            <a:ext cx="10515600" cy="110368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Distance Measurement   &amp; Straight Motion</a:t>
            </a:r>
            <a:endParaRPr/>
          </a:p>
        </p:txBody>
      </p:sp>
      <p:sp>
        <p:nvSpPr>
          <p:cNvPr id="200995468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87850" y="961401"/>
            <a:ext cx="11643644" cy="579511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Car-3 - Assembled view and Creative Board component layout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7561430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  <p:pic>
        <p:nvPicPr>
          <p:cNvPr id="84081759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6121" y="1554661"/>
            <a:ext cx="4557756" cy="5014917"/>
          </a:xfrm>
          <a:prstGeom prst="rect">
            <a:avLst/>
          </a:prstGeom>
        </p:spPr>
      </p:pic>
      <p:sp>
        <p:nvSpPr>
          <p:cNvPr id="791120080" name=""/>
          <p:cNvSpPr/>
          <p:nvPr/>
        </p:nvSpPr>
        <p:spPr bwMode="auto">
          <a:xfrm flipH="0" flipV="0">
            <a:off x="3819812" y="3302593"/>
            <a:ext cx="2020724" cy="195841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81556718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5840537" y="1495513"/>
            <a:ext cx="5287710" cy="51274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95137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23283" y="-35460"/>
            <a:ext cx="10515600" cy="110368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Distance Measurement   &amp; Straight Motion</a:t>
            </a:r>
            <a:endParaRPr/>
          </a:p>
        </p:txBody>
      </p:sp>
      <p:sp>
        <p:nvSpPr>
          <p:cNvPr id="140805593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87849" y="961400"/>
            <a:ext cx="11643643" cy="579511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Hardware Architecture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64885060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  <p:graphicFrame>
        <p:nvGraphicFramePr>
          <p:cNvPr id="1901762262" name=""/>
          <p:cNvGraphicFramePr>
            <a:graphicFrameLocks xmlns:a="http://schemas.openxmlformats.org/drawingml/2006/main"/>
          </p:cNvGraphicFramePr>
          <p:nvPr/>
        </p:nvGraphicFramePr>
        <p:xfrm>
          <a:off x="4470369" y="961400"/>
          <a:ext cx="7219414" cy="7101296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350000"/>
                <a:gridCol w="1563593"/>
                <a:gridCol w="3223755"/>
                <a:gridCol w="1388613"/>
              </a:tblGrid>
              <a:tr h="642664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Pin Name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Function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Description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Connected To (in Our Robot)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7317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PWMA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(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PWM_L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Speed Control (A)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PWM input for Motor A speed (0-255)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Pin 6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4127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AIN1 (</a:t>
                      </a:r>
                      <a:r>
                        <a:rPr sz="1200" b="0" i="1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IN1_L)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Direction (A) Bit 1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A direction control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Pin 7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4127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AIN2 </a:t>
                      </a:r>
                      <a:r>
                        <a:rPr lang="en-US" sz="1200" b="1" i="0" u="none" strike="noStrike" cap="none" spc="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(</a:t>
                      </a:r>
                      <a:r>
                        <a:rPr lang="en-US" sz="1200" b="0" i="1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IN2_L)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Direction (A) Bit 2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A direction control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Pin 8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5370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PWMB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(PWM_R)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Speed Control (B)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PWM input for Motor B speed (0-255)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Pin 11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5370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BIN1 </a:t>
                      </a:r>
                      <a:r>
                        <a:rPr lang="en-US" sz="1200" b="1" i="0" u="none" strike="noStrike" cap="none" spc="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(</a:t>
                      </a:r>
                      <a:r>
                        <a:rPr lang="en-US" sz="1200" b="0" i="1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IN1_R)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Direction (B) Bit 1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B direction control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Pin 12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5370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BIN2</a:t>
                      </a:r>
                      <a:r>
                        <a:rPr lang="en-US" sz="1200" b="1" i="0" u="none" strike="noStrike" cap="none" spc="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(</a:t>
                      </a:r>
                      <a:r>
                        <a:rPr lang="en-US" sz="1200" b="0" i="1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IN2_R)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Direction (B) Bit 2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B direction control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Pin 10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5370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STBY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Standby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Enable/Disable driver (HIGH = enabled)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Usually tied to VCC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5370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VM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Power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7-12V for motors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External battery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266768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VCC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Logic Power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5V from Arduino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5V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4127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GND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Ground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Common ground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GND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5370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AO1/AO2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A Outputs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Connect to Motor A terminals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Left Motor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5370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BO1/BO2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B Outputs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Connect to Motor B terminals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Right Motor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</a:tbl>
          </a:graphicData>
        </a:graphic>
      </p:graphicFrame>
      <p:sp>
        <p:nvSpPr>
          <p:cNvPr id="1414357083" name=""/>
          <p:cNvSpPr txBox="1"/>
          <p:nvPr/>
        </p:nvSpPr>
        <p:spPr bwMode="auto">
          <a:xfrm flipH="0" flipV="0">
            <a:off x="364626" y="1414252"/>
            <a:ext cx="410574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</a:rPr>
              <a:t>TB6612 Pin configuration With Arduino</a:t>
            </a:r>
            <a:endParaRPr/>
          </a:p>
        </p:txBody>
      </p:sp>
      <p:pic>
        <p:nvPicPr>
          <p:cNvPr id="6796318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81611" y="1961358"/>
            <a:ext cx="2501052" cy="23916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119675" name="Title 1"/>
          <p:cNvSpPr>
            <a:spLocks noGrp="1"/>
          </p:cNvSpPr>
          <p:nvPr>
            <p:ph type="title"/>
          </p:nvPr>
        </p:nvSpPr>
        <p:spPr bwMode="auto">
          <a:xfrm>
            <a:off x="185437" y="156097"/>
            <a:ext cx="10515600" cy="132555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Distance Measurement   &amp; Straight Motion</a:t>
            </a:r>
            <a:b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</a:br>
            <a:endParaRPr/>
          </a:p>
        </p:txBody>
      </p:sp>
      <p:sp>
        <p:nvSpPr>
          <p:cNvPr id="173943375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85437" y="940991"/>
            <a:ext cx="11609028" cy="580888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How H-Bridge Controls Motor Direction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Motor Control Truth Table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endParaRPr/>
          </a:p>
        </p:txBody>
      </p:sp>
      <p:pic>
        <p:nvPicPr>
          <p:cNvPr id="145489203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098"/>
            <a:ext cx="2037717" cy="549225"/>
          </a:xfrm>
          <a:prstGeom prst="rect">
            <a:avLst/>
          </a:prstGeom>
        </p:spPr>
      </p:pic>
      <p:graphicFrame>
        <p:nvGraphicFramePr>
          <p:cNvPr id="784981686" name=""/>
          <p:cNvGraphicFramePr>
            <a:graphicFrameLocks xmlns:a="http://schemas.openxmlformats.org/drawingml/2006/main"/>
          </p:cNvGraphicFramePr>
          <p:nvPr/>
        </p:nvGraphicFramePr>
        <p:xfrm>
          <a:off x="1037233" y="2266926"/>
          <a:ext cx="3868419" cy="1411324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065529"/>
                <a:gridCol w="1080135"/>
                <a:gridCol w="1710054"/>
              </a:tblGrid>
              <a:tr h="2534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 Action</a:t>
                      </a:r>
                      <a:endParaRPr/>
                    </a:p>
                  </a:txBody>
                  <a:tcPr vert="horz"/>
                </a:tc>
              </a:tr>
              <a:tr h="2661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➡️ Forward</a:t>
                      </a:r>
                      <a:endParaRPr/>
                    </a:p>
                  </a:txBody>
                  <a:tcPr vert="horz"/>
                </a:tc>
              </a:tr>
              <a:tr h="2534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⬅️ Backward</a:t>
                      </a:r>
                      <a:endParaRPr/>
                    </a:p>
                  </a:txBody>
                  <a:tcPr vert="horz"/>
                </a:tc>
              </a:tr>
              <a:tr h="2534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🛑 Stop (Coast)</a:t>
                      </a:r>
                      <a:endParaRPr/>
                    </a:p>
                  </a:txBody>
                  <a:tcPr vert="horz"/>
                </a:tc>
              </a:tr>
              <a:tr h="2534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🔒 Brake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  <p:sp>
        <p:nvSpPr>
          <p:cNvPr id="2073879306" name=""/>
          <p:cNvSpPr/>
          <p:nvPr/>
        </p:nvSpPr>
        <p:spPr bwMode="auto">
          <a:xfrm flipH="0" flipV="0">
            <a:off x="307964" y="3792196"/>
            <a:ext cx="6701957" cy="3383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How It Works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IN1 = HIGH, IN2 = LOW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: Switches S1 &amp; S4 ON → Current flows one way → Motor spins </a:t>
            </a: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Forward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IN1 = LOW, IN2 = HIGH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: Switches S2 &amp; S3 ON → Current flows opposite way → Motor spins </a:t>
            </a: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Backward</a:t>
            </a:r>
            <a:endParaRPr sz="2400" b="1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Both LOW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: No current → Motor coasts to stop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Both HIGH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: Motor terminals shorted → Active brake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</p:txBody>
      </p:sp>
      <p:pic>
        <p:nvPicPr>
          <p:cNvPr id="20276564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2110" y="647767"/>
            <a:ext cx="4235982" cy="58829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51936" name="Title 1"/>
          <p:cNvSpPr>
            <a:spLocks noGrp="1"/>
          </p:cNvSpPr>
          <p:nvPr>
            <p:ph type="title"/>
          </p:nvPr>
        </p:nvSpPr>
        <p:spPr bwMode="auto">
          <a:xfrm>
            <a:off x="185437" y="156097"/>
            <a:ext cx="10515600" cy="132555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Distance Measurement   &amp; Straight Motion</a:t>
            </a:r>
            <a:b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</a:br>
            <a:endParaRPr/>
          </a:p>
        </p:txBody>
      </p:sp>
      <p:sp>
        <p:nvSpPr>
          <p:cNvPr id="83777552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85437" y="940991"/>
            <a:ext cx="11609028" cy="580888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Algorithm (Step-by-Step)</a:t>
            </a:r>
            <a:r>
              <a:rPr sz="280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Car-3_distance_1Meter Algorithm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Reset encoder counts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Read left &amp; right ticks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Compute average ticks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Convert ticks → distance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Apply straight correction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Compare with target distance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Stop when target reached</a:t>
            </a:r>
            <a:endParaRPr sz="2800"/>
          </a:p>
        </p:txBody>
      </p:sp>
      <p:pic>
        <p:nvPicPr>
          <p:cNvPr id="22453574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7"/>
            <a:ext cx="2037717" cy="549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739408" name="Title 1"/>
          <p:cNvSpPr>
            <a:spLocks noGrp="1"/>
          </p:cNvSpPr>
          <p:nvPr>
            <p:ph type="title"/>
          </p:nvPr>
        </p:nvSpPr>
        <p:spPr bwMode="auto">
          <a:xfrm>
            <a:off x="185437" y="156097"/>
            <a:ext cx="10515600" cy="132555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Distance Measurement   &amp; Straight Motion</a:t>
            </a:r>
            <a:b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</a:br>
            <a:endParaRPr/>
          </a:p>
        </p:txBody>
      </p:sp>
      <p:sp>
        <p:nvSpPr>
          <p:cNvPr id="158052806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85437" y="940991"/>
            <a:ext cx="11609028" cy="580888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Flowchart (PPT Friendly)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4793603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7"/>
            <a:ext cx="2037717" cy="549225"/>
          </a:xfrm>
          <a:prstGeom prst="rect">
            <a:avLst/>
          </a:prstGeom>
        </p:spPr>
      </p:pic>
      <p:pic>
        <p:nvPicPr>
          <p:cNvPr id="18846831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252172" y="2296681"/>
            <a:ext cx="4351823" cy="37031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839845" name="Title 1"/>
          <p:cNvSpPr>
            <a:spLocks noGrp="1"/>
          </p:cNvSpPr>
          <p:nvPr>
            <p:ph type="title"/>
          </p:nvPr>
        </p:nvSpPr>
        <p:spPr bwMode="auto">
          <a:xfrm>
            <a:off x="185437" y="156097"/>
            <a:ext cx="10515600" cy="132555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Distance Measurement   &amp; Straight Motion</a:t>
            </a:r>
            <a:b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</a:br>
            <a:endParaRPr/>
          </a:p>
        </p:txBody>
      </p:sp>
      <p:sp>
        <p:nvSpPr>
          <p:cNvPr id="5939227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85437" y="940991"/>
            <a:ext cx="11609028" cy="580888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Flowchart (PPT Friendly)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65500570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7"/>
            <a:ext cx="2037717" cy="549225"/>
          </a:xfrm>
          <a:prstGeom prst="rect">
            <a:avLst/>
          </a:prstGeom>
        </p:spPr>
      </p:pic>
      <p:pic>
        <p:nvPicPr>
          <p:cNvPr id="167311471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252172" y="2296681"/>
            <a:ext cx="4351823" cy="37031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33946" name="Title 1"/>
          <p:cNvSpPr>
            <a:spLocks noGrp="1"/>
          </p:cNvSpPr>
          <p:nvPr>
            <p:ph type="title"/>
          </p:nvPr>
        </p:nvSpPr>
        <p:spPr bwMode="auto">
          <a:xfrm>
            <a:off x="185437" y="156097"/>
            <a:ext cx="10515600" cy="132555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Distance Measurement   &amp; Straight Motion</a:t>
            </a:r>
            <a:b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</a:br>
            <a:endParaRPr/>
          </a:p>
        </p:txBody>
      </p:sp>
      <p:sp>
        <p:nvSpPr>
          <p:cNvPr id="207933189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85437" y="1074519"/>
            <a:ext cx="11609028" cy="580888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Code Highlights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 Interrupts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0783907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7"/>
            <a:ext cx="2037717" cy="549225"/>
          </a:xfrm>
          <a:prstGeom prst="rect">
            <a:avLst/>
          </a:prstGeom>
        </p:spPr>
      </p:pic>
      <p:pic>
        <p:nvPicPr>
          <p:cNvPr id="208779919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415396" y="2314485"/>
            <a:ext cx="6838949" cy="352424"/>
          </a:xfrm>
          <a:prstGeom prst="rect">
            <a:avLst/>
          </a:prstGeom>
        </p:spPr>
      </p:pic>
      <p:sp>
        <p:nvSpPr>
          <p:cNvPr id="717016409" name=""/>
          <p:cNvSpPr/>
          <p:nvPr/>
        </p:nvSpPr>
        <p:spPr bwMode="auto">
          <a:xfrm flipH="0" flipV="0">
            <a:off x="405296" y="2910479"/>
            <a:ext cx="2498343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Distance Check</a:t>
            </a:r>
            <a:endParaRPr/>
          </a:p>
        </p:txBody>
      </p:sp>
      <p:pic>
        <p:nvPicPr>
          <p:cNvPr id="2443870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468808" y="3373808"/>
            <a:ext cx="3076574" cy="542925"/>
          </a:xfrm>
          <a:prstGeom prst="rect">
            <a:avLst/>
          </a:prstGeom>
        </p:spPr>
      </p:pic>
      <p:sp>
        <p:nvSpPr>
          <p:cNvPr id="588221201" name=""/>
          <p:cNvSpPr/>
          <p:nvPr/>
        </p:nvSpPr>
        <p:spPr bwMode="auto">
          <a:xfrm flipH="0" flipV="0">
            <a:off x="514455" y="4307863"/>
            <a:ext cx="3217058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Motor Control</a:t>
            </a:r>
            <a:endParaRPr/>
          </a:p>
        </p:txBody>
      </p:sp>
      <p:pic>
        <p:nvPicPr>
          <p:cNvPr id="918737449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1522219" y="4913831"/>
            <a:ext cx="2533649" cy="790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3204854" name="Title 1"/>
          <p:cNvSpPr>
            <a:spLocks noGrp="1"/>
          </p:cNvSpPr>
          <p:nvPr>
            <p:ph type="title"/>
          </p:nvPr>
        </p:nvSpPr>
        <p:spPr bwMode="auto">
          <a:xfrm>
            <a:off x="295034" y="-232065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Car Basic Movements</a:t>
            </a:r>
            <a:endParaRPr/>
          </a:p>
        </p:txBody>
      </p:sp>
      <p:sp>
        <p:nvSpPr>
          <p:cNvPr id="129307323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4" y="765121"/>
            <a:ext cx="11196689" cy="59827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Critical Programming Setup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MANDATORY Switch Settings Before Uploading Code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connecting USB and uploading program: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1" i="1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“Motor Driver ON/OFF”  Switch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accent4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⚠️ MUST BE SET TO: OFF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Prevents motors from running during code upload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Avoids car moving unexpectedly on desk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Protects USB connection from power surges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</p:txBody>
      </p:sp>
      <p:pic>
        <p:nvPicPr>
          <p:cNvPr id="178670555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1355166678" name=""/>
          <p:cNvSpPr txBox="1"/>
          <p:nvPr/>
        </p:nvSpPr>
        <p:spPr bwMode="auto">
          <a:xfrm flipH="0" flipV="0">
            <a:off x="6004378" y="3246120"/>
            <a:ext cx="183240" cy="36575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4889764" name="Title 1"/>
          <p:cNvSpPr>
            <a:spLocks noGrp="1"/>
          </p:cNvSpPr>
          <p:nvPr>
            <p:ph type="title"/>
          </p:nvPr>
        </p:nvSpPr>
        <p:spPr bwMode="auto">
          <a:xfrm>
            <a:off x="295034" y="-232065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Car Basic Movements</a:t>
            </a:r>
            <a:endParaRPr/>
          </a:p>
        </p:txBody>
      </p:sp>
      <p:sp>
        <p:nvSpPr>
          <p:cNvPr id="115746408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4" y="765121"/>
            <a:ext cx="11620618" cy="59827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During Programming (Code Upload):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Connect USB cable to computer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Set Switch “</a:t>
            </a:r>
            <a:r>
              <a:rPr lang="en-US" sz="2400" b="1" i="1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ON/OFF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OFF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Battery ON/OFF 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OFF -&gt;for batter power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Upload your the respective program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5: Wait for "Upload Complete" message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6: Disconnect USB cable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Testing (Running the Robot):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Place robot on the ground. No obstacle as this test for basic movements 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Set Switch 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“</a:t>
            </a:r>
            <a:r>
              <a:rPr lang="en-US" sz="2400" b="1" i="1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ON/OFF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-&gt;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ON (  motor driver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ON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)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lang="en-US" sz="2800" b="1" i="0" u="none" strike="noStrike" cap="none" spc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Battery ON/OFF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ON -&gt; for batter power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Monitor the Robot car-3 Movements &amp; OLED , Monitior the functionality according to the program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</p:txBody>
      </p:sp>
      <p:pic>
        <p:nvPicPr>
          <p:cNvPr id="117630194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483137534" name=""/>
          <p:cNvSpPr txBox="1"/>
          <p:nvPr/>
        </p:nvSpPr>
        <p:spPr bwMode="auto">
          <a:xfrm flipH="0" flipV="0">
            <a:off x="6004378" y="3246120"/>
            <a:ext cx="183240" cy="36575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843845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2536884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Q&amp;A</a:t>
            </a:r>
            <a:endParaRPr/>
          </a:p>
        </p:txBody>
      </p:sp>
      <p:sp>
        <p:nvSpPr>
          <p:cNvPr id="195632749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Invite Questions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Encourage the audience to ask questions for further clarification or discussion.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lang="en-GB">
              <a:solidFill>
                <a:schemeClr val="bg1"/>
              </a:solidFill>
            </a:endParaRPr>
          </a:p>
        </p:txBody>
      </p:sp>
      <p:pic>
        <p:nvPicPr>
          <p:cNvPr id="35401988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/>
  <cp:revision>14</cp:revision>
  <dcterms:created xsi:type="dcterms:W3CDTF">2025-11-29T15:09:33Z</dcterms:created>
  <dcterms:modified xsi:type="dcterms:W3CDTF">2026-01-15T14:21:04Z</dcterms:modified>
</cp:coreProperties>
</file>