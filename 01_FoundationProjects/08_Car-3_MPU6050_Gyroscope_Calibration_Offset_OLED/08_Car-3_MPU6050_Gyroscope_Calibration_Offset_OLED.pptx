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3843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60850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91530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69845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153143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63756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131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5551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261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17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2173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242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613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8441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217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1078B-83E0-6883-4F4C-FF8F67244431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233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0730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927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EED0CC-0013-97C7-BAAA-8D47D7301B30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366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392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697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B64D1-0EC3-AFBF-992C-812C2048C25B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328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162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366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370741-A6B4-231B-C1E1-D4F01842767F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13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60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587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304C95-6EA3-17A9-01A7-10734F071DD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371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4781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533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6E422C-3DFD-ECD9-5C07-0BC2BD7EFC30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72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434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921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C0013-A471-F928-C2E5-D957DCA29E57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18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85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882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AEC350-014F-A17F-8FE6-B84FBFBA5CCE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57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756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238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258AD9-F75C-31C9-C657-42E69A0AF645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49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613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16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002ED-185B-6C69-7B3B-B44865AB552C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419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551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99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F26B29-89A0-A0BD-0BAF-7322366191F8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823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213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987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CD708-0659-2758-A16F-1F4322E0D5D6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807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7824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785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775B55-DFC8-96AE-544F-F75EA1694388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675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9138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841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597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092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524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00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6888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672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60210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82870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1191781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26553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547132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010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052460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195618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885432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139994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2387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50217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43216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287625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13988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6620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8797246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479564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519008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982754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200430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818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462417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07289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570686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276023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039592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637626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82301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438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3071069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6592438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09420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71950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8565049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9585211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97643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738746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774316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31362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720043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546757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9969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1127337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9202853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4492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985924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700171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513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984553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042407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739299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557829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17740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0604757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351690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379736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19479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95213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226144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82720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3302078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667821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320052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63259601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69074809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93993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7" y="42546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52355832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175044"/>
            <a:ext cx="11527408" cy="55814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The Real Robotics Problem (Very Important)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goes wrong in robots without calibration?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Wrong heading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Bad odometry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Drift in navigation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Poor path following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Example :</a:t>
            </a:r>
            <a:endParaRPr sz="2800">
              <a:solidFill>
                <a:schemeClr val="bg1"/>
              </a:solidFill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Even when robot is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standing still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  </a:t>
            </a:r>
            <a:r>
              <a:rPr lang="en-US" sz="2800" b="0" i="0" u="none" strike="noStrike" cap="none" spc="0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GyroZ = +0.5°/s   (bias)</a:t>
            </a:r>
            <a:endParaRPr sz="2800">
              <a:solidFill>
                <a:srgbClr val="FFC000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After 60 seconds : </a:t>
            </a:r>
            <a:r>
              <a:rPr lang="en-US" sz="2800" b="0" i="0" u="none" strike="noStrike" cap="none" spc="0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Error = 0.5 × 60 = 30°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</a:t>
            </a:r>
            <a:r>
              <a:rPr sz="2800" b="0" i="1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thinks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it turned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30 degrees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even though it did not move.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Root cause: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Gyroscope outputs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non-zero angular velocity at rest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solves that.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Hence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Z-axis calibration is essential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72080270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0367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13123139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246259"/>
            <a:ext cx="11749955" cy="5528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Where This Fits in IMU Learning (Big Picture)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An IMU (Inertial Measurement Unit) is a sensor module that measures an object’s motion and orientation by sensing acceleration and angular velocity along multiple axes.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IMU(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Inertial Measurement Unit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Learning Path (For Students)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Understand IMU sensors (Accel, Gyro, Mag)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Identify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errors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Perform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Apply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 data in control &amp; navigation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914400" lvl="2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39497361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71012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09591296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246259"/>
            <a:ext cx="11749955" cy="5528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Learning Outcomes</a:t>
            </a:r>
            <a:endParaRPr sz="2800">
              <a:solidFill>
                <a:schemeClr val="bg1"/>
              </a:solidFill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Why gyroscope calibration is required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How sensor bias affects robots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Practical IMU handling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Role of averaging in noise reduction</a:t>
            </a:r>
            <a:endParaRPr sz="24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Industry-standard calibration workflow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22118002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5392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02310407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246259"/>
            <a:ext cx="11749955" cy="55280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Car-3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– MPU6050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914400" lvl="2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3945913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3133345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09173" y="1651296"/>
            <a:ext cx="10223572" cy="4940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924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99670747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78948" y="1175044"/>
            <a:ext cx="11237671" cy="526990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MPU6050 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MPU6050 is an IMU because it combines an accelerometer and a gyroscope to measure linear motion and rotational motion in 3D space.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pic>
        <p:nvPicPr>
          <p:cNvPr id="57810160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graphicFrame>
        <p:nvGraphicFramePr>
          <p:cNvPr id="582199705" name=""/>
          <p:cNvGraphicFramePr>
            <a:graphicFrameLocks xmlns:a="http://schemas.openxmlformats.org/drawingml/2006/main"/>
          </p:cNvGraphicFramePr>
          <p:nvPr/>
        </p:nvGraphicFramePr>
        <p:xfrm>
          <a:off x="1782171" y="2216482"/>
          <a:ext cx="4408169" cy="101853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35404"/>
                <a:gridCol w="1259839"/>
                <a:gridCol w="180022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Units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Accelerometer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Linear acceleration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m/s² or g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Gyroscope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Angular velocity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rad/s, deg/s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4592553" name=""/>
          <p:cNvSpPr/>
          <p:nvPr/>
        </p:nvSpPr>
        <p:spPr bwMode="auto">
          <a:xfrm flipH="0" flipV="0">
            <a:off x="433362" y="5508765"/>
            <a:ext cx="11621859" cy="1371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Important: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Gyroscope measures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rotation rate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not angle.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DOF: 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It means one independent way something can move (or) be measured</a:t>
            </a:r>
            <a:endParaRPr/>
          </a:p>
        </p:txBody>
      </p:sp>
      <p:sp>
        <p:nvSpPr>
          <p:cNvPr id="55872197" name=""/>
          <p:cNvSpPr/>
          <p:nvPr/>
        </p:nvSpPr>
        <p:spPr bwMode="auto">
          <a:xfrm flipH="0" flipV="0">
            <a:off x="380570" y="3283365"/>
            <a:ext cx="4364281" cy="2243616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>
                <a:solidFill>
                  <a:schemeClr val="bg1"/>
                </a:solidFill>
              </a:rPr>
              <a:t>It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Communicates via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I²C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Widely used in:</a:t>
            </a:r>
            <a:endParaRPr sz="2800">
              <a:solidFill>
                <a:schemeClr val="bg1"/>
              </a:solidFill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Mobile robots</a:t>
            </a:r>
            <a:endParaRPr sz="2800">
              <a:solidFill>
                <a:schemeClr val="bg1"/>
              </a:solidFill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Drones</a:t>
            </a:r>
            <a:endParaRPr sz="2800">
              <a:solidFill>
                <a:schemeClr val="bg1"/>
              </a:solidFill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Self-balancing systems</a:t>
            </a:r>
            <a:endParaRPr/>
          </a:p>
        </p:txBody>
      </p:sp>
      <p:pic>
        <p:nvPicPr>
          <p:cNvPr id="28130107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843457" y="2141299"/>
            <a:ext cx="2470158" cy="1694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2998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71399726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Gyroscope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 gyroscope is a sensor that measures angular velocity—how fast an object rotates around an axis.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since ground robots mainly turn in the horizontal plane, they rotate about the Z-axis—making accurate Z-axis calibration critical for correct heading.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64891761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graphicFrame>
        <p:nvGraphicFramePr>
          <p:cNvPr id="587680483" name=""/>
          <p:cNvGraphicFramePr>
            <a:graphicFrameLocks xmlns:a="http://schemas.openxmlformats.org/drawingml/2006/main"/>
          </p:cNvGraphicFramePr>
          <p:nvPr/>
        </p:nvGraphicFramePr>
        <p:xfrm>
          <a:off x="6263671" y="4020569"/>
          <a:ext cx="2698114" cy="110997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65529"/>
                <a:gridCol w="161988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Axis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Rotation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Roll rate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Pitch rate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Yaw rate (turning)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445019121" name=""/>
          <p:cNvSpPr txBox="1"/>
          <p:nvPr/>
        </p:nvSpPr>
        <p:spPr bwMode="auto">
          <a:xfrm flipH="0" flipV="0">
            <a:off x="374055" y="3315373"/>
            <a:ext cx="72386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 b="1"/>
            </a:pPr>
            <a:r>
              <a:rPr sz="2800">
                <a:solidFill>
                  <a:schemeClr val="bg1"/>
                </a:solidFill>
              </a:rPr>
              <a:t>Why Ground Robots Rotate Around Z-Axis</a:t>
            </a:r>
            <a:endParaRPr/>
          </a:p>
        </p:txBody>
      </p:sp>
      <p:sp>
        <p:nvSpPr>
          <p:cNvPr id="614055573" name=""/>
          <p:cNvSpPr txBox="1"/>
          <p:nvPr/>
        </p:nvSpPr>
        <p:spPr bwMode="auto">
          <a:xfrm flipH="0" flipV="0">
            <a:off x="658410" y="3952428"/>
            <a:ext cx="5216482" cy="19635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✔ Ground robots move on a flat surface (X–Y plane)</a:t>
            </a:r>
            <a:endParaRPr sz="20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✔ Turning left/right changes direction (Yaw)</a:t>
            </a:r>
            <a:endParaRPr sz="20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✔ Axis perpendicular to ground is Z-axis</a:t>
            </a:r>
            <a:endParaRPr sz="20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✔ Therefore robot rotates around Z-axis</a:t>
            </a:r>
            <a:endParaRPr sz="20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✔ Gyro Z (ωz) measures turning rate</a:t>
            </a:r>
            <a:endParaRPr/>
          </a:p>
        </p:txBody>
      </p:sp>
      <p:sp>
        <p:nvSpPr>
          <p:cNvPr id="708528129" name=""/>
          <p:cNvSpPr txBox="1"/>
          <p:nvPr/>
        </p:nvSpPr>
        <p:spPr bwMode="auto">
          <a:xfrm flipH="0" flipV="0">
            <a:off x="463074" y="5879079"/>
            <a:ext cx="2867856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Example:</a:t>
            </a:r>
            <a:endParaRPr>
              <a:solidFill>
                <a:schemeClr val="bg1"/>
              </a:solidFill>
            </a:endParaRPr>
          </a:p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Robot turns left → ωz ≠ 0</a:t>
            </a:r>
            <a:endParaRPr>
              <a:solidFill>
                <a:schemeClr val="bg1"/>
              </a:solidFill>
            </a:endParaRPr>
          </a:p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Robot stands still → ωz ≈ 0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59454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52675542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a Gyroscope Measures Rotation, Not Angle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 gyroscope measures angular velocity (rate of rotation), not angle, because its MEMS structure senses Coriolis force produced only when the sensor is rotating.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Angle Relationship (Formula)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6390212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75781205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52102" y="3043237"/>
            <a:ext cx="1962149" cy="526411"/>
          </a:xfrm>
          <a:prstGeom prst="rect">
            <a:avLst/>
          </a:prstGeom>
        </p:spPr>
      </p:pic>
      <p:sp>
        <p:nvSpPr>
          <p:cNvPr id="158123835" name=""/>
          <p:cNvSpPr/>
          <p:nvPr/>
        </p:nvSpPr>
        <p:spPr bwMode="auto">
          <a:xfrm flipH="0" flipV="0">
            <a:off x="486419" y="3727671"/>
            <a:ext cx="38148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 in discrete form:</a:t>
            </a:r>
            <a:endParaRPr/>
          </a:p>
        </p:txBody>
      </p:sp>
      <p:pic>
        <p:nvPicPr>
          <p:cNvPr id="6686201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529708" y="3986931"/>
            <a:ext cx="1543050" cy="390524"/>
          </a:xfrm>
          <a:prstGeom prst="rect">
            <a:avLst/>
          </a:prstGeom>
        </p:spPr>
      </p:pic>
      <p:sp>
        <p:nvSpPr>
          <p:cNvPr id="1865149827" name=""/>
          <p:cNvSpPr/>
          <p:nvPr/>
        </p:nvSpPr>
        <p:spPr bwMode="auto">
          <a:xfrm flipH="0" flipV="0">
            <a:off x="352890" y="4646134"/>
            <a:ext cx="10090632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Angle is obtained by integrating angular velocity over time.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954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82482466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Calibration Method Used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Averaging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Keep robot completely still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Take many gyro samples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Average the readings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Average value = bias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Random noise averages out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Bias remains</a:t>
            </a:r>
            <a:endParaRPr/>
          </a:p>
        </p:txBody>
      </p:sp>
      <p:pic>
        <p:nvPicPr>
          <p:cNvPr id="98681806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36443077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362324" y="4263995"/>
            <a:ext cx="2733674" cy="814253"/>
          </a:xfrm>
          <a:prstGeom prst="rect">
            <a:avLst/>
          </a:prstGeom>
        </p:spPr>
      </p:pic>
      <p:sp>
        <p:nvSpPr>
          <p:cNvPr id="480466185" name=""/>
          <p:cNvSpPr/>
          <p:nvPr/>
        </p:nvSpPr>
        <p:spPr bwMode="auto">
          <a:xfrm flipH="0" flipV="0">
            <a:off x="413277" y="5189789"/>
            <a:ext cx="7034995" cy="1371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Where: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= number of samples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​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= gyro Z-axis reading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45313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0022018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Sampling Parameters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This Program</a:t>
            </a:r>
            <a:endParaRPr/>
          </a:p>
        </p:txBody>
      </p:sp>
      <p:pic>
        <p:nvPicPr>
          <p:cNvPr id="21326844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64796993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080833" y="1819630"/>
            <a:ext cx="3162299" cy="704849"/>
          </a:xfrm>
          <a:prstGeom prst="rect">
            <a:avLst/>
          </a:prstGeom>
        </p:spPr>
      </p:pic>
      <p:sp>
        <p:nvSpPr>
          <p:cNvPr id="1376363600" name=""/>
          <p:cNvSpPr/>
          <p:nvPr/>
        </p:nvSpPr>
        <p:spPr bwMode="auto">
          <a:xfrm flipH="0" flipV="0">
            <a:off x="366399" y="2524480"/>
            <a:ext cx="8377495" cy="1798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1000 samples</a:t>
            </a: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~2 seconds total</a:t>
            </a: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Stable and noise-reduced average</a:t>
            </a: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Higher N → better accuracy (up to a limit)</a:t>
            </a:r>
            <a:endParaRPr/>
          </a:p>
        </p:txBody>
      </p:sp>
      <p:sp>
        <p:nvSpPr>
          <p:cNvPr id="50837231" name=""/>
          <p:cNvSpPr/>
          <p:nvPr/>
        </p:nvSpPr>
        <p:spPr bwMode="auto">
          <a:xfrm flipH="0" flipV="0">
            <a:off x="551433" y="4394376"/>
            <a:ext cx="9055313" cy="1371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Output Units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Library provides: 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rad/s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(radians per second)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Conversion Used</a:t>
            </a:r>
            <a:endParaRPr/>
          </a:p>
        </p:txBody>
      </p:sp>
      <p:pic>
        <p:nvPicPr>
          <p:cNvPr id="10387230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003945" y="4966236"/>
            <a:ext cx="2314575" cy="800100"/>
          </a:xfrm>
          <a:prstGeom prst="rect">
            <a:avLst/>
          </a:prstGeom>
        </p:spPr>
      </p:pic>
      <p:pic>
        <p:nvPicPr>
          <p:cNvPr id="1664770235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008831" y="5766336"/>
            <a:ext cx="3695699" cy="523874"/>
          </a:xfrm>
          <a:prstGeom prst="rect">
            <a:avLst/>
          </a:prstGeom>
        </p:spPr>
      </p:pic>
      <p:sp>
        <p:nvSpPr>
          <p:cNvPr id="1026905031" name=""/>
          <p:cNvSpPr/>
          <p:nvPr/>
        </p:nvSpPr>
        <p:spPr bwMode="auto">
          <a:xfrm flipH="0" flipV="0">
            <a:off x="777933" y="6390901"/>
            <a:ext cx="5465919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Both units are displayed for clarity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5509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20980864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Algorithm (Step-by-Step)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 Calibration Algorithm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Initialize OLED and MPU6050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Set gyro range and filter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Ask user to keep robot still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gyro Z-axis repeatedly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Accumulate readings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average (bias)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Display bias on OLED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 program</a:t>
            </a:r>
            <a:endParaRPr/>
          </a:p>
        </p:txBody>
      </p:sp>
      <p:pic>
        <p:nvPicPr>
          <p:cNvPr id="152447533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849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7818851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Flowchart</a:t>
            </a:r>
            <a:r>
              <a:rPr sz="2800">
                <a:solidFill>
                  <a:schemeClr val="bg1"/>
                </a:solidFill>
              </a:rPr>
              <a:t> </a:t>
            </a:r>
            <a:endParaRPr/>
          </a:p>
        </p:txBody>
      </p:sp>
      <p:pic>
        <p:nvPicPr>
          <p:cNvPr id="96105098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19866315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75303" y="1290771"/>
            <a:ext cx="2705099" cy="4733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18095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06901165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Highlights: 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Setup:</a:t>
            </a:r>
            <a:endParaRPr sz="2800" b="1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Lower range → higher resolution</a:t>
            </a:r>
            <a:endParaRPr sz="24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Filter reduces noise during calibration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Bias Accumulation</a:t>
            </a:r>
            <a:r>
              <a:rPr>
                <a:solidFill>
                  <a:schemeClr val="bg1"/>
                </a:solidFill>
              </a:rPr>
              <a:t>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Raw gyro data is accumulated</a:t>
            </a:r>
            <a:endParaRPr lang="en-US" sz="2800" b="0" i="0" u="none" strike="noStrike" cap="none" spc="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No correction applied yet</a:t>
            </a:r>
            <a:endParaRPr sz="24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Bias Computation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value represents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drift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54038240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84882333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89532" y="1833784"/>
            <a:ext cx="4410074" cy="752474"/>
          </a:xfrm>
          <a:prstGeom prst="rect">
            <a:avLst/>
          </a:prstGeom>
        </p:spPr>
      </p:pic>
      <p:pic>
        <p:nvPicPr>
          <p:cNvPr id="198068778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730906" y="3836705"/>
            <a:ext cx="1800225" cy="466724"/>
          </a:xfrm>
          <a:prstGeom prst="rect">
            <a:avLst/>
          </a:prstGeom>
        </p:spPr>
      </p:pic>
      <p:pic>
        <p:nvPicPr>
          <p:cNvPr id="5422939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667569" y="5421238"/>
            <a:ext cx="2962274" cy="523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6202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46216721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Display Role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OLED is Used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Immediate visual feedback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No need for Serial Monitor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Useful in field calibration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Displayed: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Sample count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Bias in rad/s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Bias in deg/s</a:t>
            </a:r>
            <a:endParaRPr/>
          </a:p>
        </p:txBody>
      </p:sp>
      <p:pic>
        <p:nvPicPr>
          <p:cNvPr id="18928498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7635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56261" y="1175044"/>
            <a:ext cx="3053472" cy="29910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05504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6566643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175044"/>
            <a:ext cx="11023515" cy="55547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Robotics Applications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Where This Calibration Helps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 correction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Heading estimation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fusion (IMU + Encoder)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Line following + turning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navigation</a:t>
            </a:r>
            <a:endParaRPr/>
          </a:p>
        </p:txBody>
      </p:sp>
      <p:pic>
        <p:nvPicPr>
          <p:cNvPr id="154400422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605277" name="Title 1"/>
          <p:cNvSpPr>
            <a:spLocks noGrp="1"/>
          </p:cNvSpPr>
          <p:nvPr>
            <p:ph type="title"/>
          </p:nvPr>
        </p:nvSpPr>
        <p:spPr bwMode="auto">
          <a:xfrm>
            <a:off x="197113" y="156098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28787260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7113" y="153068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9748147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55661604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89573" name="Title 1"/>
          <p:cNvSpPr>
            <a:spLocks noGrp="1"/>
          </p:cNvSpPr>
          <p:nvPr>
            <p:ph type="title"/>
          </p:nvPr>
        </p:nvSpPr>
        <p:spPr bwMode="auto">
          <a:xfrm>
            <a:off x="295033" y="4254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Gyroscope Calibration &amp; Bias Estimation</a:t>
            </a:r>
            <a:endParaRPr/>
          </a:p>
        </p:txBody>
      </p:sp>
      <p:sp>
        <p:nvSpPr>
          <p:cNvPr id="180280042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4068" y="1210214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74373667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866978853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36948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0938246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65440281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16</cp:revision>
  <dcterms:created xsi:type="dcterms:W3CDTF">2025-11-29T15:09:33Z</dcterms:created>
  <dcterms:modified xsi:type="dcterms:W3CDTF">2026-01-16T10:24:26Z</dcterms:modified>
</cp:coreProperties>
</file>