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36639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14928640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2081061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1413136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37040233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1295946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1143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53852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8206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9041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3453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539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4248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8114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00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1078B-83E0-6883-4F4C-FF8F67244431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262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37739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714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EED0CC-0013-97C7-BAAA-8D47D7301B30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665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76474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586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B64D1-0EC3-AFBF-992C-812C2048C25B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6246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5090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775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370741-A6B4-231B-C1E1-D4F01842767F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283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8661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732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304C95-6EA3-17A9-01A7-10734F071DD2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07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11206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512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6E422C-3DFD-ECD9-5C07-0BC2BD7EFC30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279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5354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126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8C0013-A471-F928-C2E5-D957DCA29E57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0401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90091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645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AEC350-014F-A17F-8FE6-B84FBFBA5CCE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6994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44256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712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258AD9-F75C-31C9-C657-42E69A0AF645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9902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1454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90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002ED-185B-6C69-7B3B-B44865AB552C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9243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220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830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F26B29-89A0-A0BD-0BAF-7322366191F8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5602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3512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548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CD708-0659-2758-A16F-1F4322E0D5D6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070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3307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664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775B55-DFC8-96AE-544F-F75EA1694388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2940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87073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429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8524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11982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63929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01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4854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9782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48065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9400087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6915791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278680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22390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2795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0054721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598326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587619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601560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01203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2651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227977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3506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97230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4481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6840732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098245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17596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8488952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862782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66179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598882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667508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2787964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9296447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3501710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6848051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94421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797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177820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5583515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907136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93488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567189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6709752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4007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7906112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3639135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630701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667159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895444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307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4950706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14520264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097939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6074656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769733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7017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1373969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572163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219519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4013443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4730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450087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876349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267099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08122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78743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21645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2197646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4312440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96904990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34732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83499213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8485126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59543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7" y="42546"/>
            <a:ext cx="10515600" cy="11324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7550261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175044"/>
            <a:ext cx="11527408" cy="558147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The Real Robotics Problem (Very Important)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goes wrong in robots without calibration?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Wrong heading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Bad odometry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Drift in navigation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Poor path following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Example :</a:t>
            </a:r>
            <a:endParaRPr sz="2800">
              <a:solidFill>
                <a:schemeClr val="bg1"/>
              </a:solidFill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Even when robot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standing still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  </a:t>
            </a:r>
            <a:r>
              <a:rPr lang="en-US" sz="2800" b="0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GyroZ = +0.5°/s   (bias)</a:t>
            </a:r>
            <a:endParaRPr sz="2800">
              <a:solidFill>
                <a:srgbClr val="FFC000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After 60 seconds : </a:t>
            </a:r>
            <a:r>
              <a:rPr lang="en-US" sz="2800" b="0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Error = 0.5 × 60 = 30°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</a:t>
            </a:r>
            <a:r>
              <a:rPr sz="2800" b="0" i="1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thinks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it turned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30 degrees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even though it did not move.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Root cause: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Gyroscope outputs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non-zero angular velocity at rest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solves that.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Hence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Z-axis calibration is essential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42364425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06063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5466201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246259"/>
            <a:ext cx="11749955" cy="55280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Where This Fits in IMU Learning (Big Picture)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An IMU (Inertial Measurement Unit) is a sensor module that measures an object’s motion and orientation by sensing acceleration and angular velocity along multiple axes.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IMU(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Inertial Measurement Unit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Path (For Students)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 IMU sensors (Accel, Gyro, Mag)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Identify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errors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Perform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Apply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data in control &amp; navigation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914400" lvl="2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87030048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8694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20646822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246259"/>
            <a:ext cx="11749955" cy="55280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Learning Outcomes</a:t>
            </a:r>
            <a:endParaRPr sz="2800">
              <a:solidFill>
                <a:schemeClr val="bg1"/>
              </a:solidFill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Why gyroscope calibration is required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sensor bias affects robots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Practical IMU handling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Role of averaging in noise reduction</a:t>
            </a:r>
            <a:endParaRPr sz="24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Industry-standard calibration workflow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50854583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8250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24829744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246259"/>
            <a:ext cx="11749955" cy="55280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Car-3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– MPU6050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914400" lvl="2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34726541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74775552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09173" y="1651295"/>
            <a:ext cx="10223572" cy="49405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2967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74071676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78948" y="1175044"/>
            <a:ext cx="11237671" cy="526990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rgbClr val="FFC000"/>
                </a:solidFill>
                <a:latin typeface="Times New Roman"/>
                <a:ea typeface="Times New Roman"/>
                <a:cs typeface="Times New Roman"/>
              </a:rPr>
              <a:t>MPU6050 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MPU6050 is an IMU because it combines an accelerometer and a gyroscope to measure linear motion and rotational motion in 3D space.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pic>
        <p:nvPicPr>
          <p:cNvPr id="92357012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278488480" name=""/>
          <p:cNvGraphicFramePr>
            <a:graphicFrameLocks xmlns:a="http://schemas.openxmlformats.org/drawingml/2006/main"/>
          </p:cNvGraphicFramePr>
          <p:nvPr/>
        </p:nvGraphicFramePr>
        <p:xfrm>
          <a:off x="1782171" y="2216482"/>
          <a:ext cx="4408169" cy="10185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35404"/>
                <a:gridCol w="1259839"/>
                <a:gridCol w="180022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Units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Accelerometer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Linear acceleration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m/s² or 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Gyroscope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Angular velocity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rad/s, deg/s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471616482" name=""/>
          <p:cNvSpPr/>
          <p:nvPr/>
        </p:nvSpPr>
        <p:spPr bwMode="auto">
          <a:xfrm flipH="0" flipV="0">
            <a:off x="433362" y="5508765"/>
            <a:ext cx="11621859" cy="13719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Important:</a:t>
            </a:r>
            <a:b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Gyroscope measures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rotation rate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not angle.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DOF: 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It means one independent way something can move (or) be measured</a:t>
            </a:r>
            <a:endParaRPr/>
          </a:p>
        </p:txBody>
      </p:sp>
      <p:sp>
        <p:nvSpPr>
          <p:cNvPr id="115107007" name=""/>
          <p:cNvSpPr/>
          <p:nvPr/>
        </p:nvSpPr>
        <p:spPr bwMode="auto">
          <a:xfrm flipH="0" flipV="0">
            <a:off x="380570" y="3283365"/>
            <a:ext cx="4364281" cy="2243616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sz="2800">
                <a:solidFill>
                  <a:schemeClr val="bg1"/>
                </a:solidFill>
              </a:rPr>
              <a:t>It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Communicates via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I²C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Widely used in:</a:t>
            </a:r>
            <a:endParaRPr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Mobile robots</a:t>
            </a:r>
            <a:endParaRPr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Drones</a:t>
            </a:r>
            <a:endParaRPr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Self-balancing systems</a:t>
            </a:r>
            <a:endParaRPr/>
          </a:p>
        </p:txBody>
      </p:sp>
      <p:pic>
        <p:nvPicPr>
          <p:cNvPr id="75332029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843457" y="2141299"/>
            <a:ext cx="2470158" cy="16945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674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3672505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Gyroscope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 gyroscope is a sensor that measures angular velocity—how fast an object rotates around an axis.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since ground robots mainly turn in the horizontal plane, they rotate about the Z-axis—making accurate Z-axis calibration critical for correct heading.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16064710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995125971" name=""/>
          <p:cNvGraphicFramePr>
            <a:graphicFrameLocks xmlns:a="http://schemas.openxmlformats.org/drawingml/2006/main"/>
          </p:cNvGraphicFramePr>
          <p:nvPr/>
        </p:nvGraphicFramePr>
        <p:xfrm>
          <a:off x="6263671" y="4020569"/>
          <a:ext cx="2698114" cy="11099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65529"/>
                <a:gridCol w="161988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Axis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Roll rate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Pitch rate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Yaw rate (turning)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522025648" name=""/>
          <p:cNvSpPr txBox="1"/>
          <p:nvPr/>
        </p:nvSpPr>
        <p:spPr bwMode="auto">
          <a:xfrm flipH="0" flipV="0">
            <a:off x="374055" y="3315372"/>
            <a:ext cx="723867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 b="1"/>
            </a:pPr>
            <a:r>
              <a:rPr sz="2800">
                <a:solidFill>
                  <a:schemeClr val="bg1"/>
                </a:solidFill>
              </a:rPr>
              <a:t>Why Ground Robots Rotate Around Z-Axis</a:t>
            </a:r>
            <a:endParaRPr/>
          </a:p>
        </p:txBody>
      </p:sp>
      <p:sp>
        <p:nvSpPr>
          <p:cNvPr id="1230845183" name=""/>
          <p:cNvSpPr txBox="1"/>
          <p:nvPr/>
        </p:nvSpPr>
        <p:spPr bwMode="auto">
          <a:xfrm flipH="0" flipV="0">
            <a:off x="658410" y="3952428"/>
            <a:ext cx="5216482" cy="19635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✔ Ground robots move on a flat surface (X–Y plane)</a:t>
            </a:r>
            <a:endParaRPr sz="20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✔ Turning left/right changes direction (Yaw)</a:t>
            </a:r>
            <a:endParaRPr sz="20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✔ Axis perpendicular to ground is Z-axis</a:t>
            </a:r>
            <a:endParaRPr sz="20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✔ Therefore robot rotates around Z-axis</a:t>
            </a:r>
            <a:endParaRPr sz="20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✔ Gyro Z (ωz) measures turning rate</a:t>
            </a:r>
            <a:endParaRPr/>
          </a:p>
        </p:txBody>
      </p:sp>
      <p:sp>
        <p:nvSpPr>
          <p:cNvPr id="1108632328" name=""/>
          <p:cNvSpPr txBox="1"/>
          <p:nvPr/>
        </p:nvSpPr>
        <p:spPr bwMode="auto">
          <a:xfrm flipH="0" flipV="0">
            <a:off x="463074" y="5879079"/>
            <a:ext cx="2867856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Example:</a:t>
            </a:r>
            <a:endParaRPr>
              <a:solidFill>
                <a:schemeClr val="bg1"/>
              </a:solidFill>
            </a:endParaRPr>
          </a:p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Robot turns left → ωz ≠ 0</a:t>
            </a:r>
            <a:endParaRPr>
              <a:solidFill>
                <a:schemeClr val="bg1"/>
              </a:solidFill>
            </a:endParaRPr>
          </a:p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Robot stands still → ωz ≈ 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3791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48313141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a Gyroscope Measures Rotation, Not Angle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 gyroscope measures angular velocity (rate of rotation), not angle, because its MEMS structure senses Coriolis force produced only when the sensor is rotating.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Angle Relationship (Formula)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417528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63132259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52102" y="3043237"/>
            <a:ext cx="1962149" cy="526411"/>
          </a:xfrm>
          <a:prstGeom prst="rect">
            <a:avLst/>
          </a:prstGeom>
        </p:spPr>
      </p:pic>
      <p:sp>
        <p:nvSpPr>
          <p:cNvPr id="560502820" name=""/>
          <p:cNvSpPr/>
          <p:nvPr/>
        </p:nvSpPr>
        <p:spPr bwMode="auto">
          <a:xfrm flipH="0" flipV="0">
            <a:off x="486419" y="3727671"/>
            <a:ext cx="3814814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 in discrete form:</a:t>
            </a:r>
            <a:endParaRPr/>
          </a:p>
        </p:txBody>
      </p:sp>
      <p:pic>
        <p:nvPicPr>
          <p:cNvPr id="756426084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529708" y="3986930"/>
            <a:ext cx="1543050" cy="390524"/>
          </a:xfrm>
          <a:prstGeom prst="rect">
            <a:avLst/>
          </a:prstGeom>
        </p:spPr>
      </p:pic>
      <p:sp>
        <p:nvSpPr>
          <p:cNvPr id="1653695124" name=""/>
          <p:cNvSpPr/>
          <p:nvPr/>
        </p:nvSpPr>
        <p:spPr bwMode="auto">
          <a:xfrm flipH="0" flipV="0">
            <a:off x="352890" y="4646134"/>
            <a:ext cx="10090632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Angle is obtained by integrating angular velocity over time.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33146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361900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Calibration Method Used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Averaging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Keep robot completely still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Take many gyro samples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Average the readings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Average value = bias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Random noise averages out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Bias remains</a:t>
            </a:r>
            <a:endParaRPr/>
          </a:p>
        </p:txBody>
      </p:sp>
      <p:pic>
        <p:nvPicPr>
          <p:cNvPr id="89160420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54938033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362324" y="4263995"/>
            <a:ext cx="2733674" cy="814253"/>
          </a:xfrm>
          <a:prstGeom prst="rect">
            <a:avLst/>
          </a:prstGeom>
        </p:spPr>
      </p:pic>
      <p:sp>
        <p:nvSpPr>
          <p:cNvPr id="1982848930" name=""/>
          <p:cNvSpPr/>
          <p:nvPr/>
        </p:nvSpPr>
        <p:spPr bwMode="auto">
          <a:xfrm flipH="0" flipV="0">
            <a:off x="413277" y="5189789"/>
            <a:ext cx="7034995" cy="13719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Where: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= number of samples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​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= gyro Z-axis reading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2576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3685176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Sampling Parameters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 This Program</a:t>
            </a:r>
            <a:endParaRPr/>
          </a:p>
        </p:txBody>
      </p:sp>
      <p:pic>
        <p:nvPicPr>
          <p:cNvPr id="14497118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26283113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080833" y="1819630"/>
            <a:ext cx="3162299" cy="704849"/>
          </a:xfrm>
          <a:prstGeom prst="rect">
            <a:avLst/>
          </a:prstGeom>
        </p:spPr>
      </p:pic>
      <p:sp>
        <p:nvSpPr>
          <p:cNvPr id="848149425" name=""/>
          <p:cNvSpPr/>
          <p:nvPr/>
        </p:nvSpPr>
        <p:spPr bwMode="auto">
          <a:xfrm flipH="0" flipV="0">
            <a:off x="366399" y="2524480"/>
            <a:ext cx="8377495" cy="1798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1000 samples</a:t>
            </a:r>
            <a:endParaRPr sz="2800">
              <a:solidFill>
                <a:schemeClr val="bg1"/>
              </a:solidFill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~2 seconds total</a:t>
            </a:r>
            <a:endParaRPr sz="2800">
              <a:solidFill>
                <a:schemeClr val="bg1"/>
              </a:solidFill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Stable and noise-reduced average</a:t>
            </a:r>
            <a:endParaRPr sz="2800">
              <a:solidFill>
                <a:schemeClr val="bg1"/>
              </a:solidFill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Higher N → better accuracy (up to a limit)</a:t>
            </a:r>
            <a:endParaRPr/>
          </a:p>
        </p:txBody>
      </p:sp>
      <p:sp>
        <p:nvSpPr>
          <p:cNvPr id="1969963052" name=""/>
          <p:cNvSpPr/>
          <p:nvPr/>
        </p:nvSpPr>
        <p:spPr bwMode="auto">
          <a:xfrm flipH="0" flipV="0">
            <a:off x="551433" y="4394376"/>
            <a:ext cx="9055313" cy="13719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Output Units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Library provides: 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rad/s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(radians per second)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Conversion Used</a:t>
            </a:r>
            <a:endParaRPr/>
          </a:p>
        </p:txBody>
      </p:sp>
      <p:pic>
        <p:nvPicPr>
          <p:cNvPr id="1950417701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7003945" y="4966236"/>
            <a:ext cx="2314575" cy="800100"/>
          </a:xfrm>
          <a:prstGeom prst="rect">
            <a:avLst/>
          </a:prstGeom>
        </p:spPr>
      </p:pic>
      <p:pic>
        <p:nvPicPr>
          <p:cNvPr id="71480066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3008831" y="5766336"/>
            <a:ext cx="3695699" cy="523874"/>
          </a:xfrm>
          <a:prstGeom prst="rect">
            <a:avLst/>
          </a:prstGeom>
        </p:spPr>
      </p:pic>
      <p:sp>
        <p:nvSpPr>
          <p:cNvPr id="584086625" name=""/>
          <p:cNvSpPr/>
          <p:nvPr/>
        </p:nvSpPr>
        <p:spPr bwMode="auto">
          <a:xfrm flipH="0" flipV="0">
            <a:off x="777933" y="6390901"/>
            <a:ext cx="5465919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Both units are displayed for clarity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97369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93448593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Algorithm (Step-by-Step)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 Calibration Algorithm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Initialize OLED and MPU6050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Set gyro range and filter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Ask user to keep robot still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Read gyro Z-axis repeatedly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Accumulate readings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average (bias)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Display bias on OLED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Stop program</a:t>
            </a:r>
            <a:endParaRPr/>
          </a:p>
        </p:txBody>
      </p:sp>
      <p:pic>
        <p:nvPicPr>
          <p:cNvPr id="112642868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2382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6631726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Flowchart</a:t>
            </a:r>
            <a:r>
              <a:rPr sz="2800">
                <a:solidFill>
                  <a:schemeClr val="bg1"/>
                </a:solidFill>
              </a:rPr>
              <a:t> </a:t>
            </a:r>
            <a:endParaRPr/>
          </a:p>
        </p:txBody>
      </p:sp>
      <p:pic>
        <p:nvPicPr>
          <p:cNvPr id="115853184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98834380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875303" y="1290771"/>
            <a:ext cx="2705099" cy="47339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7501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64679325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Code Highlights: 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Setup:</a:t>
            </a:r>
            <a:endParaRPr sz="2800" b="1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Lower range → higher resolution</a:t>
            </a:r>
            <a:endParaRPr sz="24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Filter reduces noise during calibration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Bias Accumulation</a:t>
            </a:r>
            <a:r>
              <a:rPr>
                <a:solidFill>
                  <a:schemeClr val="bg1"/>
                </a:solidFill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Raw gyro data is accumulated</a:t>
            </a:r>
            <a:endParaRPr lang="en-US"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No correction applied yet</a:t>
            </a:r>
            <a:endParaRPr sz="24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Bias Computation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value represents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gyro drift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31894574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38292968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489531" y="1833784"/>
            <a:ext cx="4410074" cy="752474"/>
          </a:xfrm>
          <a:prstGeom prst="rect">
            <a:avLst/>
          </a:prstGeom>
        </p:spPr>
      </p:pic>
      <p:pic>
        <p:nvPicPr>
          <p:cNvPr id="87719025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730906" y="3836705"/>
            <a:ext cx="1800225" cy="466724"/>
          </a:xfrm>
          <a:prstGeom prst="rect">
            <a:avLst/>
          </a:prstGeom>
        </p:spPr>
      </p:pic>
      <p:pic>
        <p:nvPicPr>
          <p:cNvPr id="16731031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3667569" y="5421238"/>
            <a:ext cx="2962274" cy="5238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9550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22969499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OLED Display Role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OLED is Used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Immediate visual feedback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 need for Serial Monitor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Useful in field calibration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Displayed: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Sample count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Bias in rad/s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Bias in deg/s</a:t>
            </a:r>
            <a:endParaRPr/>
          </a:p>
        </p:txBody>
      </p:sp>
      <p:pic>
        <p:nvPicPr>
          <p:cNvPr id="160173787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68960385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056261" y="1175044"/>
            <a:ext cx="3053472" cy="29910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3668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9129422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175044"/>
            <a:ext cx="11023515" cy="55547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Robotics Applications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 This Calibration Helps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correction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Heading estimation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fusion (IMU + Encoder)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 + turning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navigation</a:t>
            </a:r>
            <a:endParaRPr/>
          </a:p>
        </p:txBody>
      </p:sp>
      <p:pic>
        <p:nvPicPr>
          <p:cNvPr id="198777767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98911" name="Title 1"/>
          <p:cNvSpPr>
            <a:spLocks noGrp="1"/>
          </p:cNvSpPr>
          <p:nvPr>
            <p:ph type="title"/>
          </p:nvPr>
        </p:nvSpPr>
        <p:spPr bwMode="auto">
          <a:xfrm>
            <a:off x="197113" y="156098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12639506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7113" y="153068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143178921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478388630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68155298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126493" y="3479257"/>
            <a:ext cx="2545290" cy="2800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835428" name="Title 1"/>
          <p:cNvSpPr>
            <a:spLocks noGrp="1"/>
          </p:cNvSpPr>
          <p:nvPr>
            <p:ph type="title"/>
          </p:nvPr>
        </p:nvSpPr>
        <p:spPr bwMode="auto">
          <a:xfrm>
            <a:off x="194067" y="-19767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Gyroscope Calibration &amp; Bias Estimation</a:t>
            </a:r>
            <a:endParaRPr/>
          </a:p>
        </p:txBody>
      </p:sp>
      <p:sp>
        <p:nvSpPr>
          <p:cNvPr id="11319205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7" y="110339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9630257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515835324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894063672" name=""/>
          <p:cNvSpPr txBox="1"/>
          <p:nvPr/>
        </p:nvSpPr>
        <p:spPr bwMode="auto">
          <a:xfrm flipH="0" flipV="0">
            <a:off x="573716" y="6462759"/>
            <a:ext cx="2862434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Lesson Code – GitHub URL:</a:t>
            </a:r>
            <a:endParaRPr/>
          </a:p>
        </p:txBody>
      </p:sp>
      <p:sp>
        <p:nvSpPr>
          <p:cNvPr id="974819613" name=""/>
          <p:cNvSpPr txBox="1"/>
          <p:nvPr/>
        </p:nvSpPr>
        <p:spPr bwMode="auto">
          <a:xfrm flipH="0" flipV="0">
            <a:off x="4814642" y="6005559"/>
            <a:ext cx="6839894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https://github.com/info-zas/zas-robotics-car-3-encoders-imu-gps/tree/main/01_FoundationProjects/08_Car-3_MPU6050_Gyroscope_Calibration_Offset_OLED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8566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407433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95862000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17</cp:revision>
  <dcterms:created xsi:type="dcterms:W3CDTF">2025-11-29T15:09:33Z</dcterms:created>
  <dcterms:modified xsi:type="dcterms:W3CDTF">2026-01-17T17:00:32Z</dcterms:modified>
</cp:coreProperties>
</file>