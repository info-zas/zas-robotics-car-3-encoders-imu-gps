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0132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79745220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1656763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8012171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051861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2936144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81164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4575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632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7873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6918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846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51184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5747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785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6599F9-CF31-A872-DF27-C26CF4C98D76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2191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1448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9960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722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6534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680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969789-B161-78B5-038D-F965BA432CF2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93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2102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290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966805-5969-97FF-07C9-E55C61D6D72A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8158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08360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635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108B59-3ABF-C479-18D2-40B55C4B1611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041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68848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06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49646-71C4-51A6-FCD5-E37773004921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6196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93787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140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C87FC3-957F-DFCA-C092-65691E03839C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1613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3152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8902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9005B4-9A1A-4247-E5AD-C3219714CFA6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3455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7355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03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8E7953-A1AC-E40F-36D6-F7B1A9512C86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9705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2199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9513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104A24-EB9B-8C27-DDD1-DABBB7DF96FB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4081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5258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506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C450A8-8698-DAF9-A0FF-62A9A3429580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874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14368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24530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E56C69-14EB-2882-0B95-E2D1539CCF9B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9456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28180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120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44278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5426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9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93054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821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72863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24737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2676346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433581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795615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971071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0621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770893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39934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500115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5363834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79445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302533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733985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8045753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147719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373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030633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3350670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053280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769840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921848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85852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978148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283323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0305180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212393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0300577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3730929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9947047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7654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4641879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1751156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222722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6304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6932332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967998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26556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5608710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326155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099594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183623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82062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39254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0021374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31513581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83097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88174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3582162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684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1493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823186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519523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125359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48563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507795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25959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247504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051680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78120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148950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4870053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6531120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04300690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897376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94696892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lang="en-GB" sz="3200">
                <a:solidFill>
                  <a:schemeClr val="bg1"/>
                </a:solidFill>
              </a:rPr>
              <a:t> Car Basic Movements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181395691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3173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Car Basic Movements</a:t>
            </a:r>
            <a:endParaRPr/>
          </a:p>
        </p:txBody>
      </p:sp>
      <p:sp>
        <p:nvSpPr>
          <p:cNvPr id="33794277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79" y="1094929"/>
            <a:ext cx="11023516" cy="571499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Purpose of This Experiment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(Car Basic Movements - Mandatory Experiment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Initial Motor Verification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Verify correct motor wiring, polarity, and direction before advanced experiments.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DC Motor Direction Control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Understand how motor direction is controlled using an H-Bridge motor driver (TB6612).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Speed Control using PWM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Apply PWM signals to regulate motor speed during basic motion testing.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Motion Validation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Confirm forward, backward, left, and right movements on the floor using battery power.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Programming Focus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Arduino Motor Control Code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Write simple and reliable code to directly control motors.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Function-Based Movement Logic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Implement reusable functions for basic car movements.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Insight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Even motors of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same model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may rotate differently due to wiring and manufacturing variation.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movement testing is mandatory before all other robot experiments.</a:t>
            </a:r>
            <a:endParaRPr/>
          </a:p>
        </p:txBody>
      </p:sp>
      <p:pic>
        <p:nvPicPr>
          <p:cNvPr id="66229095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29010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Car Basic Movements</a:t>
            </a:r>
            <a:endParaRPr/>
          </a:p>
        </p:txBody>
      </p:sp>
      <p:sp>
        <p:nvSpPr>
          <p:cNvPr id="12686777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This Test Confirms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By completing this test, students can verify: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 motor polarity (no reverse movement)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Proper left and right motor orientation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Accurate response to PWM speed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 motor driver operation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Students gain confidence in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hardware wiring correctness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errors in: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navigation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Conclusion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 Basic Movements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is a compulsory foundation experiment that ensures correct motor behavior and reliable hardware setup before progressing to advanced robotics applications.</a:t>
            </a:r>
            <a:endParaRPr/>
          </a:p>
        </p:txBody>
      </p:sp>
      <p:pic>
        <p:nvPicPr>
          <p:cNvPr id="84543948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8557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33355214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9823400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16741665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6121" y="1554661"/>
            <a:ext cx="4557756" cy="5014917"/>
          </a:xfrm>
          <a:prstGeom prst="rect">
            <a:avLst/>
          </a:prstGeom>
        </p:spPr>
      </p:pic>
      <p:sp>
        <p:nvSpPr>
          <p:cNvPr id="1596688702" name=""/>
          <p:cNvSpPr/>
          <p:nvPr/>
        </p:nvSpPr>
        <p:spPr bwMode="auto">
          <a:xfrm flipH="0" flipV="0">
            <a:off x="3819812" y="3302593"/>
            <a:ext cx="2020724" cy="195841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1606018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40537" y="1495513"/>
            <a:ext cx="5287710" cy="5127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74506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3" y="-121127"/>
            <a:ext cx="10515600" cy="1103684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39786426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705328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Hardware Architecture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7514159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399580105" name=""/>
          <p:cNvGraphicFramePr>
            <a:graphicFrameLocks xmlns:a="http://schemas.openxmlformats.org/drawingml/2006/main"/>
          </p:cNvGraphicFramePr>
          <p:nvPr/>
        </p:nvGraphicFramePr>
        <p:xfrm>
          <a:off x="535990" y="1142471"/>
          <a:ext cx="10102893" cy="557391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44482"/>
                <a:gridCol w="2735517"/>
                <a:gridCol w="6310193"/>
              </a:tblGrid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No.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 Name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 sz="1600"/>
                    </a:p>
                  </a:txBody>
                  <a:tcPr vert="horz"/>
                </a:tc>
              </a:tr>
              <a:tr h="58986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Magnetometer /Compass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HMC5883L magnetometer sensor used for compass and heading measurement.</a:t>
                      </a:r>
                      <a:endParaRPr sz="1600"/>
                    </a:p>
                  </a:txBody>
                  <a:tcPr vert="horz"/>
                </a:tc>
              </a:tr>
              <a:tr h="56559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Accelerometer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MPU6050 GY-273(IMU) accelerometer sensor used to measure acceleration and tilt.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GPS Antenna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Antenna connection for receiving GPS satellite signals.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GPS Module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NEO-M8N GPS module for position and time data.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module/connector used for displaying robot status and data.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Wheel Motor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wiring the right wheel DC motor.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Nano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Microcontroller board acting as the main controller of the robot.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Power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supplying battery power to the control board.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Power Input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power input jack/connector for external power supply.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Wheel Motor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wiring the left wheel DC motor.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ON/OFF Switch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Switch to turn battery power ON or OFF.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ON/OFF Switch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Switch to enable or disable motor driver power.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TB6612 motor driver module used to drive the DC motors.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Rotary Encoder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Rotary encoder input/device for wheel rotation and position sensing.</a:t>
                      </a:r>
                      <a:endParaRPr sz="16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4412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3" y="-121127"/>
            <a:ext cx="10515600" cy="1103684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9519317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705328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JGA25-371 Motor – Pin Groups, Encoder Details &amp; Comparison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0407363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1750148481" name=""/>
          <p:cNvGraphicFramePr>
            <a:graphicFrameLocks xmlns:a="http://schemas.openxmlformats.org/drawingml/2006/main"/>
          </p:cNvGraphicFramePr>
          <p:nvPr/>
        </p:nvGraphicFramePr>
        <p:xfrm>
          <a:off x="883480" y="1151177"/>
          <a:ext cx="6559392" cy="348741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68121"/>
                <a:gridCol w="1419150"/>
                <a:gridCol w="2317091"/>
                <a:gridCol w="186812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Group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/ Wire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Connected To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(Power)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M+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terminal (+)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TB6612 AO1 / BO1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M−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terminal (−)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TB6612 AO2 / BO2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(Sensor)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VCC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power supply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5V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ground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GND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ENCA_L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wheel pulse output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2 (Interrupt)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ENCB_L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wheel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4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ENCA_R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wheel pulse output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3 (Interrupt)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ENCB_R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wheel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5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329840087" name=""/>
          <p:cNvGraphicFramePr>
            <a:graphicFrameLocks xmlns:a="http://schemas.openxmlformats.org/drawingml/2006/main"/>
          </p:cNvGraphicFramePr>
          <p:nvPr/>
        </p:nvGraphicFramePr>
        <p:xfrm>
          <a:off x="883480" y="5096157"/>
          <a:ext cx="7440678" cy="15671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06982"/>
                <a:gridCol w="2474405"/>
                <a:gridCol w="2946589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Aspect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(via TB6612)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Makes wheel rotate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Measures wheel motion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Power/Current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current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Low-power digital signals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Role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Controls direction &amp;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Provides speed, distance &amp;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Actuator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96571803" name=""/>
          <p:cNvSpPr/>
          <p:nvPr/>
        </p:nvSpPr>
        <p:spPr bwMode="auto">
          <a:xfrm flipH="0" flipV="0">
            <a:off x="883480" y="4638597"/>
            <a:ext cx="2675079" cy="4575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vs Encoder</a:t>
            </a:r>
            <a:endParaRPr/>
          </a:p>
        </p:txBody>
      </p:sp>
      <p:pic>
        <p:nvPicPr>
          <p:cNvPr id="57484512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483481" y="1290768"/>
            <a:ext cx="3072056" cy="13530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862029" name="Title 1"/>
          <p:cNvSpPr>
            <a:spLocks noGrp="1"/>
          </p:cNvSpPr>
          <p:nvPr>
            <p:ph type="title"/>
          </p:nvPr>
        </p:nvSpPr>
        <p:spPr bwMode="auto">
          <a:xfrm>
            <a:off x="185439" y="-37569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77233012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7" y="976600"/>
            <a:ext cx="11609029" cy="580888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Technical Comparison of Robot Car-3 Motors With Other Robot Cars</a:t>
            </a:r>
            <a:endParaRPr/>
          </a:p>
        </p:txBody>
      </p:sp>
      <p:pic>
        <p:nvPicPr>
          <p:cNvPr id="158995802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graphicFrame>
        <p:nvGraphicFramePr>
          <p:cNvPr id="1769550226" name=""/>
          <p:cNvGraphicFramePr>
            <a:graphicFrameLocks xmlns:a="http://schemas.openxmlformats.org/drawingml/2006/main"/>
          </p:cNvGraphicFramePr>
          <p:nvPr/>
        </p:nvGraphicFramePr>
        <p:xfrm>
          <a:off x="616424" y="1396166"/>
          <a:ext cx="5956299" cy="53297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317665"/>
                <a:gridCol w="2317665"/>
                <a:gridCol w="2317665"/>
                <a:gridCol w="2317665"/>
              </a:tblGrid>
              <a:tr h="46395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Parameter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JGA25-371 Motor (Silver)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TT Gear Motor (Yellow)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 JGA25-371 Advantage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DC Geared Motor with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DC Geared Motor (Basic)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Built-in encoder enables smart control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Construction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Metal body (Aluminum alloy)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Plastic housing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More durable &amp; robust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177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Operating Voltage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12V DC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3V – 6V DC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Higher voltage → higher torque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Rated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130 RPM @ 12V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100–200 RPM (varies)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Stable &amp; predictable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6395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 Hall-effect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 No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Real-time speed &amp; position feedback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Closed-loop (PID possible)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Open-loop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accuracy motion control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Torque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(heavy loads)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Moderate (light loads)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Can carry heavier payloads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Durability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(metal gears)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Moderate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Longer lifespan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Gear Ratio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Precision gear reduction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Standard gear reduction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Smoother motion, less backlash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Noise Level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Quieter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Slightly noisy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Better user experience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1651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Accuracy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±1 RPM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±20 RPM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~20× more accurate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6412119" name="Title 1"/>
          <p:cNvSpPr>
            <a:spLocks noGrp="1"/>
          </p:cNvSpPr>
          <p:nvPr>
            <p:ph type="title"/>
          </p:nvPr>
        </p:nvSpPr>
        <p:spPr bwMode="auto">
          <a:xfrm>
            <a:off x="185438" y="-34895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23115785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705324"/>
            <a:ext cx="11609028" cy="589825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Technical Terms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34131125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1182336921" name=""/>
          <p:cNvGraphicFramePr>
            <a:graphicFrameLocks xmlns:a="http://schemas.openxmlformats.org/drawingml/2006/main"/>
          </p:cNvGraphicFramePr>
          <p:nvPr/>
        </p:nvGraphicFramePr>
        <p:xfrm>
          <a:off x="426151" y="1171248"/>
          <a:ext cx="11126051" cy="5154598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62303"/>
                <a:gridCol w="2616404"/>
                <a:gridCol w="3756305"/>
                <a:gridCol w="2778337"/>
              </a:tblGrid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/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What It Represents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Role in Robot Navigation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9803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sensor (optical / magnetic)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Counts wheel rotation pulses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Measures wheel rotation, distance, and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Quadrature 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with A &amp; B channels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Phase difference indicates direction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forward / reverse motion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4123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Odometry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Computation method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Estimation of robot position using wheel motion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Short-distance position tracking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RPM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value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rotations per minute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Used for speed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Linear Velocity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value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Robot speed in m/s or km/h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Motion estimation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Gyroscope (Gyro)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Angular velocity (°/s)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turning rate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Accelerometer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Linear acceleration (m/s²)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motion start, stop, tilt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Magnetometer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Earth’s magnetic field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Absolute heading reference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Compass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w.r.t. North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Global orientation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fusion unit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Gyro + Accel + Magnetometer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Orientation and motion sensing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Heading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Computed angle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Robot orientation angle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Navigation and turning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Drift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Error effect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Accumulated position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Odometry limitation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GPS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Satellite system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Global position (Lat/Lon)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Absolute outdoor positioning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Fusion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Algorithmic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Combining multiple sensors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Improves accuracy &amp; reliability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2764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2" y="8901"/>
            <a:ext cx="10515600" cy="105932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66180724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961400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Hardware Architecture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64732774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638534600" name=""/>
          <p:cNvGraphicFramePr>
            <a:graphicFrameLocks xmlns:a="http://schemas.openxmlformats.org/drawingml/2006/main"/>
          </p:cNvGraphicFramePr>
          <p:nvPr/>
        </p:nvGraphicFramePr>
        <p:xfrm>
          <a:off x="4727803" y="1013136"/>
          <a:ext cx="7219414" cy="710129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50000"/>
                <a:gridCol w="1463929"/>
                <a:gridCol w="2922885"/>
                <a:gridCol w="1531711"/>
              </a:tblGrid>
              <a:tr h="61021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Name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Description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Connected To (in Our Robot)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76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PWMA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PWM_L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(A)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A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6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AIN1 (</a:t>
                      </a:r>
                      <a:r>
                        <a:rPr sz="1200" b="0" i="1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7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AIN2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8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PWMB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(PWM_R)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(B)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B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BIN1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BIN2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10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Standby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Enable/Disable driver (HIGH = enabled)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Usually tied to 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7-12V for motors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External battery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956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Logic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5V from Arduino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5V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Common 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AO1/AO2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A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BO1/BO2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B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pic>
        <p:nvPicPr>
          <p:cNvPr id="97818577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27875" y="2893105"/>
            <a:ext cx="2501051" cy="1682454"/>
          </a:xfrm>
          <a:prstGeom prst="rect">
            <a:avLst/>
          </a:prstGeom>
        </p:spPr>
      </p:pic>
      <p:pic>
        <p:nvPicPr>
          <p:cNvPr id="138457188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427875" y="4712251"/>
            <a:ext cx="3819493" cy="1650762"/>
          </a:xfrm>
          <a:prstGeom prst="rect">
            <a:avLst/>
          </a:prstGeom>
        </p:spPr>
      </p:pic>
      <p:sp>
        <p:nvSpPr>
          <p:cNvPr id="912358773" name=""/>
          <p:cNvSpPr txBox="1"/>
          <p:nvPr/>
        </p:nvSpPr>
        <p:spPr bwMode="auto">
          <a:xfrm flipH="0" flipV="0">
            <a:off x="374463" y="6390394"/>
            <a:ext cx="222376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bg1"/>
                </a:solidFill>
              </a:rPr>
              <a:t>Back View of Driver</a:t>
            </a:r>
            <a:endParaRPr/>
          </a:p>
        </p:txBody>
      </p:sp>
      <p:sp>
        <p:nvSpPr>
          <p:cNvPr id="712180097" name=""/>
          <p:cNvSpPr/>
          <p:nvPr/>
        </p:nvSpPr>
        <p:spPr bwMode="auto">
          <a:xfrm flipH="0" flipV="0">
            <a:off x="250163" y="1463466"/>
            <a:ext cx="4356253" cy="13719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What is TB6612?</a:t>
            </a:r>
            <a:endParaRPr sz="1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(TB6612FNG)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is a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dual H-bridge motor driver</a:t>
            </a:r>
            <a:endParaRPr sz="1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It allows a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microcontroller (Arduino)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control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two DC motors</a:t>
            </a:r>
            <a:endParaRPr sz="14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Controls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direction + speed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safely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3052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2" y="-35460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104962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8" y="961399"/>
            <a:ext cx="11643642" cy="579511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Why TB6612 is Used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pins → logic only (low current)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Motors → high current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safely interfaces logic with power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it works (clear chain)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(decision-maker)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1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Sets the logic pins: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AIN1 / AIN2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Motor A direction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BIN1 / BIN2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Motor B direction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(power stage)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Interprets those logic levels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Internally switches the H-bridge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Reverses current on 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AO1/AO2</a:t>
            </a: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or 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BO1/BO2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Spins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 or reverse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depending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current direction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0887313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504577965" name=""/>
          <p:cNvGraphicFramePr>
            <a:graphicFrameLocks xmlns:a="http://schemas.openxmlformats.org/drawingml/2006/main"/>
          </p:cNvGraphicFramePr>
          <p:nvPr/>
        </p:nvGraphicFramePr>
        <p:xfrm>
          <a:off x="5814711" y="5372214"/>
          <a:ext cx="530859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795654"/>
                <a:gridCol w="810259"/>
                <a:gridCol w="1889759"/>
                <a:gridCol w="180022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Arduino commands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TB6612 does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AO1=HIGH, AO2=LOW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Reverse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AO1=LOW, AO2=HIGH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LOW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HIGH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850218370" name=""/>
          <p:cNvSpPr txBox="1"/>
          <p:nvPr/>
        </p:nvSpPr>
        <p:spPr bwMode="auto">
          <a:xfrm flipH="0" flipV="0">
            <a:off x="5814711" y="5038457"/>
            <a:ext cx="351434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Direction logic (example: Motor A)</a:t>
            </a:r>
            <a:endParaRPr/>
          </a:p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744841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49443281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Choose JGA25-371? (Key Advantages)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1. Encoder Feedback = Smart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Knows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exact speed and position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                                             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    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Detects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stalling &amp; wheel slippage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2. Professional-Level Performance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Used in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industry &amp; research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Repeatable results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Ideal for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competitions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3. Advanced Algorithms Possible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(distance tracking)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planning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SLAM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navigation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		    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Real-World Analogy (Easy to Understand)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Enables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PID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4. Educational Value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systems (PID)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feedback mechanisms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Bridge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theory ↔ real-world robotics</a:t>
            </a:r>
            <a:endParaRPr/>
          </a:p>
        </p:txBody>
      </p:sp>
      <p:pic>
        <p:nvPicPr>
          <p:cNvPr id="10695975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391789063" name=""/>
          <p:cNvGraphicFramePr>
            <a:graphicFrameLocks xmlns:a="http://schemas.openxmlformats.org/drawingml/2006/main"/>
          </p:cNvGraphicFramePr>
          <p:nvPr/>
        </p:nvGraphicFramePr>
        <p:xfrm>
          <a:off x="6035881" y="5016939"/>
          <a:ext cx="5956299" cy="12928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30604"/>
                <a:gridCol w="1930604"/>
                <a:gridCol w="193060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Concept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JGA25-371 Motor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Driving a car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Blindfolded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Eyes open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awareness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Guessing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Speedometer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 method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Open-loop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Closed-loop (auto correction)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6530284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2214991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H-Bridge Controls Motor Direction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Control Truth Table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  <p:pic>
        <p:nvPicPr>
          <p:cNvPr id="163014819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1393182934" name=""/>
          <p:cNvGraphicFramePr>
            <a:graphicFrameLocks xmlns:a="http://schemas.openxmlformats.org/drawingml/2006/main"/>
          </p:cNvGraphicFramePr>
          <p:nvPr/>
        </p:nvGraphicFramePr>
        <p:xfrm>
          <a:off x="1046135" y="1566093"/>
          <a:ext cx="3868419" cy="1411324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65529"/>
                <a:gridCol w="1080135"/>
                <a:gridCol w="171005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Action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➡️ Forward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⬅️ Backward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🛑 Stop (Coast)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🔒 Brake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310061270" name=""/>
          <p:cNvSpPr/>
          <p:nvPr/>
        </p:nvSpPr>
        <p:spPr bwMode="auto">
          <a:xfrm>
            <a:off x="539412" y="3362701"/>
            <a:ext cx="6965622" cy="1036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It Works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IN1 = HIGH, IN2 = LOW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Switches S1 &amp; S4 ON → Current flows one way → Motor spins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IN1 = LOW, IN2 = HIGH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Switches S2 &amp; S3 ON → Current flows opposite way → Motor spins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Both LOW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No current → Motor coasts to stop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Both HIGH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Motor terminals shorted → Active brake</a:t>
            </a:r>
            <a:endParaRPr/>
          </a:p>
        </p:txBody>
      </p:sp>
      <p:pic>
        <p:nvPicPr>
          <p:cNvPr id="171626957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63559" y="353270"/>
            <a:ext cx="4235983" cy="61514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49864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9397538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Code Highlights -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Motor Control Functions</a:t>
            </a:r>
            <a:endParaRPr/>
          </a:p>
        </p:txBody>
      </p:sp>
      <p:pic>
        <p:nvPicPr>
          <p:cNvPr id="79130172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pic>
        <p:nvPicPr>
          <p:cNvPr id="207690151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342036" y="976598"/>
            <a:ext cx="6581774" cy="5753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86233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861923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Code Highlights -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Movement Functions</a:t>
            </a:r>
            <a:endParaRPr/>
          </a:p>
        </p:txBody>
      </p:sp>
      <p:pic>
        <p:nvPicPr>
          <p:cNvPr id="14786962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pic>
        <p:nvPicPr>
          <p:cNvPr id="53632533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159331" y="1287990"/>
            <a:ext cx="5753099" cy="48958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8975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80605678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52604" y="765120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35582833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633046949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164039938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626822" y="3854013"/>
            <a:ext cx="2545290" cy="28001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174723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58970163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8" y="705324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4163563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791080215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470948146" name="TextBox 13"/>
          <p:cNvSpPr txBox="1"/>
          <p:nvPr/>
        </p:nvSpPr>
        <p:spPr bwMode="auto">
          <a:xfrm flipH="0" flipV="0">
            <a:off x="633387" y="6030643"/>
            <a:ext cx="3213850" cy="3965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sz="20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Lesson Code – GitHub URL:</a:t>
            </a:r>
            <a:endParaRPr/>
          </a:p>
        </p:txBody>
      </p:sp>
      <p:sp>
        <p:nvSpPr>
          <p:cNvPr id="751675342" name=""/>
          <p:cNvSpPr txBox="1"/>
          <p:nvPr/>
        </p:nvSpPr>
        <p:spPr bwMode="auto">
          <a:xfrm flipH="0" flipV="0">
            <a:off x="4147002" y="5864907"/>
            <a:ext cx="5892373" cy="9147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https://github.com/info-zas/zas-robotics-car-3-encoders-imu-gps/tree/main/01_FoundationProjects/01_Car-3_Basic_Movements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79173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55478568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175263634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14</cp:revision>
  <dcterms:created xsi:type="dcterms:W3CDTF">2025-11-29T15:09:33Z</dcterms:created>
  <dcterms:modified xsi:type="dcterms:W3CDTF">2026-01-17T16:57:47Z</dcterms:modified>
</cp:coreProperties>
</file>