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64904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4505157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1619317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6374749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9135112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9198236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1668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5153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55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552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111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797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2697BB-424E-5718-8107-6BD576F420E8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3565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93341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8663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969789-B161-78B5-038D-F965BA432CF2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758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14872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500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A4FDE1-3F0C-4337-9D7C-1B70B7216FD1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3958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79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940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6599F9-CF31-A872-DF27-C26CF4C98D76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853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61847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098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966805-5969-97FF-07C9-E55C61D6D72A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581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32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5372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108B59-3ABF-C479-18D2-40B55C4B1611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3107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09510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700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449646-71C4-51A6-FCD5-E37773004921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910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1335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537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C87FC3-957F-DFCA-C092-65691E03839C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1613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152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9890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9005B4-9A1A-4247-E5AD-C3219714CFA6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890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7452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0346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E7953-A1AC-E40F-36D6-F7B1A9512C86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4634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21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004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104A24-EB9B-8C27-DDD1-DABBB7DF96FB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8930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571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66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450A8-8698-DAF9-A0FF-62A9A3429580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648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9236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864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E56C69-14EB-2882-0B95-E2D1539CCF9B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9411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6678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5161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96AE28-1750-FB0A-13D1-D80273FFDC97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8001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280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850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401278-5463-3FBB-39EC-EA3E47386B1E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793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2586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671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32549-8DF2-14CE-32DE-B4134FF987B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47867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7703968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00176696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8430459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561905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4079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337982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1716267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247810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127426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66860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667499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453376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66699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485620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0558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2779909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5048406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531156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2653130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24672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57683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8608230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858977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11611891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4552525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7654485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25524472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966836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4214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3791489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58840848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0000912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3047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04569723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7967676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63008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3212226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7163996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723200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14247866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050619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12859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154707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96174920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92059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37677418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047899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6850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7857816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2135440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0484824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364758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47669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5144006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680810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5525625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093713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39198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472262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7368237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88873316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8529684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718793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2039165140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602037"/>
            <a:ext cx="9144000" cy="19616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Robot Car-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3</a:t>
            </a: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 (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Advanced Autonomy)</a:t>
            </a: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lang="en-GB" sz="3200">
                <a:solidFill>
                  <a:schemeClr val="bg1"/>
                </a:solidFill>
              </a:rPr>
              <a:t> Car Basic Movements</a:t>
            </a:r>
            <a:endParaRPr lang="en-GB" sz="3200">
              <a:solidFill>
                <a:schemeClr val="accent5"/>
              </a:solidFill>
            </a:endParaRPr>
          </a:p>
        </p:txBody>
      </p:sp>
      <p:pic>
        <p:nvPicPr>
          <p:cNvPr id="138696519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56864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3284" y="-35461"/>
            <a:ext cx="10515600" cy="1103685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Car Basic Movements</a:t>
            </a:r>
            <a:endParaRPr/>
          </a:p>
        </p:txBody>
      </p:sp>
      <p:sp>
        <p:nvSpPr>
          <p:cNvPr id="167694578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7850" y="961401"/>
            <a:ext cx="11643644" cy="57951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Car-1 - Assembled view and Creative Board component layout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12950202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pic>
        <p:nvPicPr>
          <p:cNvPr id="34479557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8434" y="1554660"/>
            <a:ext cx="4557756" cy="5014917"/>
          </a:xfrm>
          <a:prstGeom prst="rect">
            <a:avLst/>
          </a:prstGeom>
        </p:spPr>
      </p:pic>
      <p:sp>
        <p:nvSpPr>
          <p:cNvPr id="1638968305" name=""/>
          <p:cNvSpPr/>
          <p:nvPr/>
        </p:nvSpPr>
        <p:spPr bwMode="auto">
          <a:xfrm flipH="0" flipV="0">
            <a:off x="3873223" y="3400513"/>
            <a:ext cx="1967313" cy="19584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3602961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5840536" y="1554660"/>
            <a:ext cx="4914593" cy="47656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05042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3283" y="-121127"/>
            <a:ext cx="10515600" cy="1103684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Car Basic Movements</a:t>
            </a:r>
            <a:endParaRPr/>
          </a:p>
        </p:txBody>
      </p:sp>
      <p:sp>
        <p:nvSpPr>
          <p:cNvPr id="158847838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7849" y="705328"/>
            <a:ext cx="11643643" cy="579511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Hardware Architecture</a:t>
            </a:r>
            <a:endParaRPr lang="en-US" sz="2800" b="1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71234793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  <p:graphicFrame>
        <p:nvGraphicFramePr>
          <p:cNvPr id="938577363" name=""/>
          <p:cNvGraphicFramePr>
            <a:graphicFrameLocks xmlns:a="http://schemas.openxmlformats.org/drawingml/2006/main"/>
          </p:cNvGraphicFramePr>
          <p:nvPr/>
        </p:nvGraphicFramePr>
        <p:xfrm>
          <a:off x="535990" y="1142471"/>
          <a:ext cx="10102893" cy="5573912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044482"/>
                <a:gridCol w="2735517"/>
                <a:gridCol w="6310193"/>
              </a:tblGrid>
              <a:tr h="33258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 </a:t>
                      </a: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No.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 Name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sz="1600"/>
                    </a:p>
                  </a:txBody>
                  <a:tcPr vert="horz"/>
                </a:tc>
              </a:tr>
              <a:tr h="60527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Magnetometer /Compass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HMC5883L magnetometer sensor used for compass and heading measurement.</a:t>
                      </a:r>
                      <a:endParaRPr sz="1600"/>
                    </a:p>
                  </a:txBody>
                  <a:tcPr vert="horz"/>
                </a:tc>
              </a:tr>
              <a:tr h="56563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Accelerometer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MPU6050 GY-273(IMU) accelerometer sensor used to measure acceleration and tilt.</a:t>
                      </a:r>
                      <a:endParaRPr sz="1600"/>
                    </a:p>
                  </a:txBody>
                  <a:tcPr vert="horz"/>
                </a:tc>
              </a:tr>
              <a:tr h="33258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GPS Antenna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Antenna connection for receiving GPS satellite signals.</a:t>
                      </a:r>
                      <a:endParaRPr sz="1600"/>
                    </a:p>
                  </a:txBody>
                  <a:tcPr vert="horz"/>
                </a:tc>
              </a:tr>
              <a:tr h="33258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GPS Module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NEO-M8N GPS module for position and time data.</a:t>
                      </a:r>
                      <a:endParaRPr sz="1600"/>
                    </a:p>
                  </a:txBody>
                  <a:tcPr vert="horz"/>
                </a:tc>
              </a:tr>
              <a:tr h="38727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OLED Display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OLED display module/connector used for displaying robot status and data.</a:t>
                      </a:r>
                      <a:endParaRPr sz="1600"/>
                    </a:p>
                  </a:txBody>
                  <a:tcPr vert="horz"/>
                </a:tc>
              </a:tr>
              <a:tr h="33258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Wheel Motor Connector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Connector for wiring the right wheel DC motor.</a:t>
                      </a:r>
                      <a:endParaRPr sz="1600"/>
                    </a:p>
                  </a:txBody>
                  <a:tcPr vert="horz"/>
                </a:tc>
              </a:tr>
              <a:tr h="38727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Nano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Microcontroller board acting as the main controller of the robot.</a:t>
                      </a:r>
                      <a:endParaRPr sz="1600"/>
                    </a:p>
                  </a:txBody>
                  <a:tcPr vert="horz"/>
                </a:tc>
              </a:tr>
              <a:tr h="33258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Battery Power Connector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Connector for supplying battery power to the control board.</a:t>
                      </a:r>
                      <a:endParaRPr sz="1600"/>
                    </a:p>
                  </a:txBody>
                  <a:tcPr vert="horz"/>
                </a:tc>
              </a:tr>
              <a:tr h="33258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Power Input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Main power input jack/connector for external power supply.</a:t>
                      </a:r>
                      <a:endParaRPr sz="1600"/>
                    </a:p>
                  </a:txBody>
                  <a:tcPr vert="horz"/>
                </a:tc>
              </a:tr>
              <a:tr h="33258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Wheel Motor Connector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Connector for wiring the left wheel DC motor.</a:t>
                      </a:r>
                      <a:endParaRPr sz="1600"/>
                    </a:p>
                  </a:txBody>
                  <a:tcPr vert="horz"/>
                </a:tc>
              </a:tr>
              <a:tr h="33258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Battery ON/OFF Switch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Switch to turn battery power ON or OFF.</a:t>
                      </a:r>
                      <a:endParaRPr sz="1600"/>
                    </a:p>
                  </a:txBody>
                  <a:tcPr vert="horz"/>
                </a:tc>
              </a:tr>
              <a:tr h="33258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ON/OFF Switch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Switch to enable or disable motor driver power.</a:t>
                      </a:r>
                      <a:endParaRPr sz="1600"/>
                    </a:p>
                  </a:txBody>
                  <a:tcPr vert="horz"/>
                </a:tc>
              </a:tr>
              <a:tr h="33258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TB6612 motor driver module used to drive the DC motors.</a:t>
                      </a:r>
                      <a:endParaRPr sz="1600"/>
                    </a:p>
                  </a:txBody>
                  <a:tcPr vert="horz"/>
                </a:tc>
              </a:tr>
              <a:tr h="38727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Rotary Encoder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Rotary encoder input/device for wheel rotation and position sensing.</a:t>
                      </a:r>
                      <a:endParaRPr sz="1600"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8006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6" y="42547"/>
            <a:ext cx="10515600" cy="1132499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Car Basic Movements</a:t>
            </a:r>
            <a:endParaRPr/>
          </a:p>
        </p:txBody>
      </p:sp>
      <p:sp>
        <p:nvSpPr>
          <p:cNvPr id="83437415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9" y="1094929"/>
            <a:ext cx="11023516" cy="571499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Purpose of This Experiment</a:t>
            </a: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(Car Basic Movements - Mandatory Experiment</a:t>
            </a: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Initial Motor Verification</a:t>
            </a:r>
            <a:b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Verify correct motor wiring, polarity, and direction before advanced experiments.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DC Motor Direction Control</a:t>
            </a:r>
            <a:b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Understand how motor direction is controlled using an H-Bridge motor driver (TB6612).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Control using PWM</a:t>
            </a:r>
            <a:b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Apply PWM signals to regulate motor speed during basic motion testing.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 Motion Validation</a:t>
            </a:r>
            <a:b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Confirm forward, backward, left, and right movements on the floor using battery power.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Programming Focus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Basic Arduino Motor Control Code</a:t>
            </a:r>
            <a:b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Write simple and reliable code to directly control motors.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Function-Based Movement Logic</a:t>
            </a:r>
            <a:b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Implement reusable functions for basic car movements.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Key Insight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Even motors of the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same model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may rotate differently due to wiring and manufacturing variation.</a:t>
            </a:r>
            <a:b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Basic movement testing is mandatory before all other robot experiments.</a:t>
            </a:r>
            <a:endParaRPr/>
          </a:p>
        </p:txBody>
      </p:sp>
      <p:pic>
        <p:nvPicPr>
          <p:cNvPr id="165939613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68694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6" y="42547"/>
            <a:ext cx="10515600" cy="1132499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Car Basic Movements</a:t>
            </a:r>
            <a:endParaRPr/>
          </a:p>
        </p:txBody>
      </p:sp>
      <p:sp>
        <p:nvSpPr>
          <p:cNvPr id="172444189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80" y="1175046"/>
            <a:ext cx="11023517" cy="557256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What This Test Confirms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By completing this test, students can verify: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Correct motor polarity (no reverse movement)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Proper left and right motor orientation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Accurate response to PWM speed control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Safe motor driver operation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Learning Outcome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Students gain confidence in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hardware wiring correctness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Prevents errors in: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Line following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Obstacle avoidance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Autonomous navigation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Conclusion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Car Basic Movements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is a compulsory foundation experiment that ensures correct motor behavior and reliable hardware setup before progressing to advanced robotics applications.</a:t>
            </a:r>
            <a:endParaRPr/>
          </a:p>
        </p:txBody>
      </p:sp>
      <p:pic>
        <p:nvPicPr>
          <p:cNvPr id="165739161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09269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3283" y="-121127"/>
            <a:ext cx="10515600" cy="1103684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Car Basic Movements</a:t>
            </a:r>
            <a:endParaRPr/>
          </a:p>
        </p:txBody>
      </p:sp>
      <p:sp>
        <p:nvSpPr>
          <p:cNvPr id="176727076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7849" y="705328"/>
            <a:ext cx="11643643" cy="579511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JGA25-371 Motor – Pin Groups, Encoder Details &amp; Comparison</a:t>
            </a:r>
            <a:endParaRPr lang="en-US" sz="2800" b="1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7735835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  <p:graphicFrame>
        <p:nvGraphicFramePr>
          <p:cNvPr id="506663456" name=""/>
          <p:cNvGraphicFramePr>
            <a:graphicFrameLocks xmlns:a="http://schemas.openxmlformats.org/drawingml/2006/main"/>
          </p:cNvGraphicFramePr>
          <p:nvPr/>
        </p:nvGraphicFramePr>
        <p:xfrm>
          <a:off x="883480" y="1151177"/>
          <a:ext cx="6559392" cy="348741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868121"/>
                <a:gridCol w="1419150"/>
                <a:gridCol w="2317091"/>
                <a:gridCol w="1868121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Pin Group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Pin / Wire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Function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Connected To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(Power)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M+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terminal (+)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TB6612 AO1 / BO1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576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M−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terminal (−)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TB6612 AO2 / BO2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Encoder (Sensor)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VCC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Encoder power supply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5V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576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GND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Encoder ground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GND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ENCA_L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Left wheel pulse output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2 (Interrupt)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576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ENCB_L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Left wheel direction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4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ENCA_R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Right wheel pulse output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3 (Interrupt)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ENCB_R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Right wheel direction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5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  <p:graphicFrame>
        <p:nvGraphicFramePr>
          <p:cNvPr id="804850897" name=""/>
          <p:cNvGraphicFramePr>
            <a:graphicFrameLocks xmlns:a="http://schemas.openxmlformats.org/drawingml/2006/main"/>
          </p:cNvGraphicFramePr>
          <p:nvPr/>
        </p:nvGraphicFramePr>
        <p:xfrm>
          <a:off x="883480" y="5096157"/>
          <a:ext cx="7440678" cy="156717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006982"/>
                <a:gridCol w="2474405"/>
                <a:gridCol w="2946589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Aspect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(via TB6612)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Encoder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Function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Makes wheel rotate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Measures wheel motion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Power/Current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High current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Low-power digital signals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Role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Controls direction &amp; speed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Provides speed, distance &amp; direction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Type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Actuator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Sensor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1299862122" name=""/>
          <p:cNvSpPr/>
          <p:nvPr/>
        </p:nvSpPr>
        <p:spPr bwMode="auto">
          <a:xfrm flipH="0" flipV="0">
            <a:off x="883480" y="4638597"/>
            <a:ext cx="2675079" cy="4575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Motor vs Encoder</a:t>
            </a:r>
            <a:endParaRPr/>
          </a:p>
        </p:txBody>
      </p:sp>
      <p:pic>
        <p:nvPicPr>
          <p:cNvPr id="1206584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8483481" y="1290768"/>
            <a:ext cx="3072056" cy="13530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682996" name="Title 1"/>
          <p:cNvSpPr>
            <a:spLocks noGrp="1"/>
          </p:cNvSpPr>
          <p:nvPr>
            <p:ph type="title"/>
          </p:nvPr>
        </p:nvSpPr>
        <p:spPr bwMode="auto">
          <a:xfrm>
            <a:off x="185439" y="-37569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Car Basic Movements</a:t>
            </a:r>
            <a:endParaRPr/>
          </a:p>
        </p:txBody>
      </p:sp>
      <p:sp>
        <p:nvSpPr>
          <p:cNvPr id="50297072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1367" y="976600"/>
            <a:ext cx="11609029" cy="580888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Technical Comparison of Robot Car-3 Motors With Other Robot Cars</a:t>
            </a:r>
            <a:endParaRPr/>
          </a:p>
        </p:txBody>
      </p:sp>
      <p:pic>
        <p:nvPicPr>
          <p:cNvPr id="26740056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graphicFrame>
        <p:nvGraphicFramePr>
          <p:cNvPr id="978094870" name=""/>
          <p:cNvGraphicFramePr>
            <a:graphicFrameLocks xmlns:a="http://schemas.openxmlformats.org/drawingml/2006/main"/>
          </p:cNvGraphicFramePr>
          <p:nvPr/>
        </p:nvGraphicFramePr>
        <p:xfrm>
          <a:off x="616424" y="1396166"/>
          <a:ext cx="5956299" cy="5329731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317665"/>
                <a:gridCol w="2317665"/>
                <a:gridCol w="2317665"/>
                <a:gridCol w="2317665"/>
              </a:tblGrid>
              <a:tr h="46395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Parameter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JGA25-371 Motor (Silver)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TT Gear Motor (Yellow)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⭐ JGA25-371 Advantage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64008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Type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DC Geared Motor with Encoder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DC Geared Motor (Basic)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Built-in encoder enables smart control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Construction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Metal body (Aluminum alloy)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Plastic housing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More durable &amp; robust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17716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Operating Voltage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12V DC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3V – 6V DC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Higher voltage → higher torque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Rated Speed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130 RPM @ 12V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100–200 RPM (varies)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Stable &amp; predictable speed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6395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Encoder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 Hall-effect encoder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 No encoder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Real-time speed &amp; position feedback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Control Type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Closed-loop (PID possible)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Open-loop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High accuracy motion control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Torque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High (heavy loads)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Moderate (light loads)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Can carry heavier payloads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Durability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High (metal gears)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Moderate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Longer lifespan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Gear Ratio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Precision gear reduction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Standard gear reduction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Smoother motion, less backlash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Noise Level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Quieter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Slightly noisy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Better user experience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1651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Speed Accuracy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±1 RPM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±20 RPM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~20× more accurate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781321" name="Title 1"/>
          <p:cNvSpPr>
            <a:spLocks noGrp="1"/>
          </p:cNvSpPr>
          <p:nvPr>
            <p:ph type="title"/>
          </p:nvPr>
        </p:nvSpPr>
        <p:spPr bwMode="auto">
          <a:xfrm>
            <a:off x="185438" y="-348958"/>
            <a:ext cx="10515600" cy="1325558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Car Basic Movements</a:t>
            </a:r>
            <a:endParaRPr/>
          </a:p>
        </p:txBody>
      </p:sp>
      <p:sp>
        <p:nvSpPr>
          <p:cNvPr id="114073268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1366" y="705324"/>
            <a:ext cx="11609028" cy="589825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Technical Terms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37177111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098"/>
            <a:ext cx="2037717" cy="549225"/>
          </a:xfrm>
          <a:prstGeom prst="rect">
            <a:avLst/>
          </a:prstGeom>
        </p:spPr>
      </p:pic>
      <p:graphicFrame>
        <p:nvGraphicFramePr>
          <p:cNvPr id="1545383838" name=""/>
          <p:cNvGraphicFramePr>
            <a:graphicFrameLocks xmlns:a="http://schemas.openxmlformats.org/drawingml/2006/main"/>
          </p:cNvGraphicFramePr>
          <p:nvPr/>
        </p:nvGraphicFramePr>
        <p:xfrm>
          <a:off x="426151" y="1171248"/>
          <a:ext cx="11126051" cy="5154598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962303"/>
                <a:gridCol w="2616404"/>
                <a:gridCol w="3756305"/>
                <a:gridCol w="2778337"/>
              </a:tblGrid>
              <a:tr h="32327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Term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Sensor / Concept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What It Represents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Role in Robot Navigation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98032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Encoder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Wheel sensor (optical / magnetic)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Counts wheel rotation pulses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Measures wheel rotation, distance, and speed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2327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Quadrature Encoder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Encoder with A &amp; B channels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Phase difference indicates direction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Detects forward / reverse motion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4123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Odometry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Computation method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Estimation of robot position using wheel motion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Short-distance position tracking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2327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RPM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Derived value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Wheel rotations per minute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Used for speed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2327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Linear Velocity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Derived value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Robot speed in m/s or km/h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Motion estimation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2327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Gyroscope (Gyro)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IMU sensor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Angular velocity (°/s)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Detects turning rate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2327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Accelerometer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IMU sensor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Linear acceleration (m/s²)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Detects motion start, stop, tilt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2327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Magnetometer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IMU sensor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Earth’s magnetic field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Absolute heading reference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2327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Compass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Derived concept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Direction w.r.t. North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Global orientation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2327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IMU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Sensor fusion unit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Gyro + Accel + Magnetometer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Orientation and motion sensing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2327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Heading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Computed angle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Robot orientation angle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Navigation and turning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2327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Drift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Error effect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Accumulated position error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Odometry limitation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2327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GPS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Satellite system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Global position (Lat/Lon)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Absolute outdoor positioning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2327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Sensor Fusion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Algorithmic concept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Combining multiple sensors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Improves accuracy &amp; reliability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31051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3282" y="8901"/>
            <a:ext cx="10515600" cy="1059321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Car Basic Movements</a:t>
            </a:r>
            <a:endParaRPr/>
          </a:p>
        </p:txBody>
      </p:sp>
      <p:sp>
        <p:nvSpPr>
          <p:cNvPr id="143252053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7849" y="961400"/>
            <a:ext cx="11643643" cy="579511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Hardware Architecture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4465740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  <p:graphicFrame>
        <p:nvGraphicFramePr>
          <p:cNvPr id="752614864" name=""/>
          <p:cNvGraphicFramePr>
            <a:graphicFrameLocks xmlns:a="http://schemas.openxmlformats.org/drawingml/2006/main"/>
          </p:cNvGraphicFramePr>
          <p:nvPr/>
        </p:nvGraphicFramePr>
        <p:xfrm>
          <a:off x="4727803" y="1013136"/>
          <a:ext cx="7219414" cy="7101296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350000"/>
                <a:gridCol w="1463929"/>
                <a:gridCol w="2922885"/>
                <a:gridCol w="1531711"/>
              </a:tblGrid>
              <a:tr h="610212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Pin Name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Function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Description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Connected To (in Our Robot)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76048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PWMA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PWM_L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Speed Control (A)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PWM input for Motor A speed (0-255)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6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2958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AIN1 (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IN1_L)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Direction (A) Bit 1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A direction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7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2958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AIN2 </a:t>
                      </a:r>
                      <a:r>
                        <a:rPr lang="en-US" sz="1200" b="1" i="0" u="none" strike="noStrike" cap="none" spc="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(</a:t>
                      </a:r>
                      <a:r>
                        <a:rPr lang="en-US" sz="1200" b="0" i="1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IN2_L)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Direction (A) Bit 2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A direction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8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34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PWMB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(PWM_R)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Speed Control (B)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PWM input for Motor B speed (0-255)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11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34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BIN1 </a:t>
                      </a:r>
                      <a:r>
                        <a:rPr lang="en-US" sz="1200" b="1" i="0" u="none" strike="noStrike" cap="none" spc="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(</a:t>
                      </a:r>
                      <a:r>
                        <a:rPr lang="en-US" sz="1200" b="0" i="1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IN1_R)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Direction (B) Bit 1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B direction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12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34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BIN2</a:t>
                      </a:r>
                      <a:r>
                        <a:rPr lang="en-US" sz="1200" b="1" i="0" u="none" strike="noStrike" cap="none" spc="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(</a:t>
                      </a:r>
                      <a:r>
                        <a:rPr lang="en-US" sz="1200" b="0" i="1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IN2_R)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Direction (B) Bit 2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B direction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10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34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STBY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Standby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Enable/Disable driver (HIGH = enabled)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Usually tied to VCC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34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VM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Power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7-12V for motors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External battery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29562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VCC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Logic Power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5V from Arduino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5V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2958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GND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Ground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Common ground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GND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34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AO1/AO2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A Outputs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Connect to Motor A terminals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Left Motor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34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BO1/BO2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B Outputs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Connect to Motor B terminals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Right Motor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  <p:pic>
        <p:nvPicPr>
          <p:cNvPr id="18094483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27875" y="2893105"/>
            <a:ext cx="2501051" cy="1682454"/>
          </a:xfrm>
          <a:prstGeom prst="rect">
            <a:avLst/>
          </a:prstGeom>
        </p:spPr>
      </p:pic>
      <p:pic>
        <p:nvPicPr>
          <p:cNvPr id="138457188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27875" y="4712251"/>
            <a:ext cx="3819493" cy="1650762"/>
          </a:xfrm>
          <a:prstGeom prst="rect">
            <a:avLst/>
          </a:prstGeom>
        </p:spPr>
      </p:pic>
      <p:sp>
        <p:nvSpPr>
          <p:cNvPr id="912358773" name=""/>
          <p:cNvSpPr txBox="1"/>
          <p:nvPr/>
        </p:nvSpPr>
        <p:spPr bwMode="auto">
          <a:xfrm flipH="0" flipV="0">
            <a:off x="374463" y="6390394"/>
            <a:ext cx="222376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</a:rPr>
              <a:t>Back View of Driver</a:t>
            </a:r>
            <a:endParaRPr/>
          </a:p>
        </p:txBody>
      </p:sp>
      <p:sp>
        <p:nvSpPr>
          <p:cNvPr id="712180097" name=""/>
          <p:cNvSpPr/>
          <p:nvPr/>
        </p:nvSpPr>
        <p:spPr bwMode="auto">
          <a:xfrm flipH="0" flipV="0">
            <a:off x="250163" y="1463466"/>
            <a:ext cx="4356253" cy="1371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4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What is TB6612?</a:t>
            </a:r>
            <a:endParaRPr sz="1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239821" indent="-239821">
              <a:buFont typeface="Arial"/>
              <a:buChar char="•"/>
              <a:defRPr/>
            </a:pPr>
            <a:r>
              <a:rPr sz="1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TB6612 (TB6612FNG)</a:t>
            </a:r>
            <a:r>
              <a:rPr sz="1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is a </a:t>
            </a:r>
            <a:r>
              <a:rPr sz="1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dual H-bridge motor driver</a:t>
            </a:r>
            <a:endParaRPr sz="1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239821" indent="-239821">
              <a:buFont typeface="Arial"/>
              <a:buChar char="•"/>
              <a:defRPr/>
            </a:pPr>
            <a:r>
              <a:rPr sz="1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It allows a </a:t>
            </a:r>
            <a:r>
              <a:rPr sz="1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microcontroller (Arduino)</a:t>
            </a:r>
            <a:r>
              <a:rPr sz="1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to control </a:t>
            </a:r>
            <a:r>
              <a:rPr sz="1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two DC motors</a:t>
            </a:r>
            <a:endParaRPr sz="14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239821" indent="-239821">
              <a:buFont typeface="Arial"/>
              <a:buChar char="•"/>
              <a:defRPr/>
            </a:pPr>
            <a:r>
              <a:rPr sz="1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Controls </a:t>
            </a:r>
            <a:r>
              <a:rPr sz="1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direction + speed</a:t>
            </a:r>
            <a:r>
              <a:rPr sz="1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safely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30528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3282" y="-35460"/>
            <a:ext cx="10515600" cy="1103683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Car Basic Movements</a:t>
            </a:r>
            <a:endParaRPr/>
          </a:p>
        </p:txBody>
      </p:sp>
      <p:sp>
        <p:nvSpPr>
          <p:cNvPr id="11049624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7848" y="961399"/>
            <a:ext cx="11643642" cy="579511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Why TB6612 is Used</a:t>
            </a:r>
            <a:endParaRPr sz="2800" b="1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Arduino pins → logic only (low current)</a:t>
            </a:r>
            <a:endParaRPr sz="2800" b="1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Motors → high current</a:t>
            </a:r>
            <a:endParaRPr sz="2800" b="1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TB6612 safely interfaces logic with power</a:t>
            </a:r>
            <a:endParaRPr lang="en-US" sz="2400" b="1" i="0" u="none" strike="noStrike" cap="none" spc="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How it works (clear chain)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0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Arduino (decision-maker)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1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Sets the logic pins: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1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AIN1 / AIN2</a:t>
            </a:r>
            <a:r>
              <a:rPr sz="1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→ Motor A direction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1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BIN1 / BIN2</a:t>
            </a:r>
            <a:r>
              <a:rPr sz="1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→ Motor B direction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TB6612 (power stage)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Interprets those logic levels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Internally switches the H-bridge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Reverses current on </a:t>
            </a:r>
            <a:r>
              <a:rPr sz="20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AO1/AO2</a:t>
            </a: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or </a:t>
            </a:r>
            <a:r>
              <a:rPr sz="20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BO1/BO2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Motor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Spins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forward or reverse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depending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 current direction</a:t>
            </a:r>
            <a:endParaRPr lang="en-US" sz="2400" b="1" i="0" u="none" strike="noStrike" cap="none" spc="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10887313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graphicFrame>
        <p:nvGraphicFramePr>
          <p:cNvPr id="1504577965" name=""/>
          <p:cNvGraphicFramePr>
            <a:graphicFrameLocks xmlns:a="http://schemas.openxmlformats.org/drawingml/2006/main"/>
          </p:cNvGraphicFramePr>
          <p:nvPr/>
        </p:nvGraphicFramePr>
        <p:xfrm>
          <a:off x="5814711" y="5372214"/>
          <a:ext cx="5308599" cy="13842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795654"/>
                <a:gridCol w="810259"/>
                <a:gridCol w="1889759"/>
                <a:gridCol w="1800224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AIN1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AIN2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What Arduino commands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What TB6612 does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Forward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AO1=HIGH, AO2=LOW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Reverse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AO1=LOW, AO2=HIGH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Brake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Both LOW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Brake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Both HIGH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850218370" name=""/>
          <p:cNvSpPr txBox="1"/>
          <p:nvPr/>
        </p:nvSpPr>
        <p:spPr bwMode="auto">
          <a:xfrm flipH="0" flipV="0">
            <a:off x="5814711" y="5038457"/>
            <a:ext cx="35143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Direction logic (example: Motor A)</a:t>
            </a:r>
            <a:endParaRPr/>
          </a:p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960679" name="Title 1"/>
          <p:cNvSpPr>
            <a:spLocks noGrp="1"/>
          </p:cNvSpPr>
          <p:nvPr>
            <p:ph type="title"/>
          </p:nvPr>
        </p:nvSpPr>
        <p:spPr bwMode="auto">
          <a:xfrm>
            <a:off x="185438" y="-37568"/>
            <a:ext cx="10515600" cy="1325558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Car Basic Movements</a:t>
            </a:r>
            <a:endParaRPr/>
          </a:p>
        </p:txBody>
      </p:sp>
      <p:sp>
        <p:nvSpPr>
          <p:cNvPr id="14893916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1366" y="976599"/>
            <a:ext cx="11609028" cy="580888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Choose JGA25-371? (Key Advantages)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1. Encoder Feedback = Smart Control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Knows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exact speed and position</a:t>
            </a: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                                              </a:t>
            </a: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     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Detects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stalling &amp; wheel slippage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2. Professional-Level Performance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Used in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industry &amp; research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Repeatable results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Ideal for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 competitions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3. Advanced Algorithms Possible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Odometry (distance tracking)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Path planning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SLAM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Autonomous navigation</a:t>
            </a: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		    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Real-World Analogy (Easy to Understand)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Enables </a:t>
            </a:r>
            <a:r>
              <a:rPr lang="en-US" sz="28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PID control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4. Educational Value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Learn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control systems (PID)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Understand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feedback mechanisms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Bridge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theory ↔ real-world robotics</a:t>
            </a:r>
            <a:endParaRPr/>
          </a:p>
        </p:txBody>
      </p:sp>
      <p:pic>
        <p:nvPicPr>
          <p:cNvPr id="123918441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098"/>
            <a:ext cx="2037717" cy="549225"/>
          </a:xfrm>
          <a:prstGeom prst="rect">
            <a:avLst/>
          </a:prstGeom>
        </p:spPr>
      </p:pic>
      <p:graphicFrame>
        <p:nvGraphicFramePr>
          <p:cNvPr id="1697765520" name=""/>
          <p:cNvGraphicFramePr>
            <a:graphicFrameLocks xmlns:a="http://schemas.openxmlformats.org/drawingml/2006/main"/>
          </p:cNvGraphicFramePr>
          <p:nvPr/>
        </p:nvGraphicFramePr>
        <p:xfrm>
          <a:off x="6035881" y="5016939"/>
          <a:ext cx="5956299" cy="12928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930604"/>
                <a:gridCol w="1930604"/>
                <a:gridCol w="1930604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Concept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TT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JGA25-371 Motor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Driving a car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Blindfolded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Eyes open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Speed awareness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Guessing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Speedometer</a:t>
                      </a:r>
                      <a:endParaRPr/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Control method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Open-loop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Closed-loop (auto correction)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40778" name="Title 1"/>
          <p:cNvSpPr>
            <a:spLocks noGrp="1"/>
          </p:cNvSpPr>
          <p:nvPr>
            <p:ph type="title"/>
          </p:nvPr>
        </p:nvSpPr>
        <p:spPr bwMode="auto">
          <a:xfrm>
            <a:off x="185438" y="-37568"/>
            <a:ext cx="10515600" cy="1325558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Car Basic Movements</a:t>
            </a:r>
            <a:endParaRPr/>
          </a:p>
        </p:txBody>
      </p:sp>
      <p:sp>
        <p:nvSpPr>
          <p:cNvPr id="203019983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1366" y="976599"/>
            <a:ext cx="11609028" cy="580888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12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How H-Bridge Controls Motor Direction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Motor Control Truth Table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endParaRPr/>
          </a:p>
        </p:txBody>
      </p:sp>
      <p:pic>
        <p:nvPicPr>
          <p:cNvPr id="50327681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098"/>
            <a:ext cx="2037717" cy="549225"/>
          </a:xfrm>
          <a:prstGeom prst="rect">
            <a:avLst/>
          </a:prstGeom>
        </p:spPr>
      </p:pic>
      <p:graphicFrame>
        <p:nvGraphicFramePr>
          <p:cNvPr id="1745774005" name=""/>
          <p:cNvGraphicFramePr>
            <a:graphicFrameLocks xmlns:a="http://schemas.openxmlformats.org/drawingml/2006/main"/>
          </p:cNvGraphicFramePr>
          <p:nvPr/>
        </p:nvGraphicFramePr>
        <p:xfrm>
          <a:off x="1046135" y="1566093"/>
          <a:ext cx="3868419" cy="1411324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065529"/>
                <a:gridCol w="1080135"/>
                <a:gridCol w="1710054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Action</a:t>
                      </a:r>
                      <a:endParaRPr/>
                    </a:p>
                  </a:txBody>
                  <a:tcPr vert="horz"/>
                </a:tc>
              </a:tr>
              <a:tr h="28107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➡️ Forward</a:t>
                      </a:r>
                      <a:endParaRPr/>
                    </a:p>
                  </a:txBody>
                  <a:tcPr vert="horz"/>
                </a:tc>
              </a:tr>
              <a:tr h="28107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⬅️ Backward</a:t>
                      </a:r>
                      <a:endParaRPr/>
                    </a:p>
                  </a:txBody>
                  <a:tcPr vert="horz"/>
                </a:tc>
              </a:tr>
              <a:tr h="28107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🛑 Stop (Coast)</a:t>
                      </a:r>
                      <a:endParaRPr/>
                    </a:p>
                  </a:txBody>
                  <a:tcPr vert="horz"/>
                </a:tc>
              </a:tr>
              <a:tr h="28107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🔒 Brake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1449425391" name=""/>
          <p:cNvSpPr/>
          <p:nvPr/>
        </p:nvSpPr>
        <p:spPr bwMode="auto">
          <a:xfrm>
            <a:off x="539412" y="3362701"/>
            <a:ext cx="6965622" cy="1036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How It Works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IN1 = HIGH, IN2 = LOW</a:t>
            </a:r>
            <a:r>
              <a:rPr sz="12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Switches S1 &amp; S4 ON → Current flows one way → Motor spins </a:t>
            </a:r>
            <a:r>
              <a:rPr sz="12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Forward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IN1 = LOW, IN2 = HIGH</a:t>
            </a:r>
            <a:r>
              <a:rPr sz="12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Switches S2 &amp; S3 ON → Current flows opposite way → Motor spins </a:t>
            </a:r>
            <a:r>
              <a:rPr sz="12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Backward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Both LOW</a:t>
            </a:r>
            <a:r>
              <a:rPr sz="12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No current → Motor coasts to stop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Both HIGH</a:t>
            </a:r>
            <a:r>
              <a:rPr sz="12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Motor terminals shorted → Active brake</a:t>
            </a:r>
            <a:endParaRPr/>
          </a:p>
        </p:txBody>
      </p:sp>
      <p:pic>
        <p:nvPicPr>
          <p:cNvPr id="6844329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363559" y="353270"/>
            <a:ext cx="4235983" cy="61514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969390" name="Title 1"/>
          <p:cNvSpPr>
            <a:spLocks noGrp="1"/>
          </p:cNvSpPr>
          <p:nvPr>
            <p:ph type="title"/>
          </p:nvPr>
        </p:nvSpPr>
        <p:spPr bwMode="auto">
          <a:xfrm>
            <a:off x="185438" y="-37568"/>
            <a:ext cx="10515600" cy="1325558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Car Basic Movements</a:t>
            </a:r>
            <a:endParaRPr/>
          </a:p>
        </p:txBody>
      </p:sp>
      <p:sp>
        <p:nvSpPr>
          <p:cNvPr id="90031233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1366" y="976599"/>
            <a:ext cx="11609028" cy="580888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Code Highlights -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Motor Control Functions</a:t>
            </a:r>
            <a:endParaRPr/>
          </a:p>
        </p:txBody>
      </p:sp>
      <p:pic>
        <p:nvPicPr>
          <p:cNvPr id="116411829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098"/>
            <a:ext cx="2037717" cy="549225"/>
          </a:xfrm>
          <a:prstGeom prst="rect">
            <a:avLst/>
          </a:prstGeom>
        </p:spPr>
      </p:pic>
      <p:pic>
        <p:nvPicPr>
          <p:cNvPr id="162322509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342036" y="976598"/>
            <a:ext cx="6581774" cy="57530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501290" name="Title 1"/>
          <p:cNvSpPr>
            <a:spLocks noGrp="1"/>
          </p:cNvSpPr>
          <p:nvPr>
            <p:ph type="title"/>
          </p:nvPr>
        </p:nvSpPr>
        <p:spPr bwMode="auto">
          <a:xfrm>
            <a:off x="185438" y="-37568"/>
            <a:ext cx="10515600" cy="1325558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Car Basic Movements</a:t>
            </a:r>
            <a:endParaRPr/>
          </a:p>
        </p:txBody>
      </p:sp>
      <p:sp>
        <p:nvSpPr>
          <p:cNvPr id="48834015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1366" y="976599"/>
            <a:ext cx="11609028" cy="580888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12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Code Highlights -</a:t>
            </a:r>
            <a:r>
              <a:rPr sz="12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Movement Functions</a:t>
            </a:r>
            <a:endParaRPr/>
          </a:p>
        </p:txBody>
      </p:sp>
      <p:pic>
        <p:nvPicPr>
          <p:cNvPr id="183744653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098"/>
            <a:ext cx="2037717" cy="549225"/>
          </a:xfrm>
          <a:prstGeom prst="rect">
            <a:avLst/>
          </a:prstGeom>
        </p:spPr>
      </p:pic>
      <p:pic>
        <p:nvPicPr>
          <p:cNvPr id="158789332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159331" y="1287990"/>
            <a:ext cx="5753099" cy="48958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269074" name="Title 1"/>
          <p:cNvSpPr>
            <a:spLocks noGrp="1"/>
          </p:cNvSpPr>
          <p:nvPr>
            <p:ph type="title"/>
          </p:nvPr>
        </p:nvSpPr>
        <p:spPr bwMode="auto">
          <a:xfrm>
            <a:off x="295034" y="-23206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Car Basic Movements</a:t>
            </a:r>
            <a:endParaRPr/>
          </a:p>
        </p:txBody>
      </p:sp>
      <p:sp>
        <p:nvSpPr>
          <p:cNvPr id="12056443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52604" y="765120"/>
            <a:ext cx="11196689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Critical Programming Setup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MANDATORY Switch Settings Before Uploading Code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connecting USB and uploading program: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“Motor Driver ON/OFF”  Switch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OFF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Prevents motors from running during code upload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Avoids car moving unexpectedly on desk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Protects USB connection from power surges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</p:txBody>
      </p:sp>
      <p:pic>
        <p:nvPicPr>
          <p:cNvPr id="74372135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1233579248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pic>
        <p:nvPicPr>
          <p:cNvPr id="164039938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8626822" y="3854013"/>
            <a:ext cx="2545290" cy="2800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268114" name="Title 1"/>
          <p:cNvSpPr>
            <a:spLocks noGrp="1"/>
          </p:cNvSpPr>
          <p:nvPr>
            <p:ph type="title"/>
          </p:nvPr>
        </p:nvSpPr>
        <p:spPr bwMode="auto">
          <a:xfrm>
            <a:off x="295034" y="-23206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Car Basic Movements</a:t>
            </a:r>
            <a:endParaRPr/>
          </a:p>
        </p:txBody>
      </p:sp>
      <p:sp>
        <p:nvSpPr>
          <p:cNvPr id="97600490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94068" y="705324"/>
            <a:ext cx="11620618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During Programming (Code Upload):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Connect USB cable to computer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 -&gt;for batter power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Upload your the respective program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Wait for "Upload Complete" message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Disconnect USB cable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Testing (Running the Robot):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Place robot on the ground. No obstacle as this test for basic movements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-&gt;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 (  motor driver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ON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8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ON -&gt; for batter power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Monitor the Robot car-3 Movements &amp; OLED , Monitior the functionality according to the program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42519204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966482907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1470948146" name="TextBox 13"/>
          <p:cNvSpPr txBox="1"/>
          <p:nvPr/>
        </p:nvSpPr>
        <p:spPr bwMode="auto">
          <a:xfrm flipH="0" flipV="0">
            <a:off x="633387" y="6030643"/>
            <a:ext cx="3213850" cy="3965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20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Lesson Code – GitHub URL:</a:t>
            </a:r>
            <a:endParaRPr/>
          </a:p>
        </p:txBody>
      </p:sp>
      <p:sp>
        <p:nvSpPr>
          <p:cNvPr id="751675342" name=""/>
          <p:cNvSpPr txBox="1"/>
          <p:nvPr/>
        </p:nvSpPr>
        <p:spPr bwMode="auto">
          <a:xfrm flipH="0" flipV="0">
            <a:off x="4147002" y="5864907"/>
            <a:ext cx="5892373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https://github.com/info-zas/zas-robotics-car-3-encoders-imu-gps/tree/main/01_FoundationProjects/01_Car-3_Basic_Movements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6873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2536884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Q&amp;A</a:t>
            </a:r>
            <a:endParaRPr/>
          </a:p>
        </p:txBody>
      </p:sp>
      <p:sp>
        <p:nvSpPr>
          <p:cNvPr id="163012157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Invite Questions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Encourage the audience to ask questions for further clarification or discussion.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lang="en-GB">
              <a:solidFill>
                <a:schemeClr val="bg1"/>
              </a:solidFill>
            </a:endParaRPr>
          </a:p>
        </p:txBody>
      </p:sp>
      <p:pic>
        <p:nvPicPr>
          <p:cNvPr id="110324533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14</cp:revision>
  <dcterms:created xsi:type="dcterms:W3CDTF">2025-11-29T15:09:33Z</dcterms:created>
  <dcterms:modified xsi:type="dcterms:W3CDTF">2026-01-17T22:57:24Z</dcterms:modified>
</cp:coreProperties>
</file>