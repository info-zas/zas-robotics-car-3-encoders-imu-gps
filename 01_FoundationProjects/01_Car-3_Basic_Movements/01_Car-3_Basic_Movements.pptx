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7.xml" ContentType="application/vnd.openxmlformats-officedocument.presentationml.notesSlid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385081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47734988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1019472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59237799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1861924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74694090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81700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7911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414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42299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08510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9373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4FDE1-3F0C-4337-9D7C-1B70B7216FD1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2902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45270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410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6599F9-CF31-A872-DF27-C26CF4C98D76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25224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9853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0771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B2697BB-424E-5718-8107-6BD576F420E8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4720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13737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780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969789-B161-78B5-038D-F965BA432CF2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81887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4848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4418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966805-5969-97FF-07C9-E55C61D6D72A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19077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3647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4713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108B59-3ABF-C479-18D2-40B55C4B1611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45667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38786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66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449646-71C4-51A6-FCD5-E37773004921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19154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41213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400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C87FC3-957F-DFCA-C092-65691E03839C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1613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3152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8902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9005B4-9A1A-4247-E5AD-C3219714CFA6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92603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06280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8786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A8E7953-A1AC-E40F-36D6-F7B1A9512C86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39244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5246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72803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104A24-EB9B-8C27-DDD1-DABBB7DF96FB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37425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25700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3231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C450A8-8698-DAF9-A0FF-62A9A3429580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8299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16970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7713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7E56C69-14EB-2882-0B95-E2D1539CCF9B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48646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175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037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6AE28-1750-FB0A-13D1-D80273FFDC97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46637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3017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81335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401278-5463-3FBB-39EC-EA3E47386B1E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00896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69210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0319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164692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6672545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65303356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69440221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113414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7771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3150719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0860751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63215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985514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696016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219879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938952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04733779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4259951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93592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3622911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4605677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7741122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3247744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1387889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9162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147936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0018963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25776176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1017020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6788301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516425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8988270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58027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0591677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99623277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339032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66927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39961824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6988660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59811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2278727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0020673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3412134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9198798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6319650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19693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0914610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4735733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1226452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8701536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7603151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5942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1109642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9953698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7381812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126364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488078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6526987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3093211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8596651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8953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634721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8538255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7681351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0090703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99820216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677296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903551271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9" y="3602037"/>
            <a:ext cx="9144000" cy="196162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Robot Car-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3</a:t>
            </a: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 (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Advanced Autonomy)</a:t>
            </a: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lang="en-GB" sz="3200">
                <a:solidFill>
                  <a:schemeClr val="bg1"/>
                </a:solidFill>
              </a:rPr>
              <a:t> Car Basic Movements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75949412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14066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6" y="42547"/>
            <a:ext cx="10515600" cy="1132499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 Car Basic Movements</a:t>
            </a:r>
            <a:endParaRPr/>
          </a:p>
        </p:txBody>
      </p:sp>
      <p:sp>
        <p:nvSpPr>
          <p:cNvPr id="74939624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30279" y="1094929"/>
            <a:ext cx="11023516" cy="571499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5000" lnSpcReduction="5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Purpose of This Experiment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(Car Basic Movements - Mandatory Experiment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Initial Motor Verification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Verify correct motor wiring, polarity, and direction before advanced experiments.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DC Motor Direction Control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Understand how motor direction is controlled using an H-Bridge motor driver (TB6612).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Speed Control using PWM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Apply PWM signals to regulate motor speed during basic motion testing.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Motion Validation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Confirm forward, backward, left, and right movements on the floor using battery power.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Programming Focus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Basic Arduino Motor Control Code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Write simple and reliable code to directly control motors.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Function-Based Movement Logic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Implement reusable functions for basic car movements.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Key Insight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Even motors of the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same model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may rotate differently due to wiring and manufacturing variation.</a:t>
            </a:r>
            <a:b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Basic movement testing is mandatory before all other robot experiments.</a:t>
            </a:r>
            <a:endParaRPr/>
          </a:p>
        </p:txBody>
      </p:sp>
      <p:pic>
        <p:nvPicPr>
          <p:cNvPr id="87973942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149968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393106" y="42547"/>
            <a:ext cx="10515600" cy="1132499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Car Basic Movements</a:t>
            </a:r>
            <a:endParaRPr/>
          </a:p>
        </p:txBody>
      </p:sp>
      <p:sp>
        <p:nvSpPr>
          <p:cNvPr id="55323837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30280" y="1175046"/>
            <a:ext cx="11023517" cy="55725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75000" lnSpcReduction="5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What This Test Confirms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By completing this test, students can verify: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Correct motor polarity (no reverse movement)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Proper left and right motor orientation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Accurate response to PWM speed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Safe motor driver operation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Learning Outcome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Students gain confidence in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hardware wiring correctness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errors in: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Line following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Obstacle avoidance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Autonomous navigation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Conclusion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Car Basic Movements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is a compulsory foundation experiment that ensures correct motor behavior and reliable hardware setup before progressing to advanced robotics applications.</a:t>
            </a:r>
            <a:endParaRPr/>
          </a:p>
        </p:txBody>
      </p:sp>
      <p:pic>
        <p:nvPicPr>
          <p:cNvPr id="49843387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89232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4" y="-35461"/>
            <a:ext cx="10515600" cy="1103685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Car Basic Movements</a:t>
            </a:r>
            <a:endParaRPr/>
          </a:p>
        </p:txBody>
      </p:sp>
      <p:sp>
        <p:nvSpPr>
          <p:cNvPr id="102000898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50" y="961401"/>
            <a:ext cx="11643644" cy="57951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Car-1 -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95813990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pic>
        <p:nvPicPr>
          <p:cNvPr id="138188821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526121" y="1554661"/>
            <a:ext cx="4557756" cy="5014917"/>
          </a:xfrm>
          <a:prstGeom prst="rect">
            <a:avLst/>
          </a:prstGeom>
        </p:spPr>
      </p:pic>
      <p:sp>
        <p:nvSpPr>
          <p:cNvPr id="544991100" name=""/>
          <p:cNvSpPr/>
          <p:nvPr/>
        </p:nvSpPr>
        <p:spPr bwMode="auto">
          <a:xfrm flipH="0" flipV="0">
            <a:off x="3819812" y="3302593"/>
            <a:ext cx="2020724" cy="195841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42864191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40537" y="1495513"/>
            <a:ext cx="5287710" cy="51274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035527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3" y="-121127"/>
            <a:ext cx="10515600" cy="1103684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35394969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49" y="705328"/>
            <a:ext cx="11643643" cy="579511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Hardware Architecture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50806034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225891540" name=""/>
          <p:cNvGraphicFramePr>
            <a:graphicFrameLocks xmlns:a="http://schemas.openxmlformats.org/drawingml/2006/main"/>
          </p:cNvGraphicFramePr>
          <p:nvPr/>
        </p:nvGraphicFramePr>
        <p:xfrm>
          <a:off x="535990" y="1142471"/>
          <a:ext cx="10102893" cy="5573912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044482"/>
                <a:gridCol w="2735517"/>
                <a:gridCol w="6310193"/>
              </a:tblGrid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lang="en-US"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 </a:t>
                      </a: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No.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 Name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 sz="1600"/>
                    </a:p>
                  </a:txBody>
                  <a:tcPr vert="horz"/>
                </a:tc>
              </a:tr>
              <a:tr h="58986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Magnetometer /Compass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HMC5883L magnetometer sensor used for compass and heading measurement.</a:t>
                      </a:r>
                      <a:endParaRPr sz="1600"/>
                    </a:p>
                  </a:txBody>
                  <a:tcPr vert="horz"/>
                </a:tc>
              </a:tr>
              <a:tr h="56559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Accelerometer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MPU6050 GY-273(IMU) accelerometer sensor used to measure acceleration and tilt.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GPS Antenna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Antenna connection for receiving GPS satellite signals.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GPS Module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NEO-M8N GPS module for position and time data.</a:t>
                      </a:r>
                      <a:endParaRPr sz="1600"/>
                    </a:p>
                  </a:txBody>
                  <a:tcPr vert="horz"/>
                </a:tc>
              </a:tr>
              <a:tr h="40140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 module/connector used for displaying robot status and data.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Wheel Motor Connector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Connector for wiring the right wheel DC motor.</a:t>
                      </a:r>
                      <a:endParaRPr sz="1600"/>
                    </a:p>
                  </a:txBody>
                  <a:tcPr vert="horz"/>
                </a:tc>
              </a:tr>
              <a:tr h="40140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Nano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Microcontroller board acting as the main controller of the robot.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Battery Power Connector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Connector for supplying battery power to the control board.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Power Input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Main power input jack/connector for external power supply.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Wheel Motor Connector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Connector for wiring the left wheel DC motor.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Battery ON/OFF Switch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Switch to turn battery power ON or OFF.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12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ON/OFF Switch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Switch to enable or disable motor driver power.</a:t>
                      </a:r>
                      <a:endParaRPr sz="1600"/>
                    </a:p>
                  </a:txBody>
                  <a:tcPr vert="horz"/>
                </a:tc>
              </a:tr>
              <a:tr h="33255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13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TB6612 motor driver module used to drive the DC motors.</a:t>
                      </a:r>
                      <a:endParaRPr sz="1600"/>
                    </a:p>
                  </a:txBody>
                  <a:tcPr vert="horz"/>
                </a:tc>
              </a:tr>
              <a:tr h="40140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Rotary Encoder</a:t>
                      </a:r>
                      <a:endParaRPr sz="1600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6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Rotary encoder input/device for wheel rotation and position sensing.</a:t>
                      </a:r>
                      <a:endParaRPr sz="1600"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92241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3" y="-121127"/>
            <a:ext cx="10515600" cy="1103684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02263440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49" y="705328"/>
            <a:ext cx="11643643" cy="579511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JGA25-371 Motor – Pin Groups, Encoder Details &amp; Comparison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09032507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745865683" name=""/>
          <p:cNvGraphicFramePr>
            <a:graphicFrameLocks xmlns:a="http://schemas.openxmlformats.org/drawingml/2006/main"/>
          </p:cNvGraphicFramePr>
          <p:nvPr/>
        </p:nvGraphicFramePr>
        <p:xfrm>
          <a:off x="883480" y="1151177"/>
          <a:ext cx="6559392" cy="348741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68121"/>
                <a:gridCol w="1419150"/>
                <a:gridCol w="2317091"/>
                <a:gridCol w="1868121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Pin Group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Pin / Wire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Function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Connected To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(Power)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M+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terminal (+)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TB6612 AO1 / BO1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576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M−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terminal (−)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TB6612 AO2 / BO2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(Sensor)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VCC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power supply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5V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576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GND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ground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GND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ENCA_L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Left wheel pulse output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2 (Interrupt)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6576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ENCB_L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Left wheel direction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4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ENCA_R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Right wheel pulse output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3 (Interrupt)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ENCB_R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Right wheel direction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5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1768350028" name=""/>
          <p:cNvGraphicFramePr>
            <a:graphicFrameLocks xmlns:a="http://schemas.openxmlformats.org/drawingml/2006/main"/>
          </p:cNvGraphicFramePr>
          <p:nvPr/>
        </p:nvGraphicFramePr>
        <p:xfrm>
          <a:off x="883480" y="5096157"/>
          <a:ext cx="7440678" cy="156717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006982"/>
                <a:gridCol w="2474405"/>
                <a:gridCol w="2946589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Aspect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(via TB6612)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Function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Makes wheel rotate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Measures wheel motion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Power/Current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High current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Low-power digital signals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Role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Controls direction &amp; speed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Provides speed, distance &amp; direction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Type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Actuator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757188528" name=""/>
          <p:cNvSpPr/>
          <p:nvPr/>
        </p:nvSpPr>
        <p:spPr bwMode="auto">
          <a:xfrm flipH="0" flipV="0">
            <a:off x="883480" y="4638597"/>
            <a:ext cx="2675079" cy="4575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vs Encoder</a:t>
            </a:r>
            <a:endParaRPr/>
          </a:p>
        </p:txBody>
      </p:sp>
      <p:pic>
        <p:nvPicPr>
          <p:cNvPr id="1424133035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8483481" y="1290768"/>
            <a:ext cx="3072056" cy="13530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612885" name="Title 1"/>
          <p:cNvSpPr>
            <a:spLocks noGrp="1"/>
          </p:cNvSpPr>
          <p:nvPr>
            <p:ph type="title"/>
          </p:nvPr>
        </p:nvSpPr>
        <p:spPr bwMode="auto">
          <a:xfrm>
            <a:off x="185439" y="-37569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34148682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7" y="976600"/>
            <a:ext cx="11609029" cy="580888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Technical Comparison of Robot Car-3 Motors With Other Robot Cars</a:t>
            </a:r>
            <a:endParaRPr/>
          </a:p>
        </p:txBody>
      </p:sp>
      <p:pic>
        <p:nvPicPr>
          <p:cNvPr id="193767020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graphicFrame>
        <p:nvGraphicFramePr>
          <p:cNvPr id="642810608" name=""/>
          <p:cNvGraphicFramePr>
            <a:graphicFrameLocks xmlns:a="http://schemas.openxmlformats.org/drawingml/2006/main"/>
          </p:cNvGraphicFramePr>
          <p:nvPr/>
        </p:nvGraphicFramePr>
        <p:xfrm>
          <a:off x="616424" y="1396166"/>
          <a:ext cx="5956299" cy="532973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317665"/>
                <a:gridCol w="2317665"/>
                <a:gridCol w="2317665"/>
                <a:gridCol w="2317665"/>
              </a:tblGrid>
              <a:tr h="46395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Parameter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JGA25-371 Motor (Silver)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TT Gear Motor (Yellow)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⭐ JGA25-371 Advantage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64008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Type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DC Geared Motor with Encoder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DC Geared Motor (Basic)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Built-in encoder enables smart control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Construction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Metal body (Aluminum alloy)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Plastic housing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More durable &amp; robust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1771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Operating Voltage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12V DC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3V – 6V DC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Higher voltage → higher torque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Rated Speed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130 RPM @ 12V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100–200 RPM (varies)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Stable &amp; predictable speed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6395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 Hall-effect encoder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 No encoder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Real-time speed &amp; position feedback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Control Type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Closed-loop (PID possible)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Open-loop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High accuracy motion control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Torque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High (heavy loads)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Moderate (light loads)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Can carry heavier payloads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Durability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High (metal gears)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Moderate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Longer lifespan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Gear Ratio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Precision gear reduction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Standard gear reduction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Smoother motion, less backlash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Noise Level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Quieter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Slightly noisy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Better user experience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1651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Speed Accuracy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±1 RPM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±20 RPM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~20× more accurate</a:t>
                      </a:r>
                      <a:endParaRPr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574111" name="Title 1"/>
          <p:cNvSpPr>
            <a:spLocks noGrp="1"/>
          </p:cNvSpPr>
          <p:nvPr>
            <p:ph type="title"/>
          </p:nvPr>
        </p:nvSpPr>
        <p:spPr bwMode="auto">
          <a:xfrm>
            <a:off x="185438" y="-348958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64838310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6" y="705324"/>
            <a:ext cx="11609028" cy="589825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Technical Terms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70144938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8"/>
            <a:ext cx="2037717" cy="549225"/>
          </a:xfrm>
          <a:prstGeom prst="rect">
            <a:avLst/>
          </a:prstGeom>
        </p:spPr>
      </p:pic>
      <p:graphicFrame>
        <p:nvGraphicFramePr>
          <p:cNvPr id="1080315722" name=""/>
          <p:cNvGraphicFramePr>
            <a:graphicFrameLocks xmlns:a="http://schemas.openxmlformats.org/drawingml/2006/main"/>
          </p:cNvGraphicFramePr>
          <p:nvPr/>
        </p:nvGraphicFramePr>
        <p:xfrm>
          <a:off x="426151" y="1171248"/>
          <a:ext cx="11126051" cy="5154598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962303"/>
                <a:gridCol w="2616404"/>
                <a:gridCol w="3756305"/>
                <a:gridCol w="2778337"/>
              </a:tblGrid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Term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 / Concept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What It Represents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Role in Robot Navigation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98032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Wheel sensor (optical / magnetic)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Counts wheel rotation pulses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Measures wheel rotation, distance, and speed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Quadrature Encoder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Encoder with A &amp; B channels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Phase difference indicates direction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Detects forward / reverse motion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4123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Odometry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Computation method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Estimation of robot position using wheel motion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Short-distance position tracking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RPM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Derived value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Wheel rotations per minute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Used for speed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Linear Velocity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Derived value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Robot speed in m/s or km/h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Motion estimation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Gyroscope (Gyro)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IMU sensor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Angular velocity (°/s)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Detects turning rate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Accelerometer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IMU sensor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Linear acceleration (m/s²)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Detects motion start, stop, tilt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Magnetometer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IMU sensor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Earth’s magnetic field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Absolute heading reference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Compass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Derived concept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w.r.t. North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Global orientation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IMU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 fusion unit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Gyro + Accel + Magnetometer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Orientation and motion sensing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Heading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Computed angle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Robot orientation angle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Navigation and turning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Drift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Error effect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Accumulated position error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Odometry limitation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GPS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Satellite system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Global position (Lat/Lon)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Absolute outdoor positioning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3279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Sensor Fusion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Algorithmic concept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Combining multiple sensors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Improves accuracy &amp; reliability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1353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2" y="8901"/>
            <a:ext cx="10515600" cy="105932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69020423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49" y="961400"/>
            <a:ext cx="11643643" cy="579511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Hardware Architecture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6816862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2051597664" name=""/>
          <p:cNvGraphicFramePr>
            <a:graphicFrameLocks xmlns:a="http://schemas.openxmlformats.org/drawingml/2006/main"/>
          </p:cNvGraphicFramePr>
          <p:nvPr/>
        </p:nvGraphicFramePr>
        <p:xfrm>
          <a:off x="4727803" y="1013136"/>
          <a:ext cx="7219414" cy="7101296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350000"/>
                <a:gridCol w="1463929"/>
                <a:gridCol w="2922885"/>
                <a:gridCol w="1531711"/>
              </a:tblGrid>
              <a:tr h="610212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Pin Name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Function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Description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Connected To (in Our Robot)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7604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PWMA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PWM_L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Speed Control (A)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 input for Motor A speed (0-255)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6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958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AIN1 (</a:t>
                      </a:r>
                      <a:r>
                        <a:rPr sz="1200" b="0" i="1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IN1_L)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(A) Bit 1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A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7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958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AIN2 </a:t>
                      </a: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lang="en-US" sz="12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IN2_L)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(A) Bit 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A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8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PWMB</a:t>
                      </a:r>
                      <a:r>
                        <a:rPr sz="1200" b="0" i="0" u="none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(PWM_R)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Speed Control (B)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PWM input for Motor B speed (0-255)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11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BIN1 </a:t>
                      </a: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lang="en-US" sz="12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IN1_R)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(B) Bit 1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B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12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BIN2</a:t>
                      </a: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(</a:t>
                      </a:r>
                      <a:r>
                        <a:rPr lang="en-US" sz="12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IN2_R)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Direction (B) Bit 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B direction control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Pin 10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STBY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Standby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Enable/Disable driver (HIGH = enabled)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Usually tied to VCC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VM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Power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7-12V for motors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External battery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29562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VCC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Logic Power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5V from Arduino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5V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32958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Ground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Common ground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Arduino GND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AO1/AO2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A Outputs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 to Motor A terminals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Left Motor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  <a:tr h="43426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BO1/BO2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Motor B Outputs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Connect to Motor B terminals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ptos Display"/>
                          <a:ea typeface="Aptos Display"/>
                          <a:cs typeface="Aptos Display"/>
                        </a:rPr>
                        <a:t>Right Motor</a:t>
                      </a:r>
                      <a:endParaRPr sz="1400">
                        <a:latin typeface="Aptos Display"/>
                        <a:cs typeface="Aptos Display"/>
                      </a:endParaRPr>
                    </a:p>
                  </a:txBody>
                  <a:tcPr vert="horz"/>
                </a:tc>
              </a:tr>
            </a:tbl>
          </a:graphicData>
        </a:graphic>
      </p:graphicFrame>
      <p:pic>
        <p:nvPicPr>
          <p:cNvPr id="201128298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27875" y="2893105"/>
            <a:ext cx="2501051" cy="1682454"/>
          </a:xfrm>
          <a:prstGeom prst="rect">
            <a:avLst/>
          </a:prstGeom>
        </p:spPr>
      </p:pic>
      <p:pic>
        <p:nvPicPr>
          <p:cNvPr id="138457188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427875" y="4712251"/>
            <a:ext cx="3819493" cy="1650762"/>
          </a:xfrm>
          <a:prstGeom prst="rect">
            <a:avLst/>
          </a:prstGeom>
        </p:spPr>
      </p:pic>
      <p:sp>
        <p:nvSpPr>
          <p:cNvPr id="912358773" name=""/>
          <p:cNvSpPr txBox="1"/>
          <p:nvPr/>
        </p:nvSpPr>
        <p:spPr bwMode="auto">
          <a:xfrm flipH="0" flipV="0">
            <a:off x="374463" y="6390394"/>
            <a:ext cx="222376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>
                <a:solidFill>
                  <a:schemeClr val="bg1"/>
                </a:solidFill>
              </a:rPr>
              <a:t>Back View of Driver</a:t>
            </a:r>
            <a:endParaRPr/>
          </a:p>
        </p:txBody>
      </p:sp>
      <p:sp>
        <p:nvSpPr>
          <p:cNvPr id="712180097" name=""/>
          <p:cNvSpPr/>
          <p:nvPr/>
        </p:nvSpPr>
        <p:spPr bwMode="auto">
          <a:xfrm flipH="0" flipV="0">
            <a:off x="427875" y="1463466"/>
            <a:ext cx="4177462" cy="137196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What is TB6612?</a:t>
            </a:r>
            <a:endParaRPr sz="1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239821" indent="-239821">
              <a:buFont typeface="Arial"/>
              <a:buChar char="•"/>
              <a:defRPr/>
            </a:pP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TB6612 (TB6612FNG)</a:t>
            </a: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is a </a:t>
            </a: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dual H-bridge motor driver</a:t>
            </a:r>
            <a:endParaRPr sz="1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239821" indent="-239821">
              <a:buFont typeface="Arial"/>
              <a:buChar char="•"/>
              <a:defRPr/>
            </a:pP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It allows a </a:t>
            </a: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microcontroller (Arduino)</a:t>
            </a: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control </a:t>
            </a: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two DC motors</a:t>
            </a:r>
            <a:endParaRPr sz="14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239821" indent="-239821">
              <a:buFont typeface="Arial"/>
              <a:buChar char="•"/>
              <a:defRPr/>
            </a:pP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Controls </a:t>
            </a: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direction + speed</a:t>
            </a: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safely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30528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23282" y="-35460"/>
            <a:ext cx="10515600" cy="1103683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1049624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7848" y="961399"/>
            <a:ext cx="11643642" cy="579511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Why TB6612 is Used</a:t>
            </a:r>
            <a:endParaRPr sz="2800" b="1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Arduino pins → logic only (low current)</a:t>
            </a:r>
            <a:endParaRPr sz="2800" b="1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Motors → high current</a:t>
            </a:r>
            <a:endParaRPr sz="2800" b="1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TB6612 safely interfaces logic with power</a:t>
            </a:r>
            <a:endParaRPr lang="en-US" sz="2400" b="1" i="0" u="none" strike="noStrike" cap="none" spc="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How it works (clear chain)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Arduino (decision-maker)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1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Sets the logic pins: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AIN1 / AIN2</a:t>
            </a: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→ Motor A direction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1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BIN1 / BIN2</a:t>
            </a:r>
            <a:r>
              <a:rPr sz="1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→ Motor B direction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TB6612 (power stage)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Interprets those logic levels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Internally switches the H-bridge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Reverses current on </a:t>
            </a: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AO1/AO2</a:t>
            </a:r>
            <a:r>
              <a:rPr sz="20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or </a:t>
            </a:r>
            <a:r>
              <a:rPr sz="20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BO1/BO2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Motor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Spins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forward or reverse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depending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current direction</a:t>
            </a:r>
            <a:endParaRPr lang="en-US" sz="2400" b="1" i="0" u="none" strike="noStrike" cap="none" spc="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10887313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graphicFrame>
        <p:nvGraphicFramePr>
          <p:cNvPr id="1504577965" name=""/>
          <p:cNvGraphicFramePr>
            <a:graphicFrameLocks xmlns:a="http://schemas.openxmlformats.org/drawingml/2006/main"/>
          </p:cNvGraphicFramePr>
          <p:nvPr/>
        </p:nvGraphicFramePr>
        <p:xfrm>
          <a:off x="5814711" y="5372214"/>
          <a:ext cx="5308599" cy="13842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795654"/>
                <a:gridCol w="810259"/>
                <a:gridCol w="1889759"/>
                <a:gridCol w="180022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What Arduino commands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What TB6612 does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AO1=HIGH, AO2=LOW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Reverse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AO1=LOW, AO2=HIGH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Brake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LOW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Brake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HIGH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850218370" name=""/>
          <p:cNvSpPr txBox="1"/>
          <p:nvPr/>
        </p:nvSpPr>
        <p:spPr bwMode="auto">
          <a:xfrm flipH="0" flipV="0">
            <a:off x="5814711" y="5038457"/>
            <a:ext cx="351434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>
                <a:solidFill>
                  <a:schemeClr val="bg1"/>
                </a:solidFill>
              </a:rPr>
              <a:t>Direction logic (example: Motor A)</a:t>
            </a:r>
            <a:endParaRPr/>
          </a:p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4899011" name="Title 1"/>
          <p:cNvSpPr>
            <a:spLocks noGrp="1"/>
          </p:cNvSpPr>
          <p:nvPr>
            <p:ph type="title"/>
          </p:nvPr>
        </p:nvSpPr>
        <p:spPr bwMode="auto">
          <a:xfrm>
            <a:off x="185438" y="-37568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5199736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6" y="976599"/>
            <a:ext cx="11609028" cy="58088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65000" lnSpcReduction="7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Choose JGA25-371? (Key Advantages)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1. Encoder Feedback = Smart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Knows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exact speed and position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                                              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     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Detects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stalling &amp; wheel slippage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2. Professional-Level Performance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Used in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industry &amp; research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Repeatable results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Ideal for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robot competitions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3. Advanced Algorithms Possible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Odometry (distance tracking)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Path planning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SLAM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Autonomous navigation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		    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Real-World Analogy (Easy to Understand)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Enables </a:t>
            </a:r>
            <a:r>
              <a:rPr lang="en-US" sz="28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PID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4. Educational Value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Learn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control systems (PID)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Understand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feedback mechanisms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Bridge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theory ↔ real-world robotics</a:t>
            </a:r>
            <a:endParaRPr/>
          </a:p>
        </p:txBody>
      </p:sp>
      <p:pic>
        <p:nvPicPr>
          <p:cNvPr id="125889559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8"/>
            <a:ext cx="2037717" cy="549225"/>
          </a:xfrm>
          <a:prstGeom prst="rect">
            <a:avLst/>
          </a:prstGeom>
        </p:spPr>
      </p:pic>
      <p:graphicFrame>
        <p:nvGraphicFramePr>
          <p:cNvPr id="1999980960" name=""/>
          <p:cNvGraphicFramePr>
            <a:graphicFrameLocks xmlns:a="http://schemas.openxmlformats.org/drawingml/2006/main"/>
          </p:cNvGraphicFramePr>
          <p:nvPr/>
        </p:nvGraphicFramePr>
        <p:xfrm>
          <a:off x="6035881" y="5016939"/>
          <a:ext cx="5956299" cy="12928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930604"/>
                <a:gridCol w="1930604"/>
                <a:gridCol w="193060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Concept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JGA25-371 Motor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Driving a car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Blindfolded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Eyes open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awareness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Guessing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Speedometer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Control method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Open-loop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Closed-loop (auto correction)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6667405" name="Title 1"/>
          <p:cNvSpPr>
            <a:spLocks noGrp="1"/>
          </p:cNvSpPr>
          <p:nvPr>
            <p:ph type="title"/>
          </p:nvPr>
        </p:nvSpPr>
        <p:spPr bwMode="auto">
          <a:xfrm>
            <a:off x="185438" y="-37568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09042490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6" y="976599"/>
            <a:ext cx="11609028" cy="58088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How H-Bridge Controls Motor Direction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Control Truth Table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endParaRPr/>
          </a:p>
        </p:txBody>
      </p:sp>
      <p:pic>
        <p:nvPicPr>
          <p:cNvPr id="98487882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8"/>
            <a:ext cx="2037717" cy="549225"/>
          </a:xfrm>
          <a:prstGeom prst="rect">
            <a:avLst/>
          </a:prstGeom>
        </p:spPr>
      </p:pic>
      <p:graphicFrame>
        <p:nvGraphicFramePr>
          <p:cNvPr id="1377394628" name=""/>
          <p:cNvGraphicFramePr>
            <a:graphicFrameLocks xmlns:a="http://schemas.openxmlformats.org/drawingml/2006/main"/>
          </p:cNvGraphicFramePr>
          <p:nvPr/>
        </p:nvGraphicFramePr>
        <p:xfrm>
          <a:off x="1046135" y="1566093"/>
          <a:ext cx="3868419" cy="1411324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065529"/>
                <a:gridCol w="1080135"/>
                <a:gridCol w="171005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Action</a:t>
                      </a:r>
                      <a:endParaRPr/>
                    </a:p>
                  </a:txBody>
                  <a:tcPr vert="horz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➡️ Forward</a:t>
                      </a:r>
                      <a:endParaRPr/>
                    </a:p>
                  </a:txBody>
                  <a:tcPr vert="horz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⬅️ Backward</a:t>
                      </a:r>
                      <a:endParaRPr/>
                    </a:p>
                  </a:txBody>
                  <a:tcPr vert="horz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🛑 Stop (Coast)</a:t>
                      </a:r>
                      <a:endParaRPr/>
                    </a:p>
                  </a:txBody>
                  <a:tcPr vert="horz"/>
                </a:tc>
              </a:tr>
              <a:tr h="281076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🔒 Brake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835692892" name=""/>
          <p:cNvSpPr/>
          <p:nvPr/>
        </p:nvSpPr>
        <p:spPr bwMode="auto">
          <a:xfrm>
            <a:off x="539412" y="3362701"/>
            <a:ext cx="6965622" cy="10366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How It Works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IN1 = HIGH, IN2 = LOW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Switches S1 &amp; S4 ON → Current flows one way → Motor spins 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Forward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IN1 = LOW, IN2 = HIGH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Switches S2 &amp; S3 ON → Current flows opposite way → Motor spins </a:t>
            </a: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Backward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Both LOW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No current → Motor coasts to stop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sz="12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Both HIGH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Motor terminals shorted → Active brake</a:t>
            </a:r>
            <a:endParaRPr/>
          </a:p>
        </p:txBody>
      </p:sp>
      <p:pic>
        <p:nvPicPr>
          <p:cNvPr id="106454781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63559" y="353270"/>
            <a:ext cx="4235983" cy="61514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8286860" name="Title 1"/>
          <p:cNvSpPr>
            <a:spLocks noGrp="1"/>
          </p:cNvSpPr>
          <p:nvPr>
            <p:ph type="title"/>
          </p:nvPr>
        </p:nvSpPr>
        <p:spPr bwMode="auto">
          <a:xfrm>
            <a:off x="185438" y="-37568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61292729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6" y="976599"/>
            <a:ext cx="11609028" cy="58088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Code Highlights -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Motor Control Functions</a:t>
            </a:r>
            <a:endParaRPr/>
          </a:p>
        </p:txBody>
      </p:sp>
      <p:pic>
        <p:nvPicPr>
          <p:cNvPr id="84613642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8"/>
            <a:ext cx="2037717" cy="549225"/>
          </a:xfrm>
          <a:prstGeom prst="rect">
            <a:avLst/>
          </a:prstGeom>
        </p:spPr>
      </p:pic>
      <p:pic>
        <p:nvPicPr>
          <p:cNvPr id="23863533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342036" y="976598"/>
            <a:ext cx="6581774" cy="57530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846038" name="Title 1"/>
          <p:cNvSpPr>
            <a:spLocks noGrp="1"/>
          </p:cNvSpPr>
          <p:nvPr>
            <p:ph type="title"/>
          </p:nvPr>
        </p:nvSpPr>
        <p:spPr bwMode="auto">
          <a:xfrm>
            <a:off x="185438" y="-37568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67276616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31366" y="976599"/>
            <a:ext cx="11609028" cy="58088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Code Highlights -</a:t>
            </a:r>
            <a:r>
              <a:rPr sz="12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Movement Functions</a:t>
            </a:r>
            <a:endParaRPr/>
          </a:p>
        </p:txBody>
      </p:sp>
      <p:pic>
        <p:nvPicPr>
          <p:cNvPr id="128430453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098"/>
            <a:ext cx="2037717" cy="549225"/>
          </a:xfrm>
          <a:prstGeom prst="rect">
            <a:avLst/>
          </a:prstGeom>
        </p:spPr>
      </p:pic>
      <p:pic>
        <p:nvPicPr>
          <p:cNvPr id="89081722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159331" y="1287990"/>
            <a:ext cx="5753099" cy="48958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2177" name="Title 1"/>
          <p:cNvSpPr>
            <a:spLocks noGrp="1"/>
          </p:cNvSpPr>
          <p:nvPr>
            <p:ph type="title"/>
          </p:nvPr>
        </p:nvSpPr>
        <p:spPr bwMode="auto">
          <a:xfrm>
            <a:off x="295034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90368422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4" y="765121"/>
            <a:ext cx="11196689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“Motor Driver ON/OFF” 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OFF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</p:txBody>
      </p:sp>
      <p:pic>
        <p:nvPicPr>
          <p:cNvPr id="51837952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425125286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950336" name="Title 1"/>
          <p:cNvSpPr>
            <a:spLocks noGrp="1"/>
          </p:cNvSpPr>
          <p:nvPr>
            <p:ph type="title"/>
          </p:nvPr>
        </p:nvSpPr>
        <p:spPr bwMode="auto">
          <a:xfrm>
            <a:off x="295034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87890420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95034" y="765121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Upload your the respective program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Wait for "Upload Complete" message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Disconnect USB cable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(  motor driver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8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 for batter power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Monitor the Robot car-3 Movements &amp; OLED , Monitior the functionality according to the program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81717098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377196002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853640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2536884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161604251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Invite Questions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Encourage the audience to ask questions for further clarification or discussion.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lang="en-GB">
              <a:solidFill>
                <a:schemeClr val="bg1"/>
              </a:solidFill>
            </a:endParaRPr>
          </a:p>
        </p:txBody>
      </p:sp>
      <p:pic>
        <p:nvPicPr>
          <p:cNvPr id="84491341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14</cp:revision>
  <dcterms:created xsi:type="dcterms:W3CDTF">2025-11-29T15:09:33Z</dcterms:created>
  <dcterms:modified xsi:type="dcterms:W3CDTF">2026-01-17T10:31:30Z</dcterms:modified>
</cp:coreProperties>
</file>