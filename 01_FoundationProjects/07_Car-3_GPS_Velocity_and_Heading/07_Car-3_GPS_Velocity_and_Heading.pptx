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notesSlides/notesSlide19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4604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226670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652600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649339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589609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584157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886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1712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8115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076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68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9685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697BB-424E-5718-8107-6BD576F420E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460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8958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037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3F12B2-DBD9-44CE-6F1D-48CBA49FC0F6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487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2165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19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9146C7-FADA-E133-0F9B-BAC9723268AE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304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5056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1863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4FDE1-3F0C-4337-9D7C-1B70B7216FD1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7313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9966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5951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FF8F09-0E38-1FCD-6441-DDD7ADB76084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071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3727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2620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0EA0CC-C8E4-D1B9-9701-B5BE7809FDCE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1627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6190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776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33F5E2-0CBC-7B37-CF7D-5C35E5B9313D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661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201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0531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7AFD5D-051F-59AA-E01E-0822C220ADE7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731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6640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139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9F12CC-01BA-7C1D-5A03-3E6D0D0419C7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570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1693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518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06F4F0-080B-098C-D16A-8B929750A0F3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950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4134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28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F5576F-5083-FB49-0E55-B3DB147752C4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55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7704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85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D1B2D6-6BF3-5AB3-F494-D6E8381E9398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07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6880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746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813F7F-BFA1-834A-AF32-33B44BE3E4A1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976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02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84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E08990-7FBC-E1E5-57A5-F9110F98A541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232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309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24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E912DA-F63D-60D1-6579-BA00DDAF296F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8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0244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682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C0B8B0-925F-3986-7AC0-650510D8B513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654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078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524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0FD701-B23D-443F-7789-5C5F95B3A890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141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035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79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E64F13-5F0D-DBB4-663E-C48B7E45D3B9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5743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0662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710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6AE28-1750-FB0A-13D1-D80273FFDC97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683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4215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318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161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7294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6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7D2C1F-7599-CE00-F64E-2AC0F3F4AEED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0351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7443460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85662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1006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978419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078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003085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456131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1369210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136854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25751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151099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61748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3102875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238737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9154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5601004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395520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242676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360110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256605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27569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36685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313900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813563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1703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714010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3211236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2944827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1611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9067625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9121024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4831733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60517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09037416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2174641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8389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7879558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236846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71262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5327425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16304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7116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758096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5675812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971114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1755977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604831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4051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456985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522628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9230721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239627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50007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9327560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89742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8600872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395838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78484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20091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5759673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7716183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546170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114987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161158260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19616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Robot Car-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3</a:t>
            </a: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 (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Advanced Autonomy)</a:t>
            </a: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lang="en-GB" sz="2800">
                <a:solidFill>
                  <a:schemeClr val="bg1"/>
                </a:solidFill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3200">
                <a:solidFill>
                  <a:schemeClr val="bg1"/>
                </a:solidFill>
              </a:rPr>
              <a:t> information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4550766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9251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4" y="-35461"/>
            <a:ext cx="10515600" cy="1103685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information</a:t>
            </a:r>
            <a:endParaRPr/>
          </a:p>
        </p:txBody>
      </p:sp>
      <p:sp>
        <p:nvSpPr>
          <p:cNvPr id="78732296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50" y="961401"/>
            <a:ext cx="11643644" cy="57951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86090975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pic>
        <p:nvPicPr>
          <p:cNvPr id="94101044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6121" y="1554661"/>
            <a:ext cx="4557756" cy="5014917"/>
          </a:xfrm>
          <a:prstGeom prst="rect">
            <a:avLst/>
          </a:prstGeom>
        </p:spPr>
      </p:pic>
      <p:sp>
        <p:nvSpPr>
          <p:cNvPr id="1526490691" name=""/>
          <p:cNvSpPr/>
          <p:nvPr/>
        </p:nvSpPr>
        <p:spPr bwMode="auto">
          <a:xfrm flipH="0" flipV="0">
            <a:off x="3819812" y="3302593"/>
            <a:ext cx="2020724" cy="195841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631953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40537" y="1495513"/>
            <a:ext cx="5287710" cy="5127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41436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3" y="-35460"/>
            <a:ext cx="10515600" cy="110368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information</a:t>
            </a:r>
            <a:endParaRPr/>
          </a:p>
        </p:txBody>
      </p:sp>
      <p:sp>
        <p:nvSpPr>
          <p:cNvPr id="10765183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23282" y="1161693"/>
            <a:ext cx="11643644" cy="579511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&amp; GPS Antenna mounter on Robot Car-3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07790137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pic>
        <p:nvPicPr>
          <p:cNvPr id="18820069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140280" y="1690272"/>
            <a:ext cx="4032545" cy="4551017"/>
          </a:xfrm>
          <a:prstGeom prst="rect">
            <a:avLst/>
          </a:prstGeom>
        </p:spPr>
      </p:pic>
      <p:pic>
        <p:nvPicPr>
          <p:cNvPr id="154754493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842954" y="3624840"/>
            <a:ext cx="1772199" cy="2107962"/>
          </a:xfrm>
          <a:prstGeom prst="rect">
            <a:avLst/>
          </a:prstGeom>
        </p:spPr>
      </p:pic>
      <p:sp>
        <p:nvSpPr>
          <p:cNvPr id="38068670" name=""/>
          <p:cNvSpPr/>
          <p:nvPr/>
        </p:nvSpPr>
        <p:spPr bwMode="auto">
          <a:xfrm flipH="0" flipV="0">
            <a:off x="3410326" y="4059252"/>
            <a:ext cx="1655746" cy="18693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49078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5" y="42546"/>
            <a:ext cx="10515600" cy="1132498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51075673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14556" y="1094927"/>
            <a:ext cx="11655545" cy="571499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Experiment Overview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experiment demonstrates how GPS data can be used to determine the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linear speed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and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direction of movement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of a mobile robotic platform.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GPS receiver continuously computes motion parameters based on satellite signals and provides real-time speed and course information, which is displayed on an OLED interface.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Objective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objective of this experiment is to: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Determine whether a valid GPS fix is available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Measure the instantaneous speed of the robot using GPS velocity data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Determine the direction of movement using GPS course information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Identify whether the robot is stationary or in motion based on speed thresholding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Visualize motion parameters clearly on an OLED display</a:t>
            </a:r>
            <a:endParaRPr/>
          </a:p>
        </p:txBody>
      </p:sp>
      <p:pic>
        <p:nvPicPr>
          <p:cNvPr id="146937415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0101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6" y="42547"/>
            <a:ext cx="10515600" cy="1132499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171170482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9" y="1094929"/>
            <a:ext cx="11023516" cy="571499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Key GPS Parameters Used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Fix Status</a:t>
            </a:r>
            <a:b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Indicates whether the GPS receiver has successfully locked onto satellites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Satellite Count</a:t>
            </a:r>
            <a:b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Number of satellites contributing to the current position solution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(km/h)</a:t>
            </a:r>
            <a:b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Calculated internally by the GPS module using Doppler shift data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Course / Direction (degrees)</a:t>
            </a:r>
            <a:b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Direction of motion relative to geographic North (0°–360°)</a:t>
            </a:r>
            <a:endParaRPr/>
          </a:p>
        </p:txBody>
      </p:sp>
      <p:pic>
        <p:nvPicPr>
          <p:cNvPr id="69822721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15412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5" y="42546"/>
            <a:ext cx="10515600" cy="1132498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190415220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1094928"/>
            <a:ext cx="11023515" cy="571499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Measurement Concept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GPS speed is calculated based on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Doppler frequency shift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of satellite signals.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This method provides: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High accuracy during motion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Reliable speed readings independent of wheel slip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Stable measurements at moderate and higher velocities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values are displayed in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kilometers per hour (km/h)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.</a:t>
            </a:r>
            <a:endParaRPr/>
          </a:p>
        </p:txBody>
      </p:sp>
      <p:pic>
        <p:nvPicPr>
          <p:cNvPr id="101763925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87457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5" y="42546"/>
            <a:ext cx="10515600" cy="1132498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58880969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1094928"/>
            <a:ext cx="11023515" cy="571499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Direction (Course) Concept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direction of movement represents the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bearing of motion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 not the compass heading.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0° → North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90° → East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180° → South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270° → West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Course information becomes valid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only when the robot is moving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.</a:t>
            </a:r>
            <a:endParaRPr/>
          </a:p>
        </p:txBody>
      </p:sp>
      <p:pic>
        <p:nvPicPr>
          <p:cNvPr id="44140739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83855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5" y="42546"/>
            <a:ext cx="10515600" cy="1132498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33703267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1094928"/>
            <a:ext cx="11023515" cy="571499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Program Execution Flow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GPS serial data is continuously read and decoded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is refreshed every 500 ms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GPS fix and satellite count are checked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and direction values are extracted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Motion status is determined using speed threshold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All parameters are displayed on the OLED</a:t>
            </a:r>
            <a:endParaRPr/>
          </a:p>
        </p:txBody>
      </p:sp>
      <p:pic>
        <p:nvPicPr>
          <p:cNvPr id="199239958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53267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5" y="42546"/>
            <a:ext cx="10515600" cy="1132498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22895058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1094928"/>
            <a:ext cx="11023515" cy="571499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Display Parameters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OLED displays: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GPS Fix status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Number of satellites in use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Current speed in km/h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Direction of movement in degrees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Motion status (YES / NO)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provides immediate visual feedback during testing.</a:t>
            </a:r>
            <a:endParaRPr/>
          </a:p>
        </p:txBody>
      </p:sp>
      <p:pic>
        <p:nvPicPr>
          <p:cNvPr id="33574178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74564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5" y="42546"/>
            <a:ext cx="10515600" cy="1132498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188204850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1094928"/>
            <a:ext cx="11023515" cy="571499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Testing Conditions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Testing must be performed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outdoors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Clear sky view improves satellite lock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must move in a straight path for stable direction readings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Sudden stops may momentarily retain last valid direction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Observations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remains zero when stationary even with GPS fix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Direction becomes valid only after movement begins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Higher satellite count improves measurement stability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Motion detection responds smoothly with thresholding</a:t>
            </a:r>
            <a:endParaRPr sz="24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29993723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9034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5" y="42546"/>
            <a:ext cx="10515600" cy="1132498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48368335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9" y="1175045"/>
            <a:ext cx="11023516" cy="55725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System Setup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Hardware Used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Arduino Nano  (ATmega328P)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GPS Module (UART based)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Display 128×64 (I2C, Address 0x3C)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Car-3 Controller Board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Important Wiring Note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GPS connected to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D0 (RX) / D1 (TX)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Disconnect GPS during program upload if required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 not keep Serial Monitor open during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Note: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Cold start time may be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2–5 minutes outdoors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.</a:t>
            </a:r>
            <a:endParaRPr/>
          </a:p>
        </p:txBody>
      </p:sp>
      <p:pic>
        <p:nvPicPr>
          <p:cNvPr id="158688373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08507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4" y="42545"/>
            <a:ext cx="10515600" cy="1132497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180604972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1175044"/>
            <a:ext cx="11023515" cy="557256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Algorithm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Initialize serial communication for GPS data reception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Initialize OLED display for visual output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Continuously read incoming GPS serial data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Decode GPS NMEA sentences using TinyGPS++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Check whether a valid GPS fix is available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Read speed information from GPS velocity data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Read direction (course) of movement in degrees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Apply a threshold to determine motion state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Display Fix status, speed, direction, and motion state on OLED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Refresh the display at fixed time intervals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Repeat the process continuously</a:t>
            </a:r>
            <a:endParaRPr/>
          </a:p>
        </p:txBody>
      </p:sp>
      <p:pic>
        <p:nvPicPr>
          <p:cNvPr id="103169102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41896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30278" y="-135536"/>
            <a:ext cx="10515600" cy="1132497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171011454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996960"/>
            <a:ext cx="11023515" cy="577949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Flow of Operation —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GPS Speed &amp; Direction</a:t>
            </a:r>
            <a:endParaRPr/>
          </a:p>
        </p:txBody>
      </p:sp>
      <p:pic>
        <p:nvPicPr>
          <p:cNvPr id="108217028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52990184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9958" y="968114"/>
            <a:ext cx="4192212" cy="56844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89863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30278" y="-135536"/>
            <a:ext cx="10515600" cy="1132497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76215971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996960"/>
            <a:ext cx="11023515" cy="577949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Code Explanation — GPS Data Decoding</a:t>
            </a:r>
            <a:endParaRPr/>
          </a:p>
        </p:txBody>
      </p:sp>
      <p:pic>
        <p:nvPicPr>
          <p:cNvPr id="17458285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127637370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122950" y="1499016"/>
            <a:ext cx="3390899" cy="990599"/>
          </a:xfrm>
          <a:prstGeom prst="rect">
            <a:avLst/>
          </a:prstGeom>
        </p:spPr>
      </p:pic>
      <p:sp>
        <p:nvSpPr>
          <p:cNvPr id="1154193624" name=""/>
          <p:cNvSpPr/>
          <p:nvPr/>
        </p:nvSpPr>
        <p:spPr bwMode="auto">
          <a:xfrm flipH="0" flipV="0">
            <a:off x="330278" y="2782174"/>
            <a:ext cx="11306111" cy="22253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data arrives as a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continuous serial byte stream</a:t>
            </a:r>
            <a:endParaRPr sz="2800">
              <a:solidFill>
                <a:schemeClr val="bg1"/>
              </a:solidFill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Each byte is passed to the TinyGPS++ decoder</a:t>
            </a:r>
            <a:endParaRPr sz="2800">
              <a:solidFill>
                <a:schemeClr val="bg1"/>
              </a:solidFill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TinyGPS++ internally reconstructs NMEA sentences</a:t>
            </a:r>
            <a:endParaRPr sz="2800">
              <a:solidFill>
                <a:schemeClr val="bg1"/>
              </a:solidFill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Continuous decoding is required to maintain valid speed and direction values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61175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30278" y="-135536"/>
            <a:ext cx="10515600" cy="1132497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51090864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996960"/>
            <a:ext cx="11023515" cy="577949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Code Explanation — Speed Calculation</a:t>
            </a:r>
            <a:endParaRPr/>
          </a:p>
        </p:txBody>
      </p:sp>
      <p:pic>
        <p:nvPicPr>
          <p:cNvPr id="22539772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1304176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560819" y="1483401"/>
            <a:ext cx="3936516" cy="1047749"/>
          </a:xfrm>
          <a:prstGeom prst="rect">
            <a:avLst/>
          </a:prstGeom>
        </p:spPr>
      </p:pic>
      <p:sp>
        <p:nvSpPr>
          <p:cNvPr id="436744717" name=""/>
          <p:cNvSpPr/>
          <p:nvPr/>
        </p:nvSpPr>
        <p:spPr bwMode="auto">
          <a:xfrm flipH="0" flipV="0">
            <a:off x="757905" y="3141313"/>
            <a:ext cx="9909649" cy="1798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is calculated internally by the GPS receiver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Based on Doppler shift of satellite signals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Independent of wheel rotation or encoders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Provides real-world velocity measurement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81671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30278" y="-135536"/>
            <a:ext cx="10515600" cy="1132497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104901552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996960"/>
            <a:ext cx="11023515" cy="577949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Code Explanation — Direction (Course)</a:t>
            </a:r>
            <a:endParaRPr/>
          </a:p>
        </p:txBody>
      </p:sp>
      <p:pic>
        <p:nvPicPr>
          <p:cNvPr id="38113745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185454238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170450" y="1655163"/>
            <a:ext cx="3067049" cy="1009649"/>
          </a:xfrm>
          <a:prstGeom prst="rect">
            <a:avLst/>
          </a:prstGeom>
        </p:spPr>
      </p:pic>
      <p:sp>
        <p:nvSpPr>
          <p:cNvPr id="880016871" name=""/>
          <p:cNvSpPr/>
          <p:nvPr/>
        </p:nvSpPr>
        <p:spPr bwMode="auto">
          <a:xfrm flipH="0" flipV="0">
            <a:off x="439984" y="3017340"/>
            <a:ext cx="8744168" cy="1798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17793" indent="-21779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Direction represents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course over ground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Measured relative to geographic North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Valid only when the robot is moving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Not a compass heading (different concept)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36153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30278" y="-135536"/>
            <a:ext cx="10515600" cy="1132497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2201982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996960"/>
            <a:ext cx="11023515" cy="577949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Motion Detection Logic</a:t>
            </a:r>
            <a:endParaRPr/>
          </a:p>
        </p:txBody>
      </p:sp>
      <p:pic>
        <p:nvPicPr>
          <p:cNvPr id="179566139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180053468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530553" y="1530245"/>
            <a:ext cx="3057525" cy="1714500"/>
          </a:xfrm>
          <a:prstGeom prst="rect">
            <a:avLst/>
          </a:prstGeom>
        </p:spPr>
      </p:pic>
      <p:sp>
        <p:nvSpPr>
          <p:cNvPr id="1619780221" name=""/>
          <p:cNvSpPr/>
          <p:nvPr/>
        </p:nvSpPr>
        <p:spPr bwMode="auto">
          <a:xfrm flipH="0" flipV="0">
            <a:off x="555847" y="3429000"/>
            <a:ext cx="8034945" cy="1189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 threshold is used to avoid noise-based false motion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below threshold is treated as stationary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Simplifies motion-state detection for embedded systems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6904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4" y="42545"/>
            <a:ext cx="10515600" cy="1132497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149219589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8" y="1175044"/>
            <a:ext cx="11023515" cy="557256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1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Output Interpretation — GPS Speed &amp; Direction</a:t>
            </a:r>
            <a:endParaRPr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1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Displayed Parameters (As Seen on OLED)</a:t>
            </a:r>
            <a:endParaRPr/>
          </a:p>
        </p:txBody>
      </p:sp>
      <p:pic>
        <p:nvPicPr>
          <p:cNvPr id="151861971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48859782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136229" y="1789275"/>
            <a:ext cx="2779426" cy="2581542"/>
          </a:xfrm>
          <a:prstGeom prst="rect">
            <a:avLst/>
          </a:prstGeom>
        </p:spPr>
      </p:pic>
      <p:graphicFrame>
        <p:nvGraphicFramePr>
          <p:cNvPr id="1041437341" name=""/>
          <p:cNvGraphicFramePr>
            <a:graphicFrameLocks xmlns:a="http://schemas.openxmlformats.org/drawingml/2006/main"/>
          </p:cNvGraphicFramePr>
          <p:nvPr/>
        </p:nvGraphicFramePr>
        <p:xfrm>
          <a:off x="393104" y="2051049"/>
          <a:ext cx="5956299" cy="27558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50000"/>
                <a:gridCol w="1080000"/>
                <a:gridCol w="2520000"/>
                <a:gridCol w="3749194"/>
              </a:tblGrid>
              <a:tr h="8321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OLED Field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Example Value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Meaning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How to Interpret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100674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Fix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YES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GPS position lock acquired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GPS has enough satellite data to compute position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8321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Speed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0.9 km/h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Ground speed from GPS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Very low speed (learning robot movement)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8321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310 deg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Course over ground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of motion relative to North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8321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Move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NO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Motion detection flag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Speed below movement threshold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49650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9146" y="42545"/>
            <a:ext cx="10515600" cy="1132497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96260393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39146" y="987667"/>
            <a:ext cx="11557901" cy="574229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Learning Value for a Low-Speed Robot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Key Learning Outcomes (Conceptual)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GPS speed is computed using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Doppler shift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 not wheel rotation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GPS direction represents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course of motion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 not compass heading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Even at low speeds: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values fluctuate near zero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Direction becomes unstable or invalid when stationary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Students observe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real-world GPS limitations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 including: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Update delays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Noise at low velocity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Dependency on satellite geometry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What students actually learn (very important)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GPS is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unsuitable for fine indoor motion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GPS must be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combined with encoders or IMU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for accurate navigation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How professional robots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fuse sensors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instead of relying on one source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thresholds (e.g.,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&gt; 1.0 km/h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 are required to avoid false motion detection</a:t>
            </a:r>
            <a:endParaRPr/>
          </a:p>
        </p:txBody>
      </p:sp>
      <p:pic>
        <p:nvPicPr>
          <p:cNvPr id="181263130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81923" name="Title 1"/>
          <p:cNvSpPr>
            <a:spLocks noGrp="1"/>
          </p:cNvSpPr>
          <p:nvPr>
            <p:ph type="title"/>
          </p:nvPr>
        </p:nvSpPr>
        <p:spPr bwMode="auto">
          <a:xfrm>
            <a:off x="295034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150953253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4" y="765121"/>
            <a:ext cx="11196689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“Motor Driver ON/OFF” 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OFF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89405036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571801313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973154" name="Title 1"/>
          <p:cNvSpPr>
            <a:spLocks noGrp="1"/>
          </p:cNvSpPr>
          <p:nvPr>
            <p:ph type="title"/>
          </p:nvPr>
        </p:nvSpPr>
        <p:spPr bwMode="auto">
          <a:xfrm>
            <a:off x="295034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GPS Speed and Direction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 information</a:t>
            </a:r>
            <a:endParaRPr/>
          </a:p>
        </p:txBody>
      </p:sp>
      <p:sp>
        <p:nvSpPr>
          <p:cNvPr id="8447807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4" y="765121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Upload your the respective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8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 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Monitor the Robot car-3 Movements &amp; OLED , Monitior the functionality according to the program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23494420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399949873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3731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123"/>
            <a:ext cx="10515600" cy="253688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15364497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181865268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15</cp:revision>
  <dcterms:created xsi:type="dcterms:W3CDTF">2025-11-29T15:09:33Z</dcterms:created>
  <dcterms:modified xsi:type="dcterms:W3CDTF">2026-01-12T12:09:10Z</dcterms:modified>
</cp:coreProperties>
</file>