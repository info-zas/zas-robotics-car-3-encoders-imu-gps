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5.xml" ContentType="application/vnd.openxmlformats-officedocument.presentationml.notesSlide+xml"/>
  <Override PartName="/ppt/slideLayouts/slideLayout2.xml" ContentType="application/vnd.openxmlformats-officedocument.presentationml.slideLayout+xml"/>
  <Override PartName="/ppt/notesSlides/notesSlide7.xml" ContentType="application/vnd.openxmlformats-officedocument.presentationml.notesSlide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8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2.xml" ContentType="application/vnd.openxmlformats-officedocument.presentationml.slide+xml"/>
  <Override PartName="/ppt/notesSlides/notesSlide17.xml" ContentType="application/vnd.openxmlformats-officedocument.presentationml.notesSlide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slides/slide21.xml" ContentType="application/vnd.openxmlformats-officedocument.presentationml.slide+xml"/>
  <Override PartName="/docProps/core.xml" ContentType="application/vnd.openxmlformats-package.core-properties+xml"/>
  <Override PartName="/ppt/slides/slide19.xml" ContentType="application/vnd.openxmlformats-officedocument.presentationml.slide+xml"/>
  <Override PartName="/ppt/viewProps.xml" ContentType="application/vnd.openxmlformats-officedocument.presentationml.viewProps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notesSlides/notesSlide19.xml" ContentType="application/vnd.openxmlformats-officedocument.presentationml.notes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 /><Relationship Id="rId30" Type="http://schemas.openxmlformats.org/officeDocument/2006/relationships/tableStyles" Target="tableStyles.xml" /><Relationship Id="rId3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481555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343691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22141792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40398050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43267326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50864086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67312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450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878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4456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66755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8833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4FDE1-3F0C-4337-9D7C-1B70B7216FD1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6246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4145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234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D98CCE-FE2C-5CA1-EAE1-2C238298F207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8229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1462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7505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4D1FE8-A3A0-A1F5-7A90-3F800231A06B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4203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9942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4310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000A00-E5B3-65F7-8A14-9444C04A0584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4681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919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793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6F63CF-A81D-7495-2DFB-4A99EC2B69ED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0070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14448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4198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16B5BC-4DF1-CDA1-EA61-887FDA097B96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52741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0105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8277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F74C22-520A-969A-02AF-84D02D72861C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4327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45486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595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F2F878-5766-05BD-8F48-B48C495D9019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9502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3117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2116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FB806-ED78-72E5-AB12-E5E901871C80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779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1885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3776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812428-5081-7BB6-C8F7-7F7EB8BD34B4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040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1348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6289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FB130C-7689-349C-42FF-55E2D9A0B450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13818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984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730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B3346D-BC44-A229-988C-145A4C3873A8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94568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521798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314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53FCD-F706-F0EC-7DAD-909C60F70AC5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7249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53286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153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8DDDC4-1076-5C8E-387D-91896DCF98A7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136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88001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3636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D98F1F-8781-03E2-9DE7-B9420C5709AF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66234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7089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474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033418-10FC-AEA0-2460-021D72DA9A1B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7100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596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1467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82C701-26CF-9730-E481-69B77DEF5667}" type="slidenum">
              <a:rPr/>
              <a:t/>
            </a:fld>
            <a:endParaRPr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6366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5740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9549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37D2D5-2B3F-048C-142C-322AF1232805}" type="slidenum">
              <a:rPr/>
              <a:t/>
            </a:fld>
            <a:endParaRPr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678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81096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8765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2697BB-424E-5718-8107-6BD576F420E8}" type="slidenum">
              <a:rPr/>
              <a:t/>
            </a:fld>
            <a:endParaRPr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1288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674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6241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C87FC3-957F-DFCA-C092-65691E03839C}" type="slidenum">
              <a:rPr/>
              <a:t/>
            </a:fld>
            <a:endParaRPr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3721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639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1194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6AE28-1750-FB0A-13D1-D80273FFDC97}" type="slidenum">
              <a:rPr/>
              <a:t/>
            </a:fld>
            <a:endParaRPr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8605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90827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5864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/>
            </a:fld>
            <a:endParaRPr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7230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8508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593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586979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0488465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93813475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208212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678068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063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3286736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286762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696519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3426624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98992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846099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105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9951332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354046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4682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5892621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7013938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60857483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6643506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3532770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38181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690698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275279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68390609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6227627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62024516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13898969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0413864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210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4278029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93894340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4553486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63607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02620379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8887035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592873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4765094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4576526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8513021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59355041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7951786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7437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0760447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80483963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303839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76891161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2300275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17039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4383924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90943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039907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095326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2507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4305160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939148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1444320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771112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6533429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11089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5640734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3879529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3229219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7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8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0060465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1558544351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602037"/>
            <a:ext cx="9144000" cy="196162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Robot Car-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3</a:t>
            </a: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 (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Advanced Autonomy)</a:t>
            </a: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31301217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568827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7" y="42546"/>
            <a:ext cx="10515600" cy="11324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21787788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5" y="1299671"/>
            <a:ext cx="11023515" cy="514528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Objective of this Program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Maintain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constant wheel speed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Automatically compensate for: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Battery voltage drop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Load variation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Surface friction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Stop accurately at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1 meter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program answers a new question: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“How fast am I moving right now?”</a:t>
            </a:r>
            <a:endParaRPr/>
          </a:p>
        </p:txBody>
      </p:sp>
      <p:pic>
        <p:nvPicPr>
          <p:cNvPr id="214544132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39373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5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70241597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5" y="1299671"/>
            <a:ext cx="11023515" cy="514528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Learning Outcomes 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speed measurement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Difference between distance and speed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Closed-loop control concepts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Meaning of KP and KI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feedback is essential in robotics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</p:txBody>
      </p:sp>
      <p:pic>
        <p:nvPicPr>
          <p:cNvPr id="73265760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47089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06165" y="-1976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36005013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5" y="1175045"/>
            <a:ext cx="11023516" cy="551915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Key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Terms</a:t>
            </a:r>
            <a:endParaRPr/>
          </a:p>
        </p:txBody>
      </p:sp>
      <p:pic>
        <p:nvPicPr>
          <p:cNvPr id="192335768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9"/>
            <a:ext cx="2037717" cy="549226"/>
          </a:xfrm>
          <a:prstGeom prst="rect">
            <a:avLst/>
          </a:prstGeom>
        </p:spPr>
      </p:pic>
      <p:graphicFrame>
        <p:nvGraphicFramePr>
          <p:cNvPr id="219007190" name=""/>
          <p:cNvGraphicFramePr>
            <a:graphicFrameLocks xmlns:a="http://schemas.openxmlformats.org/drawingml/2006/main"/>
          </p:cNvGraphicFramePr>
          <p:nvPr/>
        </p:nvGraphicFramePr>
        <p:xfrm>
          <a:off x="2000566" y="920246"/>
          <a:ext cx="8989602" cy="5773957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880000"/>
                <a:gridCol w="6096902"/>
              </a:tblGrid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Term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Meaning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5275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Tick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One digital pulse generated by the encoder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(Incremental)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 that outputs ticks proportional to shaft rotation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PPR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Number of ticks per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shaft revolution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Gear Ratio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Ratio of motor rotations to one wheel rotation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ΔTicks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Change in encoder ticks between two measurements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dt (Sampling Time)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Time interval between two control updates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Measured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Wheel speed computed as Δticks / dt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Target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Desired wheel speed set by the program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Difference between target speed and measured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KP (Proportional Gain)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Gain that reacts to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current 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KI (Integral Gain)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Gain that reacts to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accumulated 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Integral Term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Sum of error over time (controller memory)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8630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 (Pulse Width Modulation)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Method to control motor voltage/speed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 Loop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Repeating cycle of measure → compute → act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Closed-Loop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 system using feedback from sensors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Feedback control using Proportional + Integral terms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128267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-69791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89855198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1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Prerequisite Knowledge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program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builds on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previous learning.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Reused Concepts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hardware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ticks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Distance calculation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 direction logic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motor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New Learning Introduced Here: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Speed measurement + feedback control (PI)</a:t>
            </a:r>
            <a:endParaRPr/>
          </a:p>
        </p:txBody>
      </p:sp>
      <p:pic>
        <p:nvPicPr>
          <p:cNvPr id="7132131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38707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-60889" y="-1976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8598540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1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Output (Foundation Reminder)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Incremental Encoder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generates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digital pulses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Each pulse is called a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tick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Tick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One pulse generated by the encoder when the motor shaft rotates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provides ticks only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No speed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No distance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(All intelligence comes from calculations)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68801552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379227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7751" y="-10864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74281719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1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Speed Measurement (Key Upgrade)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What Changes from Distance_1M program?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Instead of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total ticks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, we now use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change in ticks over time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Speed Formula</a:t>
            </a:r>
            <a:endParaRPr/>
          </a:p>
        </p:txBody>
      </p:sp>
      <p:pic>
        <p:nvPicPr>
          <p:cNvPr id="72548534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36765104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231378" y="3227572"/>
            <a:ext cx="3124199" cy="809135"/>
          </a:xfrm>
          <a:prstGeom prst="rect">
            <a:avLst/>
          </a:prstGeom>
        </p:spPr>
      </p:pic>
      <p:sp>
        <p:nvSpPr>
          <p:cNvPr id="579188241" name=""/>
          <p:cNvSpPr/>
          <p:nvPr/>
        </p:nvSpPr>
        <p:spPr bwMode="auto">
          <a:xfrm flipH="0" flipV="0">
            <a:off x="6570870" y="2756432"/>
            <a:ext cx="1914241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 Code</a:t>
            </a:r>
            <a:endParaRPr/>
          </a:p>
        </p:txBody>
      </p:sp>
      <p:pic>
        <p:nvPicPr>
          <p:cNvPr id="1560010591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6738714" y="3274953"/>
            <a:ext cx="2247899" cy="714375"/>
          </a:xfrm>
          <a:prstGeom prst="rect">
            <a:avLst/>
          </a:prstGeom>
        </p:spPr>
      </p:pic>
      <p:sp>
        <p:nvSpPr>
          <p:cNvPr id="1035749255" name=""/>
          <p:cNvSpPr/>
          <p:nvPr/>
        </p:nvSpPr>
        <p:spPr bwMode="auto">
          <a:xfrm flipH="0" flipV="0">
            <a:off x="532438" y="4218845"/>
            <a:ext cx="9804262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Note: Indirectly the Encoder now acts as a SPEED sensor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36426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32871" y="139077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0036835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now acts as a SPEED sensor</a:t>
            </a:r>
            <a:endParaRPr/>
          </a:p>
        </p:txBody>
      </p:sp>
      <p:pic>
        <p:nvPicPr>
          <p:cNvPr id="202186405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2809045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866401" y="1815981"/>
            <a:ext cx="2295524" cy="476249"/>
          </a:xfrm>
          <a:prstGeom prst="rect">
            <a:avLst/>
          </a:prstGeom>
        </p:spPr>
      </p:pic>
      <p:sp>
        <p:nvSpPr>
          <p:cNvPr id="163810064" name=""/>
          <p:cNvSpPr/>
          <p:nvPr/>
        </p:nvSpPr>
        <p:spPr bwMode="auto">
          <a:xfrm flipH="0" flipV="0">
            <a:off x="488316" y="2837777"/>
            <a:ext cx="8248927" cy="265212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Meaning</a:t>
            </a:r>
            <a:endParaRPr sz="2800">
              <a:solidFill>
                <a:schemeClr val="bg1"/>
              </a:solidFill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Speed is measured every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50 ms</a:t>
            </a:r>
            <a:endParaRPr sz="2800">
              <a:solidFill>
                <a:schemeClr val="bg1"/>
              </a:solidFill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PWM is updated every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50 ms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 sz="2800">
              <a:solidFill>
                <a:schemeClr val="bg1"/>
              </a:solidFill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Why this matters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Stable control systems require fixed timing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37397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44890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7986878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Target Speed Definition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Target Speed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Desired wheel speed set by the programmer</a:t>
            </a:r>
            <a:endParaRPr/>
          </a:p>
        </p:txBody>
      </p:sp>
      <p:pic>
        <p:nvPicPr>
          <p:cNvPr id="195784687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84651157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056331" y="2750677"/>
            <a:ext cx="3876674" cy="857250"/>
          </a:xfrm>
          <a:prstGeom prst="rect">
            <a:avLst/>
          </a:prstGeom>
        </p:spPr>
      </p:pic>
      <p:sp>
        <p:nvSpPr>
          <p:cNvPr id="2016295860" name=""/>
          <p:cNvSpPr/>
          <p:nvPr/>
        </p:nvSpPr>
        <p:spPr bwMode="auto">
          <a:xfrm flipH="0" flipV="0">
            <a:off x="515412" y="4088419"/>
            <a:ext cx="8844602" cy="9452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94023" indent="-394023">
              <a:buFont typeface="Arial"/>
              <a:buChar char="•"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Speed is defined in encoder units, not RPM</a:t>
            </a:r>
            <a:endParaRPr lang="en-US"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keeps control independent of motor specs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11029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-158809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3068578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Control Terms (Defined Once)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Measured Speed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Actual wheel speed calculated from encoder ticks</a:t>
            </a:r>
            <a:endParaRPr/>
          </a:p>
        </p:txBody>
      </p:sp>
      <p:pic>
        <p:nvPicPr>
          <p:cNvPr id="43046880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05365511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682382" y="2750677"/>
            <a:ext cx="3105149" cy="752474"/>
          </a:xfrm>
          <a:prstGeom prst="rect">
            <a:avLst/>
          </a:prstGeom>
        </p:spPr>
      </p:pic>
      <p:sp>
        <p:nvSpPr>
          <p:cNvPr id="1075589572" name=""/>
          <p:cNvSpPr/>
          <p:nvPr/>
        </p:nvSpPr>
        <p:spPr bwMode="auto">
          <a:xfrm flipH="0" flipV="0">
            <a:off x="232871" y="3429000"/>
            <a:ext cx="10258040" cy="12195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94023" indent="-394023">
              <a:buFont typeface="Arial"/>
              <a:buChar char="•"/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Error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Difference between desired speed and measured speed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/>
          </a:p>
        </p:txBody>
      </p:sp>
      <p:pic>
        <p:nvPicPr>
          <p:cNvPr id="24251619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4543425" y="4281798"/>
            <a:ext cx="4543425" cy="523874"/>
          </a:xfrm>
          <a:prstGeom prst="rect">
            <a:avLst/>
          </a:prstGeom>
        </p:spPr>
      </p:pic>
      <p:pic>
        <p:nvPicPr>
          <p:cNvPr id="773405120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4543424" y="4873755"/>
            <a:ext cx="3609974" cy="466724"/>
          </a:xfrm>
          <a:prstGeom prst="rect">
            <a:avLst/>
          </a:prstGeom>
        </p:spPr>
      </p:pic>
      <p:sp>
        <p:nvSpPr>
          <p:cNvPr id="1499242738" name=""/>
          <p:cNvSpPr/>
          <p:nvPr/>
        </p:nvSpPr>
        <p:spPr bwMode="auto">
          <a:xfrm flipH="0" flipV="0">
            <a:off x="393105" y="5340480"/>
            <a:ext cx="5759716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Error = 0 → perfect speed</a:t>
            </a:r>
            <a:endParaRPr/>
          </a:p>
        </p:txBody>
      </p:sp>
      <p:sp>
        <p:nvSpPr>
          <p:cNvPr id="1639379245" name=""/>
          <p:cNvSpPr/>
          <p:nvPr/>
        </p:nvSpPr>
        <p:spPr bwMode="auto">
          <a:xfrm flipH="0" flipV="0">
            <a:off x="393105" y="5859000"/>
            <a:ext cx="10598504" cy="8233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49965" indent="-349965">
              <a:buFont typeface="Arial"/>
              <a:buChar char="•"/>
              <a:defRPr/>
            </a:pPr>
            <a:r>
              <a:rPr sz="24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dt (Sampling Time)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Time between two control updates  </a:t>
            </a:r>
            <a:endParaRPr/>
          </a:p>
        </p:txBody>
      </p:sp>
      <p:pic>
        <p:nvPicPr>
          <p:cNvPr id="404071745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5973154" y="6177495"/>
            <a:ext cx="3514725" cy="504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56201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5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24412040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 What is PI Control?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 =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Proportional + Integral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 control is a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feedback control method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that adjusts motor PWM based on speed error.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Used in: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Industrial drives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Mobile robots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Drones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vehicles</a:t>
            </a:r>
            <a:endParaRPr/>
          </a:p>
        </p:txBody>
      </p:sp>
      <p:pic>
        <p:nvPicPr>
          <p:cNvPr id="203971935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56556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-123202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24833857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Proportional Term (P)</a:t>
            </a:r>
            <a:endParaRPr sz="2800">
              <a:solidFill>
                <a:srgbClr val="FFC000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KP — Proportional Gain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Determines how strongly the controller reacts to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current error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</p:txBody>
      </p:sp>
      <p:pic>
        <p:nvPicPr>
          <p:cNvPr id="102637141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67132316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804088" y="3347813"/>
            <a:ext cx="2000250" cy="533399"/>
          </a:xfrm>
          <a:prstGeom prst="rect">
            <a:avLst/>
          </a:prstGeom>
        </p:spPr>
      </p:pic>
      <p:sp>
        <p:nvSpPr>
          <p:cNvPr id="1569510932" name=""/>
          <p:cNvSpPr txBox="1"/>
          <p:nvPr/>
        </p:nvSpPr>
        <p:spPr bwMode="auto">
          <a:xfrm flipH="0" flipV="0">
            <a:off x="717950" y="3881213"/>
            <a:ext cx="103525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KP = 0.8;</a:t>
            </a:r>
            <a:endParaRPr/>
          </a:p>
        </p:txBody>
      </p:sp>
      <p:sp>
        <p:nvSpPr>
          <p:cNvPr id="1606660291" name=""/>
          <p:cNvSpPr/>
          <p:nvPr/>
        </p:nvSpPr>
        <p:spPr bwMode="auto">
          <a:xfrm flipH="0" flipV="0">
            <a:off x="614164" y="4478365"/>
            <a:ext cx="5423842" cy="9452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394023" indent="-394023">
              <a:buFont typeface="Arial"/>
              <a:buChar char="•"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Higher KP → faster response</a:t>
            </a:r>
            <a:endParaRPr lang="en-US" sz="2800" b="0" i="0" u="none" strike="noStrike" cap="none" spc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Too high KP → oscillation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430786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7031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55800590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 Integral Term (I)</a:t>
            </a:r>
            <a:endParaRPr sz="2800"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KI — Integral Gain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Corrects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accumulated past error</a:t>
            </a:r>
            <a:endParaRPr/>
          </a:p>
        </p:txBody>
      </p:sp>
      <p:pic>
        <p:nvPicPr>
          <p:cNvPr id="38215930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82645571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325278" y="2741775"/>
            <a:ext cx="2419349" cy="752474"/>
          </a:xfrm>
          <a:prstGeom prst="rect">
            <a:avLst/>
          </a:prstGeom>
        </p:spPr>
      </p:pic>
      <p:sp>
        <p:nvSpPr>
          <p:cNvPr id="786072675" name=""/>
          <p:cNvSpPr txBox="1"/>
          <p:nvPr/>
        </p:nvSpPr>
        <p:spPr bwMode="auto">
          <a:xfrm flipH="0" flipV="0">
            <a:off x="648965" y="3611880"/>
            <a:ext cx="10845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KI = 0.25;</a:t>
            </a:r>
            <a:endParaRPr/>
          </a:p>
        </p:txBody>
      </p:sp>
      <p:sp>
        <p:nvSpPr>
          <p:cNvPr id="354706862" name=""/>
          <p:cNvSpPr/>
          <p:nvPr/>
        </p:nvSpPr>
        <p:spPr bwMode="auto">
          <a:xfrm flipH="0" flipV="0">
            <a:off x="393105" y="4290059"/>
            <a:ext cx="4006048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Integral Term (Memory)</a:t>
            </a:r>
            <a:endParaRPr/>
          </a:p>
        </p:txBody>
      </p:sp>
      <p:pic>
        <p:nvPicPr>
          <p:cNvPr id="59443358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3325278" y="4808579"/>
            <a:ext cx="2038349" cy="447674"/>
          </a:xfrm>
          <a:prstGeom prst="rect">
            <a:avLst/>
          </a:prstGeom>
        </p:spPr>
      </p:pic>
      <p:sp>
        <p:nvSpPr>
          <p:cNvPr id="1809394875" name=""/>
          <p:cNvSpPr/>
          <p:nvPr/>
        </p:nvSpPr>
        <p:spPr bwMode="auto">
          <a:xfrm flipH="0" flipV="0">
            <a:off x="571398" y="5776671"/>
            <a:ext cx="6560629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Integral removes long-term speed drift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914343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-203319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2720759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PI Control Law (Core Formula)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Update Equation</a:t>
            </a:r>
            <a:endParaRPr/>
          </a:p>
        </p:txBody>
      </p:sp>
      <p:pic>
        <p:nvPicPr>
          <p:cNvPr id="98692697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471080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088948" y="2252172"/>
            <a:ext cx="5695949" cy="523874"/>
          </a:xfrm>
          <a:prstGeom prst="rect">
            <a:avLst/>
          </a:prstGeom>
        </p:spPr>
      </p:pic>
      <p:sp>
        <p:nvSpPr>
          <p:cNvPr id="803161935" name=""/>
          <p:cNvSpPr txBox="1"/>
          <p:nvPr/>
        </p:nvSpPr>
        <p:spPr bwMode="auto">
          <a:xfrm flipH="0" flipV="0">
            <a:off x="3010633" y="2930922"/>
            <a:ext cx="3721530" cy="762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2200">
                <a:solidFill>
                  <a:schemeClr val="bg1"/>
                </a:solidFill>
              </a:rPr>
              <a:t>pwmL += KP * errL + KI * intL;</a:t>
            </a:r>
            <a:endParaRPr sz="2200">
              <a:solidFill>
                <a:schemeClr val="bg1"/>
              </a:solidFill>
            </a:endParaRPr>
          </a:p>
          <a:p>
            <a:pPr algn="l">
              <a:defRPr/>
            </a:pPr>
            <a:r>
              <a:rPr sz="2200">
                <a:solidFill>
                  <a:schemeClr val="bg1"/>
                </a:solidFill>
              </a:rPr>
              <a:t>pwmR += KP * errR + KI * intR;</a:t>
            </a:r>
            <a:endParaRPr/>
          </a:p>
        </p:txBody>
      </p:sp>
      <p:sp>
        <p:nvSpPr>
          <p:cNvPr id="1260732620" name=""/>
          <p:cNvSpPr/>
          <p:nvPr/>
        </p:nvSpPr>
        <p:spPr bwMode="auto">
          <a:xfrm flipH="0" flipV="0">
            <a:off x="482519" y="3693282"/>
            <a:ext cx="8502177" cy="8233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4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Role of Distance (Clarified Clearly)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Distance is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still calculated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</a:t>
            </a:r>
            <a:endParaRPr/>
          </a:p>
        </p:txBody>
      </p:sp>
      <p:pic>
        <p:nvPicPr>
          <p:cNvPr id="120654112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3377666" y="4424228"/>
            <a:ext cx="4733924" cy="400050"/>
          </a:xfrm>
          <a:prstGeom prst="rect">
            <a:avLst/>
          </a:prstGeom>
        </p:spPr>
      </p:pic>
      <p:sp>
        <p:nvSpPr>
          <p:cNvPr id="1754995144" name=""/>
          <p:cNvSpPr/>
          <p:nvPr/>
        </p:nvSpPr>
        <p:spPr bwMode="auto">
          <a:xfrm flipH="0" flipV="0">
            <a:off x="482519" y="4908214"/>
            <a:ext cx="7926407" cy="19205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But distance is now used for: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Entering slow-down zone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Deciding when to stop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750015" lvl="1" indent="-349965"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Distance does NOT control speed</a:t>
            </a:r>
            <a:endParaRPr lang="en-US" sz="2400" b="1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750015" lvl="1" indent="-349965"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 controller controls speed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796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5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Distance Measurement  &amp; Straight Motion</a:t>
            </a:r>
            <a:endParaRPr/>
          </a:p>
        </p:txBody>
      </p:sp>
      <p:sp>
        <p:nvSpPr>
          <p:cNvPr id="86220880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PI Control Law (Core Formula)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Update Equation</a:t>
            </a:r>
            <a:endParaRPr/>
          </a:p>
        </p:txBody>
      </p:sp>
      <p:pic>
        <p:nvPicPr>
          <p:cNvPr id="141838320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82141706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088948" y="2252172"/>
            <a:ext cx="5695949" cy="523874"/>
          </a:xfrm>
          <a:prstGeom prst="rect">
            <a:avLst/>
          </a:prstGeom>
        </p:spPr>
      </p:pic>
      <p:sp>
        <p:nvSpPr>
          <p:cNvPr id="883027013" name=""/>
          <p:cNvSpPr txBox="1"/>
          <p:nvPr/>
        </p:nvSpPr>
        <p:spPr bwMode="auto">
          <a:xfrm flipH="0" flipV="0">
            <a:off x="3010633" y="2930922"/>
            <a:ext cx="3721530" cy="762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2200">
                <a:solidFill>
                  <a:schemeClr val="bg1"/>
                </a:solidFill>
              </a:rPr>
              <a:t>pwmL += KP * errL + KI * intL;</a:t>
            </a:r>
            <a:endParaRPr sz="2200">
              <a:solidFill>
                <a:schemeClr val="bg1"/>
              </a:solidFill>
            </a:endParaRPr>
          </a:p>
          <a:p>
            <a:pPr algn="l">
              <a:defRPr/>
            </a:pPr>
            <a:r>
              <a:rPr sz="2200">
                <a:solidFill>
                  <a:schemeClr val="bg1"/>
                </a:solidFill>
              </a:rPr>
              <a:t>pwmR += KP * errR + KI * intR;</a:t>
            </a:r>
            <a:endParaRPr/>
          </a:p>
        </p:txBody>
      </p:sp>
      <p:sp>
        <p:nvSpPr>
          <p:cNvPr id="524597739" name=""/>
          <p:cNvSpPr/>
          <p:nvPr/>
        </p:nvSpPr>
        <p:spPr bwMode="auto">
          <a:xfrm flipH="0" flipV="0">
            <a:off x="482519" y="3693282"/>
            <a:ext cx="8502177" cy="8233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4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Role of Distance (Clarified Clearly)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Distance is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still calculated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</a:t>
            </a:r>
            <a:endParaRPr/>
          </a:p>
        </p:txBody>
      </p:sp>
      <p:pic>
        <p:nvPicPr>
          <p:cNvPr id="121470746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3377666" y="4424228"/>
            <a:ext cx="4733924" cy="400050"/>
          </a:xfrm>
          <a:prstGeom prst="rect">
            <a:avLst/>
          </a:prstGeom>
        </p:spPr>
      </p:pic>
      <p:sp>
        <p:nvSpPr>
          <p:cNvPr id="1065701789" name=""/>
          <p:cNvSpPr/>
          <p:nvPr/>
        </p:nvSpPr>
        <p:spPr bwMode="auto">
          <a:xfrm flipH="0" flipV="0">
            <a:off x="482519" y="4908214"/>
            <a:ext cx="7926407" cy="19205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But distance is now used for: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Entering slow-down zone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Deciding when to stop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750015" lvl="1" indent="-349965"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Distance does NOT control speed</a:t>
            </a:r>
            <a:endParaRPr lang="en-US" sz="2400" b="1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750015" lvl="1" indent="-349965"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 controller controls speed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78756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5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Distance Measurement  &amp; Straight Motion</a:t>
            </a:r>
            <a:endParaRPr/>
          </a:p>
        </p:txBody>
      </p:sp>
      <p:sp>
        <p:nvSpPr>
          <p:cNvPr id="32621229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Algorithm (Step-by-Step)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Reset encoder counts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Every 50 ms: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Measure encoder tick change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Compute wheel speed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Calculate speed error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Apply PI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Update PWM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Check remaining distance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Brake and coast at targe</a:t>
            </a:r>
            <a:r>
              <a:rPr sz="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endParaRPr/>
          </a:p>
        </p:txBody>
      </p:sp>
      <p:pic>
        <p:nvPicPr>
          <p:cNvPr id="158196171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01731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61657" y="-46471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70684768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Flowchart</a:t>
            </a:r>
            <a:endParaRPr/>
          </a:p>
        </p:txBody>
      </p:sp>
      <p:pic>
        <p:nvPicPr>
          <p:cNvPr id="117617766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34093012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875303" y="1664649"/>
            <a:ext cx="2381249" cy="49015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794873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61657" y="42546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83604125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871" y="1308573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Code Highlights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Speed Calculation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PI Controller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Smooth Stop</a:t>
            </a:r>
            <a:endParaRPr/>
          </a:p>
        </p:txBody>
      </p:sp>
      <p:pic>
        <p:nvPicPr>
          <p:cNvPr id="77529906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54308374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406495" y="2332289"/>
            <a:ext cx="2514599" cy="361949"/>
          </a:xfrm>
          <a:prstGeom prst="rect">
            <a:avLst/>
          </a:prstGeom>
        </p:spPr>
      </p:pic>
      <p:pic>
        <p:nvPicPr>
          <p:cNvPr id="5884674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406495" y="3320397"/>
            <a:ext cx="3362324" cy="428625"/>
          </a:xfrm>
          <a:prstGeom prst="rect">
            <a:avLst/>
          </a:prstGeom>
        </p:spPr>
      </p:pic>
      <p:pic>
        <p:nvPicPr>
          <p:cNvPr id="563646963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1522219" y="4459836"/>
            <a:ext cx="1619249" cy="771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99893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5" y="-46471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29955770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359" y="1086027"/>
            <a:ext cx="11554626" cy="557256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Distance Calculation (Core Formula)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Step-1: Wheel Circumference</a:t>
            </a:r>
            <a:endParaRPr/>
          </a:p>
        </p:txBody>
      </p:sp>
      <p:pic>
        <p:nvPicPr>
          <p:cNvPr id="47783291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04616987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5572454" y="1629088"/>
            <a:ext cx="1485900" cy="466724"/>
          </a:xfrm>
          <a:prstGeom prst="rect">
            <a:avLst/>
          </a:prstGeom>
        </p:spPr>
      </p:pic>
      <p:sp>
        <p:nvSpPr>
          <p:cNvPr id="642947954" name=""/>
          <p:cNvSpPr txBox="1"/>
          <p:nvPr/>
        </p:nvSpPr>
        <p:spPr bwMode="auto">
          <a:xfrm flipH="0" flipV="0">
            <a:off x="2618060" y="2261074"/>
            <a:ext cx="665923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Program :   WHEEL_CIRC_MM = 3.1416 * WHEEL_DIAMETER_MM;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024568076" name=""/>
          <p:cNvSpPr/>
          <p:nvPr/>
        </p:nvSpPr>
        <p:spPr bwMode="auto">
          <a:xfrm flipH="0" flipV="0">
            <a:off x="513777" y="2676193"/>
            <a:ext cx="9458613" cy="7928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Step-2: Ticks per Wheel Revolution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/>
          </a:p>
        </p:txBody>
      </p:sp>
      <p:pic>
        <p:nvPicPr>
          <p:cNvPr id="75366592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4791341" y="3183255"/>
            <a:ext cx="4933949" cy="428625"/>
          </a:xfrm>
          <a:prstGeom prst="rect">
            <a:avLst/>
          </a:prstGeom>
        </p:spPr>
      </p:pic>
      <p:sp>
        <p:nvSpPr>
          <p:cNvPr id="1940220013" name=""/>
          <p:cNvSpPr txBox="1"/>
          <p:nvPr/>
        </p:nvSpPr>
        <p:spPr bwMode="auto">
          <a:xfrm flipH="0" flipV="0">
            <a:off x="2693329" y="3611880"/>
            <a:ext cx="591514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TICKS_PER_WHEEL_REV = ENCODER_PPR * GEAR_RATIO;</a:t>
            </a:r>
            <a:endParaRPr/>
          </a:p>
        </p:txBody>
      </p:sp>
      <p:sp>
        <p:nvSpPr>
          <p:cNvPr id="1484196998" name=""/>
          <p:cNvSpPr/>
          <p:nvPr/>
        </p:nvSpPr>
        <p:spPr bwMode="auto">
          <a:xfrm flipH="0" flipV="0">
            <a:off x="496141" y="4201041"/>
            <a:ext cx="4197497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Step-3: Distance per Tick</a:t>
            </a:r>
            <a:endParaRPr/>
          </a:p>
        </p:txBody>
      </p:sp>
      <p:pic>
        <p:nvPicPr>
          <p:cNvPr id="4258437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4791341" y="4201041"/>
            <a:ext cx="4933949" cy="838198"/>
          </a:xfrm>
          <a:prstGeom prst="rect">
            <a:avLst/>
          </a:prstGeom>
        </p:spPr>
      </p:pic>
      <p:sp>
        <p:nvSpPr>
          <p:cNvPr id="277166138" name=""/>
          <p:cNvSpPr txBox="1"/>
          <p:nvPr/>
        </p:nvSpPr>
        <p:spPr bwMode="auto">
          <a:xfrm flipH="0" flipV="0">
            <a:off x="2782006" y="5085174"/>
            <a:ext cx="687769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MM_PER_TICK = WHEEL_CIRC_MM / TICKS_PER_WHEEL_REV;</a:t>
            </a:r>
            <a:endParaRPr/>
          </a:p>
        </p:txBody>
      </p:sp>
      <p:sp>
        <p:nvSpPr>
          <p:cNvPr id="1348093997" name=""/>
          <p:cNvSpPr/>
          <p:nvPr/>
        </p:nvSpPr>
        <p:spPr bwMode="auto">
          <a:xfrm flipH="0" flipV="0">
            <a:off x="496141" y="5504706"/>
            <a:ext cx="9357076" cy="10671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Distance  Traveled 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		       </a:t>
            </a:r>
            <a:r>
              <a:rPr lang="en-US" sz="1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distanceMM = avgTicks * MM_PER_TICK;</a:t>
            </a:r>
            <a:endParaRPr lang="en-US" sz="2800" b="0" i="0" u="none" strike="noStrike" cap="none" spc="0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742450639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4791341" y="5605850"/>
            <a:ext cx="4933949" cy="5905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26390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4" y="-35461"/>
            <a:ext cx="10515600" cy="110368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93068448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50" y="961401"/>
            <a:ext cx="11643644" cy="57951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Car-3 -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55792230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pic>
        <p:nvPicPr>
          <p:cNvPr id="81267881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26121" y="1554661"/>
            <a:ext cx="4557756" cy="5014917"/>
          </a:xfrm>
          <a:prstGeom prst="rect">
            <a:avLst/>
          </a:prstGeom>
        </p:spPr>
      </p:pic>
      <p:sp>
        <p:nvSpPr>
          <p:cNvPr id="765377268" name=""/>
          <p:cNvSpPr/>
          <p:nvPr/>
        </p:nvSpPr>
        <p:spPr bwMode="auto">
          <a:xfrm flipH="0" flipV="0">
            <a:off x="3819812" y="3302593"/>
            <a:ext cx="2020724" cy="195841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36813947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40537" y="1495513"/>
            <a:ext cx="5287710" cy="51274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372442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3" y="-35460"/>
            <a:ext cx="10515600" cy="110368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31680168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49" y="961400"/>
            <a:ext cx="11643643" cy="579511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Hardware Architecture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5815169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867472166" name=""/>
          <p:cNvGraphicFramePr>
            <a:graphicFrameLocks xmlns:a="http://schemas.openxmlformats.org/drawingml/2006/main"/>
          </p:cNvGraphicFramePr>
          <p:nvPr/>
        </p:nvGraphicFramePr>
        <p:xfrm>
          <a:off x="4470369" y="961400"/>
          <a:ext cx="7219414" cy="710129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350000"/>
                <a:gridCol w="1563593"/>
                <a:gridCol w="3223755"/>
                <a:gridCol w="1388613"/>
              </a:tblGrid>
              <a:tr h="64266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Pin Name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Function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Description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Connected To (in Our Robot)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731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PWMA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PWM_L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Speed Control (A)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 input for Motor A speed (0-255)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6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412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AIN1 (</a:t>
                      </a:r>
                      <a:r>
                        <a:rPr sz="1200" b="0" i="1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IN1_L)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(A) Bit 1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A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7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412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AIN2 </a:t>
                      </a: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lang="en-US" sz="12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IN2_L)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(A) Bit 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A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8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370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PWMB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(PWM_R)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Speed Control (B)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 input for Motor B speed (0-255)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11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370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BIN1 </a:t>
                      </a: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lang="en-US" sz="12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IN1_R)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(B) Bit 1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B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12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370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BIN2</a:t>
                      </a: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lang="en-US" sz="12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IN2_R)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(B) Bit 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B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10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370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STBY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Standby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Enable/Disable driver (HIGH = enabled)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Usually tied to VCC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370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VM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Power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7-12V for motors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External battery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6676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VCC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Logic Power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5V from Arduino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5V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412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Ground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Common ground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GND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370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AO1/AO2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A Outputs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 to Motor A terminals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Left Motor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370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BO1/BO2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B Outputs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 to Motor B terminals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Right Motor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901783438" name=""/>
          <p:cNvSpPr txBox="1"/>
          <p:nvPr/>
        </p:nvSpPr>
        <p:spPr bwMode="auto">
          <a:xfrm flipH="0" flipV="0">
            <a:off x="364626" y="1414252"/>
            <a:ext cx="410574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>
                <a:solidFill>
                  <a:schemeClr val="bg1"/>
                </a:solidFill>
              </a:rPr>
              <a:t>TB6612 Pin configuration With Arduino</a:t>
            </a:r>
            <a:endParaRPr/>
          </a:p>
        </p:txBody>
      </p:sp>
      <p:pic>
        <p:nvPicPr>
          <p:cNvPr id="123888990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81611" y="1961358"/>
            <a:ext cx="2501052" cy="23916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3028524" name="Title 1"/>
          <p:cNvSpPr>
            <a:spLocks noGrp="1"/>
          </p:cNvSpPr>
          <p:nvPr>
            <p:ph type="title"/>
          </p:nvPr>
        </p:nvSpPr>
        <p:spPr bwMode="auto">
          <a:xfrm>
            <a:off x="197113" y="156098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51570799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7113" y="1530681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“Motor Driver ON/OFF” 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OFF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</p:txBody>
      </p:sp>
      <p:pic>
        <p:nvPicPr>
          <p:cNvPr id="181315573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917278594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818717" name="Title 1"/>
          <p:cNvSpPr>
            <a:spLocks noGrp="1"/>
          </p:cNvSpPr>
          <p:nvPr>
            <p:ph type="title"/>
          </p:nvPr>
        </p:nvSpPr>
        <p:spPr bwMode="auto">
          <a:xfrm>
            <a:off x="295033" y="4254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30083094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4068" y="1210214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Upload your the respective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8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 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Monitor the Robot car-3 Movements &amp; OLED , Monitior the functionality according to the program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55243210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2032064622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26302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2536884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70711208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155560503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15</cp:revision>
  <dcterms:created xsi:type="dcterms:W3CDTF">2025-11-29T15:09:33Z</dcterms:created>
  <dcterms:modified xsi:type="dcterms:W3CDTF">2026-01-15T18:19:31Z</dcterms:modified>
</cp:coreProperties>
</file>