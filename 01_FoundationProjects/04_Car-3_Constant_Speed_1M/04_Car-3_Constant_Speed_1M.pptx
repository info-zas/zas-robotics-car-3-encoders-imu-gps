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notesSlides/notesSlide19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06131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235536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212380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345792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820556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49072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877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986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133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709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848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039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81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6858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88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D98CCE-FE2C-5CA1-EAE1-2C238298F207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12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4134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215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4D1FE8-A3A0-A1F5-7A90-3F800231A06B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406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0384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44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0A00-E5B3-65F7-8A14-9444C04A058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47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777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347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6F63CF-A81D-7495-2DFB-4A99EC2B69ED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416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0307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801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16B5BC-4DF1-CDA1-EA61-887FDA097B96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076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270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576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F74C22-520A-969A-02AF-84D02D72861C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442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914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470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2F878-5766-05BD-8F48-B48C495D9019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140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513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978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FB806-ED78-72E5-AB12-E5E901871C8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808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676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79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812428-5081-7BB6-C8F7-7F7EB8BD34B4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604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461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6422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FB130C-7689-349C-42FF-55E2D9A0B450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546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422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051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B3346D-BC44-A229-988C-145A4C3873A8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529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89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562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F53FCD-F706-F0EC-7DAD-909C60F70AC5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80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93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95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8DDDC4-1076-5C8E-387D-91896DCF98A7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735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6355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046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D98F1F-8781-03E2-9DE7-B9420C5709AF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67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268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865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033418-10FC-AEA0-2460-021D72DA9A1B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04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874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050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82C701-26CF-9730-E481-69B77DEF5667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03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8490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468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37D2D5-2B3F-048C-142C-322AF1232805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401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1043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546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389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216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361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C87FC3-957F-DFCA-C092-65691E03839C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343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4426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315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156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387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129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313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03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660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2189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919317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9236799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41229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592025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8914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543082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281902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699449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46058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91545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64819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12702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594733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808497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80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6342515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535208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065413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571453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627990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64333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509039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68927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725756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542503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6027707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295571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2037597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3891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6189599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701521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348186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7117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481872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899759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0849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0148974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706641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45689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876583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58443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104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5709996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4793618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944788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441094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317613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582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32392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81444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091875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061999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29353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8321384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300560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705936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98958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3271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264235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25262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0119314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1708156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389918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194269335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6980716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7797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7" y="42546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20073966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1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Objective of this Program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Maintain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constant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Automatically compensate for: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Battery voltage drop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Load variation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Surface friction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accurately at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 meter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program answers a new question: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“How fast am I moving right now?”</a:t>
            </a:r>
            <a:endParaRPr/>
          </a:p>
        </p:txBody>
      </p:sp>
      <p:pic>
        <p:nvPicPr>
          <p:cNvPr id="71856707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7405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5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491866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1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Outcomes 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speed measurement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Difference between distance and speed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Closed-loop control concepts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Meaning of KP and KI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feedback is essential in robotics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31114169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9992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06165" y="-1976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7042318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175045"/>
            <a:ext cx="11023516" cy="551915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Terms</a:t>
            </a:r>
            <a:endParaRPr/>
          </a:p>
        </p:txBody>
      </p:sp>
      <p:pic>
        <p:nvPicPr>
          <p:cNvPr id="194527076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9"/>
            <a:ext cx="2037717" cy="549226"/>
          </a:xfrm>
          <a:prstGeom prst="rect">
            <a:avLst/>
          </a:prstGeom>
        </p:spPr>
      </p:pic>
      <p:graphicFrame>
        <p:nvGraphicFramePr>
          <p:cNvPr id="115402862" name=""/>
          <p:cNvGraphicFramePr>
            <a:graphicFrameLocks xmlns:a="http://schemas.openxmlformats.org/drawingml/2006/main"/>
          </p:cNvGraphicFramePr>
          <p:nvPr/>
        </p:nvGraphicFramePr>
        <p:xfrm>
          <a:off x="2000566" y="920246"/>
          <a:ext cx="8989602" cy="5773957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880000"/>
                <a:gridCol w="6096902"/>
              </a:tblGrid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Term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Meaning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5275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Tick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One digital pulse generated by the encoder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(Incremental)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 that outputs ticks proportional to shaft rotation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PPR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Number of ticks per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shaft revolution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Gear Ratio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Ratio of motor rotations to one wheel rotation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ΔTicks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Change in encoder ticks between two measurements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dt (Sampling Time)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Time interval between two control updates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Measured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Wheel speed computed as Δticks / dt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Target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Desired wheel speed set by the program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Difference between target speed and measured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KP (Proportional Gain)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Gain that reacts to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current 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KI (Integral Gain)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Gain that reacts to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accumulated 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Integral Term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Sum of error over time (controller memory)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8630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(Pulse Width Modulation)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Method to control motor voltage/speed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Loop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Repeating cycle of measure → compute → act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Closed-Loop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system using feedback from sensors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Feedback control using Proportional + Integral terms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4919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69791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9121279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1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Prerequisite Knowledge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program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builds 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previous learning.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Reused Concepts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hardware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ticks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calculation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direction logic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motor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New Learning Introduced Here: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measurement + feedback control (PI)</a:t>
            </a:r>
            <a:endParaRPr/>
          </a:p>
        </p:txBody>
      </p:sp>
      <p:pic>
        <p:nvPicPr>
          <p:cNvPr id="66117474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2983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60889" y="-1976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86050563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1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Output (Foundation Reminder)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Incremental Encoder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generates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digital pulses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Each pulse is called a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tick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Tick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One pulse generated by the encoder when the motor shaft rotates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provides ticks only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No speed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No distance</a:t>
            </a:r>
            <a:endParaRPr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(All intelligence comes from calculations)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67000263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698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7751" y="-10864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6482332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1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Speed Measurement (Key Upgrade)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Changes from Distance_1M program?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Instead of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total ticks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we now use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change in ticks over time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Speed Formula</a:t>
            </a:r>
            <a:endParaRPr/>
          </a:p>
        </p:txBody>
      </p:sp>
      <p:pic>
        <p:nvPicPr>
          <p:cNvPr id="324898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97724136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231377" y="3227572"/>
            <a:ext cx="3124199" cy="809135"/>
          </a:xfrm>
          <a:prstGeom prst="rect">
            <a:avLst/>
          </a:prstGeom>
        </p:spPr>
      </p:pic>
      <p:sp>
        <p:nvSpPr>
          <p:cNvPr id="971564435" name=""/>
          <p:cNvSpPr/>
          <p:nvPr/>
        </p:nvSpPr>
        <p:spPr bwMode="auto">
          <a:xfrm flipH="0" flipV="0">
            <a:off x="6570870" y="2756432"/>
            <a:ext cx="1914241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 Code</a:t>
            </a:r>
            <a:endParaRPr/>
          </a:p>
        </p:txBody>
      </p:sp>
      <p:pic>
        <p:nvPicPr>
          <p:cNvPr id="122634142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738714" y="3274953"/>
            <a:ext cx="2247899" cy="714375"/>
          </a:xfrm>
          <a:prstGeom prst="rect">
            <a:avLst/>
          </a:prstGeom>
        </p:spPr>
      </p:pic>
      <p:sp>
        <p:nvSpPr>
          <p:cNvPr id="375294687" name=""/>
          <p:cNvSpPr/>
          <p:nvPr/>
        </p:nvSpPr>
        <p:spPr bwMode="auto">
          <a:xfrm flipH="0" flipV="0">
            <a:off x="532438" y="4218845"/>
            <a:ext cx="9804262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Note: Indirectly the Encoder now acts as a SPEED sensor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1530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32871" y="139077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6477449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now acts as a SPEED sensor</a:t>
            </a:r>
            <a:endParaRPr/>
          </a:p>
        </p:txBody>
      </p:sp>
      <p:pic>
        <p:nvPicPr>
          <p:cNvPr id="13019114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9292219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66401" y="1815981"/>
            <a:ext cx="2295524" cy="476249"/>
          </a:xfrm>
          <a:prstGeom prst="rect">
            <a:avLst/>
          </a:prstGeom>
        </p:spPr>
      </p:pic>
      <p:sp>
        <p:nvSpPr>
          <p:cNvPr id="2047803179" name=""/>
          <p:cNvSpPr/>
          <p:nvPr/>
        </p:nvSpPr>
        <p:spPr bwMode="auto">
          <a:xfrm flipH="0" flipV="0">
            <a:off x="488316" y="2837776"/>
            <a:ext cx="8248927" cy="265212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Meaning</a:t>
            </a:r>
            <a:endParaRPr sz="2800">
              <a:solidFill>
                <a:schemeClr val="bg1"/>
              </a:solidFill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Speed is measured every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50 ms</a:t>
            </a:r>
            <a:endParaRPr sz="2800">
              <a:solidFill>
                <a:schemeClr val="bg1"/>
              </a:solidFill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PWM is updated every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50 ms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Why this matters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Stable control systems require fixed timing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2787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4890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97566460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Target Speed Definition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Target Speed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Desired wheel speed set by the programmer</a:t>
            </a:r>
            <a:endParaRPr/>
          </a:p>
        </p:txBody>
      </p:sp>
      <p:pic>
        <p:nvPicPr>
          <p:cNvPr id="61430204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4778049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056331" y="2750677"/>
            <a:ext cx="3876674" cy="857250"/>
          </a:xfrm>
          <a:prstGeom prst="rect">
            <a:avLst/>
          </a:prstGeom>
        </p:spPr>
      </p:pic>
      <p:sp>
        <p:nvSpPr>
          <p:cNvPr id="260849480" name=""/>
          <p:cNvSpPr/>
          <p:nvPr/>
        </p:nvSpPr>
        <p:spPr bwMode="auto">
          <a:xfrm flipH="0" flipV="0">
            <a:off x="515412" y="4088419"/>
            <a:ext cx="8844602" cy="9452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is defined in encoder units, not RPM</a:t>
            </a:r>
            <a:endParaRPr lang="en-US" sz="2800" b="0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keeps control independent of motor specs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2031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158809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35910936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Control Terms (Defined Once)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Measured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Actual wheel speed calculated from encoder ticks</a:t>
            </a:r>
            <a:endParaRPr/>
          </a:p>
        </p:txBody>
      </p:sp>
      <p:pic>
        <p:nvPicPr>
          <p:cNvPr id="34634462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3296037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682382" y="2750677"/>
            <a:ext cx="3105149" cy="752474"/>
          </a:xfrm>
          <a:prstGeom prst="rect">
            <a:avLst/>
          </a:prstGeom>
        </p:spPr>
      </p:pic>
      <p:sp>
        <p:nvSpPr>
          <p:cNvPr id="1189218558" name=""/>
          <p:cNvSpPr/>
          <p:nvPr/>
        </p:nvSpPr>
        <p:spPr bwMode="auto">
          <a:xfrm flipH="0" flipV="0">
            <a:off x="232871" y="3429000"/>
            <a:ext cx="10258039" cy="1219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Error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Difference between desired speed and measured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59314498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543425" y="4281798"/>
            <a:ext cx="4543425" cy="523874"/>
          </a:xfrm>
          <a:prstGeom prst="rect">
            <a:avLst/>
          </a:prstGeom>
        </p:spPr>
      </p:pic>
      <p:pic>
        <p:nvPicPr>
          <p:cNvPr id="1241057776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543424" y="4873755"/>
            <a:ext cx="3609973" cy="466724"/>
          </a:xfrm>
          <a:prstGeom prst="rect">
            <a:avLst/>
          </a:prstGeom>
        </p:spPr>
      </p:pic>
      <p:sp>
        <p:nvSpPr>
          <p:cNvPr id="335532471" name=""/>
          <p:cNvSpPr/>
          <p:nvPr/>
        </p:nvSpPr>
        <p:spPr bwMode="auto">
          <a:xfrm flipH="0" flipV="0">
            <a:off x="393105" y="5340480"/>
            <a:ext cx="5759716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Error = 0 → perfect speed</a:t>
            </a:r>
            <a:endParaRPr/>
          </a:p>
        </p:txBody>
      </p:sp>
      <p:sp>
        <p:nvSpPr>
          <p:cNvPr id="48156328" name=""/>
          <p:cNvSpPr/>
          <p:nvPr/>
        </p:nvSpPr>
        <p:spPr bwMode="auto">
          <a:xfrm flipH="0" flipV="0">
            <a:off x="393105" y="5859000"/>
            <a:ext cx="10598504" cy="823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49965" indent="-349965">
              <a:buFont typeface="Arial"/>
              <a:buChar char="•"/>
              <a:defRPr/>
            </a:pPr>
            <a:r>
              <a:rPr sz="2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dt (Sampling Time)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Time between two control updates  </a:t>
            </a:r>
            <a:endParaRPr/>
          </a:p>
        </p:txBody>
      </p:sp>
      <p:pic>
        <p:nvPicPr>
          <p:cNvPr id="62689896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973154" y="6177495"/>
            <a:ext cx="3514725" cy="504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9077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0846464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 What is PI Control?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=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Proportional + Integral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control is a 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feedback control method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that adjusts motor PWM based on speed error.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Used in: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Industrial drives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Mobile robots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Drones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vehicles</a:t>
            </a:r>
            <a:endParaRPr/>
          </a:p>
        </p:txBody>
      </p:sp>
      <p:pic>
        <p:nvPicPr>
          <p:cNvPr id="49955389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3905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123202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7163650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Proportional Term (P)</a:t>
            </a:r>
            <a:endParaRPr sz="2800">
              <a:solidFill>
                <a:srgbClr val="FFC000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KP — Proportional Gain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Determines how strongly the controller reacts to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current error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41703802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5120270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04088" y="3347813"/>
            <a:ext cx="2000250" cy="533399"/>
          </a:xfrm>
          <a:prstGeom prst="rect">
            <a:avLst/>
          </a:prstGeom>
        </p:spPr>
      </p:pic>
      <p:sp>
        <p:nvSpPr>
          <p:cNvPr id="136519853" name=""/>
          <p:cNvSpPr txBox="1"/>
          <p:nvPr/>
        </p:nvSpPr>
        <p:spPr bwMode="auto">
          <a:xfrm flipH="0" flipV="0">
            <a:off x="717950" y="3881213"/>
            <a:ext cx="10352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KP = 0.8;</a:t>
            </a:r>
            <a:endParaRPr/>
          </a:p>
        </p:txBody>
      </p:sp>
      <p:sp>
        <p:nvSpPr>
          <p:cNvPr id="1823824248" name=""/>
          <p:cNvSpPr/>
          <p:nvPr/>
        </p:nvSpPr>
        <p:spPr bwMode="auto">
          <a:xfrm flipH="0" flipV="0">
            <a:off x="614164" y="4478365"/>
            <a:ext cx="5423842" cy="9452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Higher KP → faster response</a:t>
            </a:r>
            <a:endParaRPr lang="en-US" sz="2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Too high KP → oscillation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7234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7031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64311706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 Integral Term (I)</a:t>
            </a:r>
            <a:endParaRPr sz="2800"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KI — Integral Gain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accumulated past error</a:t>
            </a:r>
            <a:endParaRPr/>
          </a:p>
        </p:txBody>
      </p:sp>
      <p:pic>
        <p:nvPicPr>
          <p:cNvPr id="141766524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0569554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25278" y="2741775"/>
            <a:ext cx="2419349" cy="752474"/>
          </a:xfrm>
          <a:prstGeom prst="rect">
            <a:avLst/>
          </a:prstGeom>
        </p:spPr>
      </p:pic>
      <p:sp>
        <p:nvSpPr>
          <p:cNvPr id="946521127" name=""/>
          <p:cNvSpPr txBox="1"/>
          <p:nvPr/>
        </p:nvSpPr>
        <p:spPr bwMode="auto">
          <a:xfrm flipH="0" flipV="0">
            <a:off x="648965" y="3611880"/>
            <a:ext cx="10845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KI = 0.25;</a:t>
            </a:r>
            <a:endParaRPr/>
          </a:p>
        </p:txBody>
      </p:sp>
      <p:sp>
        <p:nvSpPr>
          <p:cNvPr id="632229053" name=""/>
          <p:cNvSpPr/>
          <p:nvPr/>
        </p:nvSpPr>
        <p:spPr bwMode="auto">
          <a:xfrm flipH="0" flipV="0">
            <a:off x="393105" y="4290059"/>
            <a:ext cx="4006048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Integral Term (Memory)</a:t>
            </a:r>
            <a:endParaRPr/>
          </a:p>
        </p:txBody>
      </p:sp>
      <p:pic>
        <p:nvPicPr>
          <p:cNvPr id="119570420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325278" y="4808579"/>
            <a:ext cx="2038349" cy="447674"/>
          </a:xfrm>
          <a:prstGeom prst="rect">
            <a:avLst/>
          </a:prstGeom>
        </p:spPr>
      </p:pic>
      <p:sp>
        <p:nvSpPr>
          <p:cNvPr id="119111734" name=""/>
          <p:cNvSpPr/>
          <p:nvPr/>
        </p:nvSpPr>
        <p:spPr bwMode="auto">
          <a:xfrm flipH="0" flipV="0">
            <a:off x="571398" y="5776671"/>
            <a:ext cx="6560629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Integral removes long-term speed drift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2154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203319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36310140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PI Control Law (Core Formula)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Update Equation</a:t>
            </a:r>
            <a:endParaRPr/>
          </a:p>
        </p:txBody>
      </p:sp>
      <p:pic>
        <p:nvPicPr>
          <p:cNvPr id="165689224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6051236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88948" y="2252172"/>
            <a:ext cx="5695949" cy="523874"/>
          </a:xfrm>
          <a:prstGeom prst="rect">
            <a:avLst/>
          </a:prstGeom>
        </p:spPr>
      </p:pic>
      <p:sp>
        <p:nvSpPr>
          <p:cNvPr id="1225323585" name=""/>
          <p:cNvSpPr txBox="1"/>
          <p:nvPr/>
        </p:nvSpPr>
        <p:spPr bwMode="auto">
          <a:xfrm flipH="0" flipV="0">
            <a:off x="3010633" y="2930922"/>
            <a:ext cx="3721530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>
                <a:solidFill>
                  <a:schemeClr val="bg1"/>
                </a:solidFill>
              </a:rPr>
              <a:t>pwmL += KP * errL + KI * intL;</a:t>
            </a:r>
            <a:endParaRPr sz="2200">
              <a:solidFill>
                <a:schemeClr val="bg1"/>
              </a:solidFill>
            </a:endParaRPr>
          </a:p>
          <a:p>
            <a:pPr algn="l">
              <a:defRPr/>
            </a:pPr>
            <a:r>
              <a:rPr sz="2200">
                <a:solidFill>
                  <a:schemeClr val="bg1"/>
                </a:solidFill>
              </a:rPr>
              <a:t>pwmR += KP * errR + KI * intR;</a:t>
            </a:r>
            <a:endParaRPr/>
          </a:p>
        </p:txBody>
      </p:sp>
      <p:sp>
        <p:nvSpPr>
          <p:cNvPr id="2034372358" name=""/>
          <p:cNvSpPr/>
          <p:nvPr/>
        </p:nvSpPr>
        <p:spPr bwMode="auto">
          <a:xfrm flipH="0" flipV="0">
            <a:off x="482519" y="3693282"/>
            <a:ext cx="8502177" cy="823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Role of Distance (Clarified Clearly)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is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still calculated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/>
          </a:p>
        </p:txBody>
      </p:sp>
      <p:pic>
        <p:nvPicPr>
          <p:cNvPr id="14078393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377666" y="4424228"/>
            <a:ext cx="4733924" cy="400050"/>
          </a:xfrm>
          <a:prstGeom prst="rect">
            <a:avLst/>
          </a:prstGeom>
        </p:spPr>
      </p:pic>
      <p:sp>
        <p:nvSpPr>
          <p:cNvPr id="764316039" name=""/>
          <p:cNvSpPr/>
          <p:nvPr/>
        </p:nvSpPr>
        <p:spPr bwMode="auto">
          <a:xfrm flipH="0" flipV="0">
            <a:off x="482519" y="4908214"/>
            <a:ext cx="7926407" cy="1920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 distance is now used for: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Entering slow-down zone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Deciding when to stop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does NOT control speed</a:t>
            </a:r>
            <a:endParaRPr lang="en-US" sz="2400" b="1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controller controls speed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3216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&amp; Straight Motion</a:t>
            </a:r>
            <a:endParaRPr/>
          </a:p>
        </p:txBody>
      </p:sp>
      <p:sp>
        <p:nvSpPr>
          <p:cNvPr id="11052987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PI Control Law (Core Formula)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Update Equation</a:t>
            </a:r>
            <a:endParaRPr/>
          </a:p>
        </p:txBody>
      </p:sp>
      <p:pic>
        <p:nvPicPr>
          <p:cNvPr id="190803129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032175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88948" y="2252172"/>
            <a:ext cx="5695949" cy="523874"/>
          </a:xfrm>
          <a:prstGeom prst="rect">
            <a:avLst/>
          </a:prstGeom>
        </p:spPr>
      </p:pic>
      <p:sp>
        <p:nvSpPr>
          <p:cNvPr id="644242625" name=""/>
          <p:cNvSpPr txBox="1"/>
          <p:nvPr/>
        </p:nvSpPr>
        <p:spPr bwMode="auto">
          <a:xfrm flipH="0" flipV="0">
            <a:off x="3010633" y="2930922"/>
            <a:ext cx="3721530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>
                <a:solidFill>
                  <a:schemeClr val="bg1"/>
                </a:solidFill>
              </a:rPr>
              <a:t>pwmL += KP * errL + KI * intL;</a:t>
            </a:r>
            <a:endParaRPr sz="2200">
              <a:solidFill>
                <a:schemeClr val="bg1"/>
              </a:solidFill>
            </a:endParaRPr>
          </a:p>
          <a:p>
            <a:pPr algn="l">
              <a:defRPr/>
            </a:pPr>
            <a:r>
              <a:rPr sz="2200">
                <a:solidFill>
                  <a:schemeClr val="bg1"/>
                </a:solidFill>
              </a:rPr>
              <a:t>pwmR += KP * errR + KI * intR;</a:t>
            </a:r>
            <a:endParaRPr/>
          </a:p>
        </p:txBody>
      </p:sp>
      <p:sp>
        <p:nvSpPr>
          <p:cNvPr id="226008003" name=""/>
          <p:cNvSpPr/>
          <p:nvPr/>
        </p:nvSpPr>
        <p:spPr bwMode="auto">
          <a:xfrm flipH="0" flipV="0">
            <a:off x="482519" y="3693282"/>
            <a:ext cx="8502177" cy="823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Role of Distance (Clarified Clearly)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is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still calculated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/>
          </a:p>
        </p:txBody>
      </p:sp>
      <p:pic>
        <p:nvPicPr>
          <p:cNvPr id="21201925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377666" y="4424228"/>
            <a:ext cx="4733924" cy="400050"/>
          </a:xfrm>
          <a:prstGeom prst="rect">
            <a:avLst/>
          </a:prstGeom>
        </p:spPr>
      </p:pic>
      <p:sp>
        <p:nvSpPr>
          <p:cNvPr id="293907518" name=""/>
          <p:cNvSpPr/>
          <p:nvPr/>
        </p:nvSpPr>
        <p:spPr bwMode="auto">
          <a:xfrm flipH="0" flipV="0">
            <a:off x="482519" y="4908214"/>
            <a:ext cx="7926407" cy="1920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 distance is now used for: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Entering slow-down zone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Deciding when to stop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does NOT control speed</a:t>
            </a:r>
            <a:endParaRPr lang="en-US" sz="2400" b="1" i="0" u="none" strike="noStrike" cap="none" spc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50015" lvl="1" indent="-349965"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controller controls speed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279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3105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Distance Measurement  &amp; Straight Motion</a:t>
            </a:r>
            <a:endParaRPr/>
          </a:p>
        </p:txBody>
      </p:sp>
      <p:sp>
        <p:nvSpPr>
          <p:cNvPr id="5466190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Algorithm (Step-by-Step)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Reset encoder counts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Every 50 ms: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Measure encoder tick change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Calculate speed error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PI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Update PWM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Check remaining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Brake and coast at targe</a:t>
            </a:r>
            <a:r>
              <a:rPr sz="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endParaRPr/>
          </a:p>
        </p:txBody>
      </p:sp>
      <p:pic>
        <p:nvPicPr>
          <p:cNvPr id="22437716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02259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61657" y="-46471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29289609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Flowchart</a:t>
            </a:r>
            <a:endParaRPr/>
          </a:p>
        </p:txBody>
      </p:sp>
      <p:pic>
        <p:nvPicPr>
          <p:cNvPr id="186713740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0082046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75303" y="1664649"/>
            <a:ext cx="2381249" cy="4901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5724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61657" y="42546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6518895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871" y="1308573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Highlights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Calculation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PI Controller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Smooth Stop</a:t>
            </a:r>
            <a:endParaRPr/>
          </a:p>
        </p:txBody>
      </p:sp>
      <p:pic>
        <p:nvPicPr>
          <p:cNvPr id="8373499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05019830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406495" y="2332289"/>
            <a:ext cx="2514599" cy="361949"/>
          </a:xfrm>
          <a:prstGeom prst="rect">
            <a:avLst/>
          </a:prstGeom>
        </p:spPr>
      </p:pic>
      <p:pic>
        <p:nvPicPr>
          <p:cNvPr id="63722657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406495" y="3320397"/>
            <a:ext cx="3362324" cy="428625"/>
          </a:xfrm>
          <a:prstGeom prst="rect">
            <a:avLst/>
          </a:prstGeom>
        </p:spPr>
      </p:pic>
      <p:pic>
        <p:nvPicPr>
          <p:cNvPr id="1570134926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522218" y="4459836"/>
            <a:ext cx="1619249" cy="771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94533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5" y="-46471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53328882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32359" y="1086027"/>
            <a:ext cx="11554626" cy="55725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Calculation (Core Formula)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Step-1: Wheel Circumference</a:t>
            </a:r>
            <a:endParaRPr/>
          </a:p>
        </p:txBody>
      </p:sp>
      <p:pic>
        <p:nvPicPr>
          <p:cNvPr id="208637425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47282082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572454" y="1629088"/>
            <a:ext cx="1485900" cy="466724"/>
          </a:xfrm>
          <a:prstGeom prst="rect">
            <a:avLst/>
          </a:prstGeom>
        </p:spPr>
      </p:pic>
      <p:sp>
        <p:nvSpPr>
          <p:cNvPr id="1354231736" name=""/>
          <p:cNvSpPr txBox="1"/>
          <p:nvPr/>
        </p:nvSpPr>
        <p:spPr bwMode="auto">
          <a:xfrm flipH="0" flipV="0">
            <a:off x="2618060" y="2261074"/>
            <a:ext cx="665923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Program :   WHEEL_CIRC_MM = 3.1416 * WHEEL_DIAMETER_MM;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69597175" name=""/>
          <p:cNvSpPr/>
          <p:nvPr/>
        </p:nvSpPr>
        <p:spPr bwMode="auto">
          <a:xfrm flipH="0" flipV="0">
            <a:off x="513777" y="2676193"/>
            <a:ext cx="945861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Step-2: Ticks per Wheel Revolution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33500710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791341" y="3183255"/>
            <a:ext cx="4933949" cy="428625"/>
          </a:xfrm>
          <a:prstGeom prst="rect">
            <a:avLst/>
          </a:prstGeom>
        </p:spPr>
      </p:pic>
      <p:sp>
        <p:nvSpPr>
          <p:cNvPr id="1526035840" name=""/>
          <p:cNvSpPr txBox="1"/>
          <p:nvPr/>
        </p:nvSpPr>
        <p:spPr bwMode="auto">
          <a:xfrm flipH="0" flipV="0">
            <a:off x="2693329" y="3611880"/>
            <a:ext cx="59151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TICKS_PER_WHEEL_REV = ENCODER_PPR * GEAR_RATIO;</a:t>
            </a:r>
            <a:endParaRPr/>
          </a:p>
        </p:txBody>
      </p:sp>
      <p:sp>
        <p:nvSpPr>
          <p:cNvPr id="1975184953" name=""/>
          <p:cNvSpPr/>
          <p:nvPr/>
        </p:nvSpPr>
        <p:spPr bwMode="auto">
          <a:xfrm flipH="0" flipV="0">
            <a:off x="496141" y="4201041"/>
            <a:ext cx="4197497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Step-3: Distance per Tick</a:t>
            </a:r>
            <a:endParaRPr/>
          </a:p>
        </p:txBody>
      </p:sp>
      <p:pic>
        <p:nvPicPr>
          <p:cNvPr id="352799622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791341" y="4201041"/>
            <a:ext cx="4933949" cy="838198"/>
          </a:xfrm>
          <a:prstGeom prst="rect">
            <a:avLst/>
          </a:prstGeom>
        </p:spPr>
      </p:pic>
      <p:sp>
        <p:nvSpPr>
          <p:cNvPr id="270915767" name=""/>
          <p:cNvSpPr txBox="1"/>
          <p:nvPr/>
        </p:nvSpPr>
        <p:spPr bwMode="auto">
          <a:xfrm flipH="0" flipV="0">
            <a:off x="2782006" y="5085174"/>
            <a:ext cx="687769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MM_PER_TICK = WHEEL_CIRC_MM / TICKS_PER_WHEEL_REV;</a:t>
            </a:r>
            <a:endParaRPr/>
          </a:p>
        </p:txBody>
      </p:sp>
      <p:sp>
        <p:nvSpPr>
          <p:cNvPr id="1980144057" name=""/>
          <p:cNvSpPr/>
          <p:nvPr/>
        </p:nvSpPr>
        <p:spPr bwMode="auto">
          <a:xfrm flipH="0" flipV="0">
            <a:off x="496141" y="5504706"/>
            <a:ext cx="9357076" cy="1067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Distance  Traveled 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		       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distanceMM = avgTicks * MM_PER_TICK;</a:t>
            </a:r>
            <a:endParaRPr lang="en-US" sz="2800" b="0" i="0" u="none" strike="noStrike" cap="none" spc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26548642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4791341" y="5605850"/>
            <a:ext cx="4933949" cy="590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6374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3279870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Car-3 -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9184576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13030152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6121" y="1554661"/>
            <a:ext cx="4557756" cy="5014917"/>
          </a:xfrm>
          <a:prstGeom prst="rect">
            <a:avLst/>
          </a:prstGeom>
        </p:spPr>
      </p:pic>
      <p:sp>
        <p:nvSpPr>
          <p:cNvPr id="757979525" name=""/>
          <p:cNvSpPr/>
          <p:nvPr/>
        </p:nvSpPr>
        <p:spPr bwMode="auto">
          <a:xfrm flipH="0" flipV="0">
            <a:off x="3819812" y="3302593"/>
            <a:ext cx="2020724" cy="19584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9452905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7" y="1495513"/>
            <a:ext cx="5287710" cy="5127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2816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3" y="-35460"/>
            <a:ext cx="10515600" cy="110368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09932149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49" y="961400"/>
            <a:ext cx="11643643" cy="57951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Hardware Architecture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3063662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541029236" name=""/>
          <p:cNvGraphicFramePr>
            <a:graphicFrameLocks xmlns:a="http://schemas.openxmlformats.org/drawingml/2006/main"/>
          </p:cNvGraphicFramePr>
          <p:nvPr/>
        </p:nvGraphicFramePr>
        <p:xfrm>
          <a:off x="4470369" y="961400"/>
          <a:ext cx="7219414" cy="710129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50000"/>
                <a:gridCol w="1563593"/>
                <a:gridCol w="3223755"/>
                <a:gridCol w="1388613"/>
              </a:tblGrid>
              <a:tr h="64266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Pin Name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Function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Description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Connected To (in Our Robot)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731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PWMA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PWM_L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Control (A)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input for Motor A speed (0-255)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6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412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AIN1 (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IN1_L)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(A) Bit 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7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412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AIN2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IN2_L)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(A) Bit 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8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(PWM_R)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Speed Control (B)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input for Motor B speed (0-255)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BIN1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(B) Bit 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BIN2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(</a:t>
                      </a:r>
                      <a:r>
                        <a:rPr lang="en-US" sz="1200" b="0" i="1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IN2_R)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Direction (B) Bit 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direction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Pin 10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STBY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Standby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Enable/Disable driver (HIGH = enabled)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Usually tied to VCC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Power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7-12V for motors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External battery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66768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VCC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Logic Power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5V from Arduino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5V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412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Ground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Common ground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Arduino GND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AO1/AO2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A Outputs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 to Motor A terminals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Left Motor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5370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BO1/BO2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B Outputs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Connect to Motor B terminals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Right Motor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541668137" name=""/>
          <p:cNvSpPr txBox="1"/>
          <p:nvPr/>
        </p:nvSpPr>
        <p:spPr bwMode="auto">
          <a:xfrm flipH="0" flipV="0">
            <a:off x="364626" y="1414252"/>
            <a:ext cx="410574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</a:rPr>
              <a:t>TB6612 Pin configuration With Arduino</a:t>
            </a:r>
            <a:endParaRPr/>
          </a:p>
        </p:txBody>
      </p:sp>
      <p:pic>
        <p:nvPicPr>
          <p:cNvPr id="77676839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81611" y="1961358"/>
            <a:ext cx="2501052" cy="2391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307233" name="Title 1"/>
          <p:cNvSpPr>
            <a:spLocks noGrp="1"/>
          </p:cNvSpPr>
          <p:nvPr>
            <p:ph type="title"/>
          </p:nvPr>
        </p:nvSpPr>
        <p:spPr bwMode="auto">
          <a:xfrm>
            <a:off x="197113" y="156098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17158790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7113" y="153068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7772141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234288164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4150422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010769" y="3479257"/>
            <a:ext cx="2545290" cy="28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162417" name="Title 1"/>
          <p:cNvSpPr>
            <a:spLocks noGrp="1"/>
          </p:cNvSpPr>
          <p:nvPr>
            <p:ph type="title"/>
          </p:nvPr>
        </p:nvSpPr>
        <p:spPr bwMode="auto">
          <a:xfrm>
            <a:off x="194067" y="-64277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Encoder-Based Constant Speed Control using PI</a:t>
            </a:r>
            <a:endParaRPr/>
          </a:p>
        </p:txBody>
      </p:sp>
      <p:sp>
        <p:nvSpPr>
          <p:cNvPr id="13127447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7" y="1094489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58512946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30547246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652004949" name=""/>
          <p:cNvSpPr txBox="1"/>
          <p:nvPr/>
        </p:nvSpPr>
        <p:spPr bwMode="auto">
          <a:xfrm flipH="0" flipV="0">
            <a:off x="756862" y="6468596"/>
            <a:ext cx="2862434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Lesson Code – GitHub URL:</a:t>
            </a:r>
            <a:endParaRPr/>
          </a:p>
        </p:txBody>
      </p:sp>
      <p:sp>
        <p:nvSpPr>
          <p:cNvPr id="1741333150" name=""/>
          <p:cNvSpPr txBox="1"/>
          <p:nvPr/>
        </p:nvSpPr>
        <p:spPr bwMode="auto">
          <a:xfrm flipH="0" flipV="0">
            <a:off x="4434967" y="6100415"/>
            <a:ext cx="737971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https://github.com/info-zas/zas-robotics-car-3-encoders-imu-gps/tree/main/01_FoundationProjects/04_Car-3_Constant_Speed_1M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1546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1239544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72298142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16</cp:revision>
  <dcterms:created xsi:type="dcterms:W3CDTF">2025-11-29T15:09:33Z</dcterms:created>
  <dcterms:modified xsi:type="dcterms:W3CDTF">2026-01-17T16:57:39Z</dcterms:modified>
</cp:coreProperties>
</file>