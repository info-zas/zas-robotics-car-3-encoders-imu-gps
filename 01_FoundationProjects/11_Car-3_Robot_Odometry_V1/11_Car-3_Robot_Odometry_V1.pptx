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notesSlides/notesSlide2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1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5.xml" ContentType="application/vnd.openxmlformats-officedocument.presentationml.notesSlide+xml"/>
  <Override PartName="/ppt/slideLayouts/slideLayout2.xml" ContentType="application/vnd.openxmlformats-officedocument.presentationml.slideLayout+xml"/>
  <Override PartName="/ppt/notesSlides/notesSlide7.xml" ContentType="application/vnd.openxmlformats-officedocument.presentationml.notesSlide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8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22.xml" ContentType="application/vnd.openxmlformats-officedocument.presentationml.slide+xml"/>
  <Override PartName="/ppt/notesSlides/notesSlide17.xml" ContentType="application/vnd.openxmlformats-officedocument.presentationml.notesSlide+xml"/>
  <Override PartName="/docProps/app.xml" ContentType="application/vnd.openxmlformats-officedocument.extended-properties+xml"/>
  <Override PartName="/ppt/slideLayouts/slideLayout5.xml" ContentType="application/vnd.openxmlformats-officedocument.presentationml.slideLayout+xml"/>
  <Override PartName="/ppt/slides/slide4.xml" ContentType="application/vnd.openxmlformats-officedocument.presentationml.slide+xml"/>
  <Override PartName="/ppt/slides/slide21.xml" ContentType="application/vnd.openxmlformats-officedocument.presentationml.slide+xml"/>
  <Override PartName="/docProps/core.xml" ContentType="application/vnd.openxmlformats-package.core-properties+xml"/>
  <Override PartName="/ppt/slides/slide19.xml" ContentType="application/vnd.openxmlformats-officedocument.presentationml.slide+xml"/>
  <Override PartName="/ppt/viewProps.xml" ContentType="application/vnd.openxmlformats-officedocument.presentationml.viewProps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notesSlides/notesSlide8.xml" ContentType="application/vnd.openxmlformats-officedocument.presentationml.notesSlide+xml"/>
  <Override PartName="/ppt/slides/slide7.xml" ContentType="application/vnd.openxmlformats-officedocument.presentationml.slide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presentation.xml" ContentType="application/vnd.openxmlformats-officedocument.presentationml.presentation.main+xml"/>
  <Override PartName="/ppt/tableStyles.xml" ContentType="application/vnd.openxmlformats-officedocument.presentationml.tableStyles+xml"/>
  <Override PartName="/ppt/notesSlides/notesSlide19.xml" ContentType="application/vnd.openxmlformats-officedocument.presentationml.notesSlide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26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70" d="100"/>
          <a:sy n="70" d="100"/>
        </p:scale>
        <p:origin x="1166" y="278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 /><Relationship Id="rId28" Type="http://schemas.openxmlformats.org/officeDocument/2006/relationships/tableStyles" Target="tableStyles.xml" /><Relationship Id="rId29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2868646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890463998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794552305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73181373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44638070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73134702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28236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042813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23456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24628D2-0276-7CE8-68C8-A30FE23A6892}" type="slidenum">
              <a:rPr/>
              <a:t/>
            </a:fld>
            <a:endParaRPr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79569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860970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14791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B2697BB-424E-5718-8107-6BD576F420E8}" type="slidenum">
              <a:rPr/>
              <a:t/>
            </a:fld>
            <a:endParaRPr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79572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688440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11529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8A4FDE1-3F0C-4337-9D7C-1B70B7216FD1}" type="slidenum">
              <a:rPr/>
              <a:t/>
            </a:fld>
            <a:endParaRPr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83668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96123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52370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1D79D3-5FC9-EF22-B2A7-717A9B03A242}" type="slidenum">
              <a:rPr/>
              <a:t/>
            </a:fld>
            <a:endParaRPr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19294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424776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06600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54DFBE1-62A1-12E5-E6D8-3C3F4E6EF794}" type="slidenum">
              <a:rPr/>
              <a:t/>
            </a:fld>
            <a:endParaRPr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278036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453033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6790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0F9A806-CE7A-9661-08FD-7C8F9B723D00}" type="slidenum">
              <a:rPr/>
              <a:t/>
            </a:fld>
            <a:endParaRPr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18419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135392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56096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1627128-D305-82A1-A424-1A9613D22471}" type="slidenum">
              <a:rPr/>
              <a:t/>
            </a:fld>
            <a:endParaRPr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97142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651873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36844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72FFD9F-2DE9-014D-6547-9205B5C69288}" type="slidenum">
              <a:rPr/>
              <a:t/>
            </a:fld>
            <a:endParaRPr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524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769607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96952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5089B4B-DF63-1076-8201-30B83515863D}" type="slidenum">
              <a:rPr/>
              <a:t/>
            </a:fld>
            <a:endParaRPr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67236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163802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19921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6970705-C41E-70BD-DA18-743D5C6B2976}" type="slidenum">
              <a:rPr/>
              <a:t/>
            </a:fld>
            <a:endParaRPr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16456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523835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00738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8DF2F05-C3D6-A7DA-657F-77E688977965}" type="slidenum">
              <a:rPr/>
              <a:t/>
            </a:fld>
            <a:endParaRPr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52078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107304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54516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345F523-276C-FA43-BD0D-5F10F4945B3E}" type="slidenum">
              <a:rPr/>
              <a:t/>
            </a:fld>
            <a:endParaRPr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84552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352642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6690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F062D81-4D45-DAA8-EA74-F95CAEBABAE0}" type="slidenum">
              <a:rPr/>
              <a:t/>
            </a:fld>
            <a:endParaRPr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17824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184456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12553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B9BB2E1-062F-EAB7-E8E5-E847FA2D92F8}" type="slidenum">
              <a:rPr/>
              <a:t/>
            </a:fld>
            <a:endParaRPr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63850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30663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20856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9568B9-9079-1748-4FAC-09CCFF67ED9E}" type="slidenum">
              <a:rPr/>
              <a:t/>
            </a:fld>
            <a:endParaRPr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19048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54516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4613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1094F9B-CC57-C6AF-65F2-830200C8C587}" type="slidenum">
              <a:rPr/>
              <a:t/>
            </a:fld>
            <a:endParaRPr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67380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937004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31334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960F6C-126A-8AA4-3DF8-786F87268FCA}" type="slidenum">
              <a:rPr/>
              <a:t/>
            </a:fld>
            <a:endParaRPr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95313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87019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2506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29CF1E1-0932-55E4-0A31-4B49F2F9AB82}" type="slidenum">
              <a:rPr/>
              <a:t/>
            </a:fld>
            <a:endParaRPr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84537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069603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74514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03E469-01E3-20EE-DA72-C79F3CF6791E}" type="slidenum">
              <a:rPr/>
              <a:t/>
            </a:fld>
            <a:endParaRPr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06680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73869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45400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96AE28-1750-FB0A-13D1-D80273FFDC97}" type="slidenum">
              <a:rPr/>
              <a:t/>
            </a:fld>
            <a:endParaRPr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3273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280972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3149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C401278-5463-3FBB-39EC-EA3E47386B1E}" type="slidenum">
              <a:rPr/>
              <a:t/>
            </a:fld>
            <a:endParaRPr/>
          </a:p>
        </p:txBody>
      </p:sp>
    </p:spTree>
  </p:cSld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56203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604460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97123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932549-8DF2-14CE-32DE-B4134FF987BE}" type="slidenum">
              <a:rPr/>
              <a:t/>
            </a:fld>
            <a:endParaRPr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6634733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110497404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67245657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62074458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35259800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104655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1054099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29931759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4024136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61285070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3403577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99629743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5687688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84293419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1128321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268042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879687660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48387086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31037691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71835024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98522886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7976057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95157293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3614702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393887109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10349161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39385594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809660672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81074846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283361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08740170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225991339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337151786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5328831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179696815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382594502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358733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2095185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34354860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5774130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165127603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4769355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8233674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100849341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GB"/>
          </a:p>
        </p:txBody>
      </p:sp>
      <p:sp>
        <p:nvSpPr>
          <p:cNvPr id="2105471236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7693879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205023860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03272182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116223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687728954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82409647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25782078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06061708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4485925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4572907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19396232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127925846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3229357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7635892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31899060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029344959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1959782310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524514899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16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7.pn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8338953" name="Title 1"/>
          <p:cNvSpPr>
            <a:spLocks noGrp="1"/>
          </p:cNvSpPr>
          <p:nvPr>
            <p:ph type="ctrTitle"/>
          </p:nvPr>
        </p:nvSpPr>
        <p:spPr bwMode="auto">
          <a:xfrm>
            <a:off x="0" y="1122363"/>
            <a:ext cx="12192000" cy="2387600"/>
          </a:xfrm>
        </p:spPr>
        <p:txBody>
          <a:bodyPr/>
          <a:lstStyle/>
          <a:p>
            <a:pPr>
              <a:defRPr/>
            </a:pPr>
            <a:r>
              <a:rPr lang="en-GB">
                <a:solidFill>
                  <a:schemeClr val="bg1"/>
                </a:solidFill>
              </a:rPr>
              <a:t>ZAS Robotic Products</a:t>
            </a:r>
            <a:endParaRPr/>
          </a:p>
        </p:txBody>
      </p:sp>
      <p:sp>
        <p:nvSpPr>
          <p:cNvPr id="264647059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1523998" y="3602036"/>
            <a:ext cx="9144000" cy="272193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en-GB" sz="3200">
                <a:solidFill>
                  <a:schemeClr val="accent4"/>
                </a:solidFill>
              </a:rPr>
              <a:t>Navigational Robotic Series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en-GB" sz="2800">
                <a:solidFill>
                  <a:schemeClr val="accent5">
                    <a:lumMod val="75000"/>
                  </a:schemeClr>
                </a:solidFill>
                <a:latin typeface="Poppins"/>
                <a:ea typeface="Poppins"/>
                <a:cs typeface="Poppins"/>
              </a:rPr>
              <a:t>Robot Car-</a:t>
            </a:r>
            <a:r>
              <a:rPr lang="en-US" sz="2800">
                <a:solidFill>
                  <a:schemeClr val="accent5">
                    <a:lumMod val="75000"/>
                  </a:schemeClr>
                </a:solidFill>
                <a:latin typeface="Poppins"/>
                <a:ea typeface="Poppins"/>
                <a:cs typeface="Poppins"/>
              </a:rPr>
              <a:t>3</a:t>
            </a:r>
            <a:r>
              <a:rPr lang="en-GB" sz="2800">
                <a:solidFill>
                  <a:schemeClr val="accent5">
                    <a:lumMod val="75000"/>
                  </a:schemeClr>
                </a:solidFill>
                <a:latin typeface="Poppins"/>
                <a:ea typeface="Poppins"/>
                <a:cs typeface="Poppins"/>
              </a:rPr>
              <a:t> (</a:t>
            </a:r>
            <a:r>
              <a:rPr lang="en-US" sz="2800">
                <a:solidFill>
                  <a:schemeClr val="accent5">
                    <a:lumMod val="75000"/>
                  </a:schemeClr>
                </a:solidFill>
                <a:latin typeface="Poppins"/>
                <a:ea typeface="Poppins"/>
                <a:cs typeface="Poppins"/>
              </a:rPr>
              <a:t>Advanced Autonomy)</a:t>
            </a:r>
            <a:endParaRPr lang="en-GB" sz="3200">
              <a:solidFill>
                <a:schemeClr val="accent5"/>
              </a:solidFill>
            </a:endParaRPr>
          </a:p>
          <a:p>
            <a:pPr>
              <a:defRPr/>
            </a:pPr>
            <a:r>
              <a:rPr sz="36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36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Encoder Odometry with PI Speed Control</a:t>
            </a:r>
            <a:endParaRPr sz="28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>
              <a:defRPr/>
            </a:pPr>
            <a:r>
              <a:rPr lang="en-US"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(</a:t>
            </a:r>
            <a:r>
              <a:rPr sz="24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Closed-Loop Motion Control &amp; Position Estimation</a:t>
            </a:r>
            <a:r>
              <a:rPr lang="en-US"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)</a:t>
            </a:r>
            <a:endParaRPr lang="en-GB" sz="3200">
              <a:solidFill>
                <a:schemeClr val="accent5"/>
              </a:solidFill>
            </a:endParaRPr>
          </a:p>
        </p:txBody>
      </p:sp>
      <p:pic>
        <p:nvPicPr>
          <p:cNvPr id="438721944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966071" y="156102"/>
            <a:ext cx="4042963" cy="10897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1923015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23284" y="-35461"/>
            <a:ext cx="10515600" cy="1103685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Sine Wave Trajectory Tracking</a:t>
            </a:r>
            <a:endParaRPr/>
          </a:p>
        </p:txBody>
      </p:sp>
      <p:sp>
        <p:nvSpPr>
          <p:cNvPr id="628781073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187850" y="961401"/>
            <a:ext cx="11643644" cy="5795116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en-US" sz="2800" b="1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Robot Car-3 - Assembled view and Creative Board component layout</a:t>
            </a:r>
            <a:endParaRPr sz="2800" b="1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206540708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3" y="156101"/>
            <a:ext cx="2037719" cy="549228"/>
          </a:xfrm>
          <a:prstGeom prst="rect">
            <a:avLst/>
          </a:prstGeom>
        </p:spPr>
      </p:pic>
      <p:pic>
        <p:nvPicPr>
          <p:cNvPr id="122103239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26121" y="1554661"/>
            <a:ext cx="4557756" cy="5014917"/>
          </a:xfrm>
          <a:prstGeom prst="rect">
            <a:avLst/>
          </a:prstGeom>
        </p:spPr>
      </p:pic>
      <p:sp>
        <p:nvSpPr>
          <p:cNvPr id="1356795558" name=""/>
          <p:cNvSpPr/>
          <p:nvPr/>
        </p:nvSpPr>
        <p:spPr bwMode="auto">
          <a:xfrm flipH="0" flipV="0">
            <a:off x="3819812" y="3302593"/>
            <a:ext cx="2020724" cy="195841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107823302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rot="0" flipH="0" flipV="0">
            <a:off x="5840537" y="1495513"/>
            <a:ext cx="5287710" cy="51274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3374898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17147" y="42546"/>
            <a:ext cx="10515600" cy="1132499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 lang="en-US" sz="48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Encoder Odometry with PI Speed Control</a:t>
            </a:r>
            <a:endParaRPr/>
          </a:p>
        </p:txBody>
      </p:sp>
      <p:sp>
        <p:nvSpPr>
          <p:cNvPr id="1717952192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393105" y="1299671"/>
            <a:ext cx="11023515" cy="514528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Why Do We Need This Experiment?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Robots can move using: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Fixed PWM (open loop)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Simple timing logic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But </a:t>
            </a: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autonomous robots must</a:t>
            </a: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Move predictably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Correct errors automatically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Estimate where they are while moving</a:t>
            </a:r>
            <a:endParaRPr sz="2800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marL="457200" lvl="1" indent="0">
              <a:buFont typeface="Arial"/>
              <a:buNone/>
              <a:defRPr/>
            </a:pP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📌 This experiment introduces the </a:t>
            </a: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minimum building blocks of autonomy</a:t>
            </a: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.</a:t>
            </a:r>
            <a:endParaRPr/>
          </a:p>
        </p:txBody>
      </p:sp>
      <p:pic>
        <p:nvPicPr>
          <p:cNvPr id="1241039853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2" y="156100"/>
            <a:ext cx="2037718" cy="5492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2780589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17146" y="42545"/>
            <a:ext cx="10515600" cy="1132498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 lang="en-US" sz="48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Encoder Odometry with PI Speed Control</a:t>
            </a:r>
            <a:endParaRPr/>
          </a:p>
        </p:txBody>
      </p:sp>
      <p:sp>
        <p:nvSpPr>
          <p:cNvPr id="1251404239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117146" y="1014958"/>
            <a:ext cx="11299472" cy="5605696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What This Program Demonstrates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High-Level Description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This program makes the robot: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Drive </a:t>
            </a: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straight forward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Maintain </a:t>
            </a: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constant wheel speed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Estimate </a:t>
            </a: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position and orientation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Stop accurately at </a:t>
            </a: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1 meter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All using: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Encoders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PI control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Simple odometry</a:t>
            </a:r>
            <a:endParaRPr/>
          </a:p>
        </p:txBody>
      </p:sp>
      <p:pic>
        <p:nvPicPr>
          <p:cNvPr id="97414782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1" y="156099"/>
            <a:ext cx="2037717" cy="5492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781965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17146" y="42545"/>
            <a:ext cx="10515600" cy="1132498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 lang="en-US" sz="48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Encoder Odometry with PI Speed Control</a:t>
            </a:r>
            <a:endParaRPr/>
          </a:p>
        </p:txBody>
      </p:sp>
      <p:sp>
        <p:nvSpPr>
          <p:cNvPr id="1858061886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117146" y="1014958"/>
            <a:ext cx="11299472" cy="5605696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Learning Objectives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After This Experiment, Students Will Be Able To: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Explain encoder-based speed measurement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Implement PI speed control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Synchronize left &amp; right wheel motion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Estimate robot pose using odometry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Understand how closed-loop motion improves accuracy</a:t>
            </a:r>
            <a:endParaRPr/>
          </a:p>
        </p:txBody>
      </p:sp>
      <p:pic>
        <p:nvPicPr>
          <p:cNvPr id="141566320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1" y="156099"/>
            <a:ext cx="2037717" cy="5492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7493858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17146" y="42545"/>
            <a:ext cx="10515600" cy="1132498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 lang="en-US" sz="48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Encoder Odometry with PI Speed Control</a:t>
            </a:r>
            <a:endParaRPr/>
          </a:p>
        </p:txBody>
      </p:sp>
      <p:sp>
        <p:nvSpPr>
          <p:cNvPr id="1752108284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117146" y="1014958"/>
            <a:ext cx="11299472" cy="5605696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Hardware &amp; Sensors Used</a:t>
            </a:r>
            <a:endParaRPr sz="2800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marL="0" indent="0">
              <a:buFont typeface="Arial"/>
              <a:buNone/>
              <a:defRPr/>
            </a:pP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System Components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Differential drive robot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Left &amp; right DC motors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Incremental encoders (Channel A)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Motor driver (TB6612)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OLED display</a:t>
            </a:r>
            <a:endParaRPr sz="2400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📌 No IMU, no GPS — intelligence comes from </a:t>
            </a: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encoders + math</a:t>
            </a: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.</a:t>
            </a:r>
            <a:endParaRPr/>
          </a:p>
        </p:txBody>
      </p:sp>
      <p:pic>
        <p:nvPicPr>
          <p:cNvPr id="1336733187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1" y="156099"/>
            <a:ext cx="2037717" cy="5492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2168551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17146" y="42545"/>
            <a:ext cx="10515600" cy="1132498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 lang="en-US" sz="48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Encoder Odometry with PI Speed Control</a:t>
            </a:r>
            <a:endParaRPr/>
          </a:p>
        </p:txBody>
      </p:sp>
      <p:sp>
        <p:nvSpPr>
          <p:cNvPr id="1791322594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117146" y="1014958"/>
            <a:ext cx="11299472" cy="5605696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Role of Encoders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Why Encoders Are Essential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Encoders provide: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Wheel rotation count (ticks)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Speed information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Relative motion between wheels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Encoders enable: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Speed feedback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Odometry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Closed-loop correction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Without encoders, robot motion is uncontrolled.</a:t>
            </a:r>
            <a:endParaRPr/>
          </a:p>
        </p:txBody>
      </p:sp>
      <p:pic>
        <p:nvPicPr>
          <p:cNvPr id="834088341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1" y="156099"/>
            <a:ext cx="2037717" cy="5492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2323942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17146" y="42545"/>
            <a:ext cx="10515600" cy="1132498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 lang="en-US" sz="48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Encoder Odometry with PI Speed Control</a:t>
            </a:r>
            <a:endParaRPr/>
          </a:p>
        </p:txBody>
      </p:sp>
      <p:sp>
        <p:nvSpPr>
          <p:cNvPr id="139197699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117146" y="1014958"/>
            <a:ext cx="11299472" cy="5605696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Distance From Encoder Ticks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Basic Measurement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In code: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marL="0" indent="0">
              <a:buFont typeface="Arial"/>
              <a:buNone/>
              <a:defRPr/>
            </a:pPr>
            <a:r>
              <a:rPr sz="280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	</a:t>
            </a:r>
            <a:endParaRPr sz="28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📌 Converts electrical pulses into real-world distance.</a:t>
            </a:r>
            <a:endParaRPr/>
          </a:p>
          <a:p>
            <a:pPr>
              <a:defRPr/>
            </a:pPr>
            <a:endParaRPr/>
          </a:p>
        </p:txBody>
      </p:sp>
      <p:pic>
        <p:nvPicPr>
          <p:cNvPr id="1393167529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1" y="156099"/>
            <a:ext cx="2037717" cy="549226"/>
          </a:xfrm>
          <a:prstGeom prst="rect">
            <a:avLst/>
          </a:prstGeom>
        </p:spPr>
      </p:pic>
      <p:pic>
        <p:nvPicPr>
          <p:cNvPr id="200363792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951844" y="2045532"/>
            <a:ext cx="3696631" cy="398489"/>
          </a:xfrm>
          <a:prstGeom prst="rect">
            <a:avLst/>
          </a:prstGeom>
        </p:spPr>
      </p:pic>
      <p:pic>
        <p:nvPicPr>
          <p:cNvPr id="648539526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1951844" y="2810655"/>
            <a:ext cx="3609974" cy="7715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8820000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17146" y="42545"/>
            <a:ext cx="10515600" cy="1132498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 lang="en-US" sz="48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Encoder Odometry with PI Speed Control</a:t>
            </a:r>
            <a:endParaRPr/>
          </a:p>
        </p:txBody>
      </p:sp>
      <p:sp>
        <p:nvSpPr>
          <p:cNvPr id="1536912078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117146" y="1014958"/>
            <a:ext cx="11299472" cy="5605696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What Is Odometry?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Definition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Odometry</a:t>
            </a: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is the process of estimating a robot’s position using wheel motion.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It estimates: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x</a:t>
            </a: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: forward displacement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y</a:t>
            </a: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: lateral displacement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θ</a:t>
            </a: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: orientation (heading)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Odometry answers: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1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“Where am I now, based on how my wheels moved?”</a:t>
            </a:r>
            <a:endParaRPr/>
          </a:p>
        </p:txBody>
      </p:sp>
      <p:pic>
        <p:nvPicPr>
          <p:cNvPr id="868192592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1" y="156099"/>
            <a:ext cx="2037717" cy="5492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2008029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17146" y="42545"/>
            <a:ext cx="10515600" cy="1132498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 lang="en-US" sz="48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Encoder Odometry with PI Speed Control</a:t>
            </a:r>
            <a:endParaRPr/>
          </a:p>
        </p:txBody>
      </p:sp>
      <p:sp>
        <p:nvSpPr>
          <p:cNvPr id="1766515664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117146" y="1014958"/>
            <a:ext cx="11299472" cy="5605696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Differential Drive Odometry Model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Robot Kinematics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Average motion:</a:t>
            </a:r>
            <a:endParaRPr/>
          </a:p>
        </p:txBody>
      </p:sp>
      <p:pic>
        <p:nvPicPr>
          <p:cNvPr id="532814404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1" y="156099"/>
            <a:ext cx="2037717" cy="549226"/>
          </a:xfrm>
          <a:prstGeom prst="rect">
            <a:avLst/>
          </a:prstGeom>
        </p:spPr>
      </p:pic>
      <p:pic>
        <p:nvPicPr>
          <p:cNvPr id="23184589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2654507" y="2451516"/>
            <a:ext cx="1933574" cy="828675"/>
          </a:xfrm>
          <a:prstGeom prst="rect">
            <a:avLst/>
          </a:prstGeom>
        </p:spPr>
      </p:pic>
      <p:sp>
        <p:nvSpPr>
          <p:cNvPr id="1843733871" name=""/>
          <p:cNvSpPr/>
          <p:nvPr/>
        </p:nvSpPr>
        <p:spPr bwMode="auto">
          <a:xfrm flipH="0" flipV="0">
            <a:off x="532065" y="3612239"/>
            <a:ext cx="1719136" cy="51851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Rotation:</a:t>
            </a:r>
            <a:endParaRPr/>
          </a:p>
        </p:txBody>
      </p:sp>
      <p:pic>
        <p:nvPicPr>
          <p:cNvPr id="706691220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2654507" y="4075450"/>
            <a:ext cx="2038349" cy="847724"/>
          </a:xfrm>
          <a:prstGeom prst="rect">
            <a:avLst/>
          </a:prstGeom>
        </p:spPr>
      </p:pic>
      <p:sp>
        <p:nvSpPr>
          <p:cNvPr id="622506437" name=""/>
          <p:cNvSpPr/>
          <p:nvPr/>
        </p:nvSpPr>
        <p:spPr bwMode="auto">
          <a:xfrm flipH="0" flipV="0">
            <a:off x="661542" y="5695387"/>
            <a:ext cx="6351800" cy="45755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24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This model is used in most mobile robots.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8483658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17146" y="42545"/>
            <a:ext cx="10515600" cy="1132498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 lang="en-US" sz="48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Encoder Odometry with PI Speed Control</a:t>
            </a:r>
            <a:endParaRPr/>
          </a:p>
        </p:txBody>
      </p:sp>
      <p:sp>
        <p:nvSpPr>
          <p:cNvPr id="1547427526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117146" y="1014958"/>
            <a:ext cx="11299472" cy="5605696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Pose Update Equations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Updating Robot Position</a:t>
            </a:r>
            <a:endParaRPr/>
          </a:p>
        </p:txBody>
      </p:sp>
      <p:pic>
        <p:nvPicPr>
          <p:cNvPr id="1635565774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1" y="156099"/>
            <a:ext cx="2037717" cy="549226"/>
          </a:xfrm>
          <a:prstGeom prst="rect">
            <a:avLst/>
          </a:prstGeom>
        </p:spPr>
      </p:pic>
      <p:pic>
        <p:nvPicPr>
          <p:cNvPr id="76679724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4280983" y="1467786"/>
            <a:ext cx="2434959" cy="1508113"/>
          </a:xfrm>
          <a:prstGeom prst="rect">
            <a:avLst/>
          </a:prstGeom>
        </p:spPr>
      </p:pic>
      <p:sp>
        <p:nvSpPr>
          <p:cNvPr id="1583488021" name=""/>
          <p:cNvSpPr/>
          <p:nvPr/>
        </p:nvSpPr>
        <p:spPr bwMode="auto">
          <a:xfrm flipH="0" flipV="0">
            <a:off x="314582" y="3169739"/>
            <a:ext cx="6891356" cy="51851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Pose is updated continuously while moving.</a:t>
            </a:r>
            <a:endParaRPr/>
          </a:p>
        </p:txBody>
      </p:sp>
      <p:sp>
        <p:nvSpPr>
          <p:cNvPr id="1652943394" name=""/>
          <p:cNvSpPr/>
          <p:nvPr/>
        </p:nvSpPr>
        <p:spPr bwMode="auto">
          <a:xfrm flipH="0" flipV="0">
            <a:off x="404216" y="3817807"/>
            <a:ext cx="7891695" cy="307883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Why Speed Control Is Needed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Problem With Open-Loop Motion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If motors run without feedback: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marL="794073" lvl="1" indent="-394023">
              <a:buFont typeface="Arial"/>
              <a:buChar char="•"/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Battery voltage varies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marL="794073" lvl="1" indent="-394023">
              <a:buFont typeface="Arial"/>
              <a:buChar char="•"/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Motors differ slightly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marL="794073" lvl="1" indent="-394023">
              <a:buFont typeface="Arial"/>
              <a:buChar char="•"/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Robot drifts or curves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marL="394023" indent="-394023">
              <a:buFont typeface="Arial"/>
              <a:buChar char="•"/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Solution: </a:t>
            </a: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Closed-loop speed control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768806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17146" y="42545"/>
            <a:ext cx="10515600" cy="1132498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 lang="en-US" sz="48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Encoder Odometry with PI Speed Control</a:t>
            </a:r>
            <a:endParaRPr/>
          </a:p>
        </p:txBody>
      </p:sp>
      <p:sp>
        <p:nvSpPr>
          <p:cNvPr id="836036852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117146" y="1014958"/>
            <a:ext cx="11299472" cy="5605696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Speed Measurement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How Speed Is Computed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</p:txBody>
      </p:sp>
      <p:pic>
        <p:nvPicPr>
          <p:cNvPr id="1580618307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1" y="156099"/>
            <a:ext cx="2037717" cy="549226"/>
          </a:xfrm>
          <a:prstGeom prst="rect">
            <a:avLst/>
          </a:prstGeom>
        </p:spPr>
      </p:pic>
      <p:pic>
        <p:nvPicPr>
          <p:cNvPr id="17114461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4372130" y="1713625"/>
            <a:ext cx="2105024" cy="780737"/>
          </a:xfrm>
          <a:prstGeom prst="rect">
            <a:avLst/>
          </a:prstGeom>
        </p:spPr>
      </p:pic>
      <p:sp>
        <p:nvSpPr>
          <p:cNvPr id="1237826087" name=""/>
          <p:cNvSpPr/>
          <p:nvPr/>
        </p:nvSpPr>
        <p:spPr bwMode="auto">
          <a:xfrm flipH="0" flipV="0">
            <a:off x="409752" y="2556822"/>
            <a:ext cx="4965193" cy="51851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Encoders act as </a:t>
            </a: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speed sensors</a:t>
            </a: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.</a:t>
            </a:r>
            <a:endParaRPr/>
          </a:p>
        </p:txBody>
      </p:sp>
      <p:sp>
        <p:nvSpPr>
          <p:cNvPr id="895515899" name=""/>
          <p:cNvSpPr/>
          <p:nvPr/>
        </p:nvSpPr>
        <p:spPr bwMode="auto">
          <a:xfrm flipH="0" flipV="0">
            <a:off x="409752" y="3238327"/>
            <a:ext cx="8795055" cy="356651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PI Control Law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PWM Update Equation</a:t>
            </a:r>
            <a:endParaRPr sz="2800" b="1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>
              <a:defRPr/>
            </a:pPr>
            <a:endParaRPr/>
          </a:p>
          <a:p>
            <a:pPr>
              <a:defRPr/>
            </a:pPr>
            <a:endParaRPr>
              <a:solidFill>
                <a:schemeClr val="bg1"/>
              </a:solidFill>
            </a:endParaRPr>
          </a:p>
          <a:p>
            <a:pPr>
              <a:defRPr/>
            </a:pPr>
            <a:endParaRPr>
              <a:solidFill>
                <a:schemeClr val="bg1"/>
              </a:solidFill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In code: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endParaRPr/>
          </a:p>
          <a:p>
            <a:pPr>
              <a:defRPr/>
            </a:pPr>
            <a:endParaRPr/>
          </a:p>
          <a:p>
            <a:pPr>
              <a:defRPr/>
            </a:pPr>
            <a:endParaRPr/>
          </a:p>
          <a:p>
            <a:pPr>
              <a:defRPr/>
            </a:pPr>
            <a:endParaRPr/>
          </a:p>
        </p:txBody>
      </p:sp>
      <p:pic>
        <p:nvPicPr>
          <p:cNvPr id="191191535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1811311" y="4122427"/>
            <a:ext cx="5476874" cy="666749"/>
          </a:xfrm>
          <a:prstGeom prst="rect">
            <a:avLst/>
          </a:prstGeom>
        </p:spPr>
      </p:pic>
      <p:pic>
        <p:nvPicPr>
          <p:cNvPr id="1637284543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1811311" y="5351308"/>
            <a:ext cx="3124199" cy="9334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2938336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17146" y="42545"/>
            <a:ext cx="10515600" cy="1132498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 lang="en-US" sz="48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Encoder Odometry with PI Speed Control</a:t>
            </a:r>
            <a:endParaRPr/>
          </a:p>
        </p:txBody>
      </p:sp>
      <p:sp>
        <p:nvSpPr>
          <p:cNvPr id="673607042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117146" y="1014958"/>
            <a:ext cx="11299472" cy="5605696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4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Wheel Speed Synchronization</a:t>
            </a:r>
            <a:endParaRPr sz="24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4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Why Synchronize Wheels?</a:t>
            </a:r>
            <a:endParaRPr sz="24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Even with PI:</a:t>
            </a:r>
            <a:endParaRPr sz="24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0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Left and right motors behave differently</a:t>
            </a:r>
            <a:endParaRPr sz="24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Synchronization logic:</a:t>
            </a:r>
            <a:endParaRPr/>
          </a:p>
        </p:txBody>
      </p:sp>
      <p:pic>
        <p:nvPicPr>
          <p:cNvPr id="323426177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1" y="156099"/>
            <a:ext cx="2037717" cy="549226"/>
          </a:xfrm>
          <a:prstGeom prst="rect">
            <a:avLst/>
          </a:prstGeom>
        </p:spPr>
      </p:pic>
      <p:pic>
        <p:nvPicPr>
          <p:cNvPr id="61191049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1436557" y="3255832"/>
            <a:ext cx="3714750" cy="561974"/>
          </a:xfrm>
          <a:prstGeom prst="rect">
            <a:avLst/>
          </a:prstGeom>
        </p:spPr>
      </p:pic>
      <p:sp>
        <p:nvSpPr>
          <p:cNvPr id="688511343" name=""/>
          <p:cNvSpPr/>
          <p:nvPr/>
        </p:nvSpPr>
        <p:spPr bwMode="auto">
          <a:xfrm flipH="0" flipV="0">
            <a:off x="390720" y="3993379"/>
            <a:ext cx="3249834" cy="51851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Correct targets:</a:t>
            </a:r>
            <a:endParaRPr/>
          </a:p>
        </p:txBody>
      </p:sp>
      <p:pic>
        <p:nvPicPr>
          <p:cNvPr id="1162290576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1374098" y="4559508"/>
            <a:ext cx="4867274" cy="819149"/>
          </a:xfrm>
          <a:prstGeom prst="rect">
            <a:avLst/>
          </a:prstGeom>
        </p:spPr>
      </p:pic>
      <p:sp>
        <p:nvSpPr>
          <p:cNvPr id="809679288" name=""/>
          <p:cNvSpPr/>
          <p:nvPr/>
        </p:nvSpPr>
        <p:spPr bwMode="auto">
          <a:xfrm flipH="0" flipV="0">
            <a:off x="390720" y="5835920"/>
            <a:ext cx="6118758" cy="51851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marL="394023" indent="-394023">
              <a:buFont typeface="Arial"/>
              <a:buChar char="•"/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Keeps robot moving straight.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212123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17146" y="42545"/>
            <a:ext cx="10515600" cy="1132498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 lang="en-US" sz="48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Encoder Odometry with PI Speed Control</a:t>
            </a:r>
            <a:endParaRPr/>
          </a:p>
        </p:txBody>
      </p:sp>
      <p:sp>
        <p:nvSpPr>
          <p:cNvPr id="722086736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117146" y="1014958"/>
            <a:ext cx="11299472" cy="5605696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Distance-Based Speed Planning</a:t>
            </a:r>
            <a:endParaRPr sz="2800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marL="0" indent="0">
              <a:buFont typeface="Arial"/>
              <a:buNone/>
              <a:defRPr/>
            </a:pP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Smart Speed Selection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Fast when far from target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Slow near the stop point</a:t>
            </a:r>
            <a:endParaRPr/>
          </a:p>
        </p:txBody>
      </p:sp>
      <p:pic>
        <p:nvPicPr>
          <p:cNvPr id="1192795516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1" y="156099"/>
            <a:ext cx="2037717" cy="549226"/>
          </a:xfrm>
          <a:prstGeom prst="rect">
            <a:avLst/>
          </a:prstGeom>
        </p:spPr>
      </p:pic>
      <p:pic>
        <p:nvPicPr>
          <p:cNvPr id="154166487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290528" y="3514880"/>
            <a:ext cx="4362449" cy="1202335"/>
          </a:xfrm>
          <a:prstGeom prst="rect">
            <a:avLst/>
          </a:prstGeom>
        </p:spPr>
      </p:pic>
      <p:sp>
        <p:nvSpPr>
          <p:cNvPr id="1086708755" name=""/>
          <p:cNvSpPr/>
          <p:nvPr/>
        </p:nvSpPr>
        <p:spPr bwMode="auto">
          <a:xfrm flipH="0" flipV="0">
            <a:off x="506773" y="5167719"/>
            <a:ext cx="3817346" cy="51851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marL="394023" indent="-394023">
              <a:buFont typeface="Arial"/>
              <a:buChar char="•"/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Prevents overshoot.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6712485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17146" y="42545"/>
            <a:ext cx="10515600" cy="1132498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 lang="en-US" sz="48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Encoder Odometry with PI Speed Control</a:t>
            </a:r>
            <a:endParaRPr/>
          </a:p>
        </p:txBody>
      </p:sp>
      <p:sp>
        <p:nvSpPr>
          <p:cNvPr id="957533309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117146" y="1014958"/>
            <a:ext cx="11299472" cy="5605696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Overall Algorithm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Step-by-Step Logic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Read encoder ticks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Measure wheel speeds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Update odometry 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(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x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,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y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,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θ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)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Compute remaining distance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Select target speed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Synchronize wheels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Apply PI control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Update PWM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Stop at 1 meter</a:t>
            </a:r>
            <a:endParaRPr/>
          </a:p>
        </p:txBody>
      </p:sp>
      <p:pic>
        <p:nvPicPr>
          <p:cNvPr id="1202082233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1" y="156099"/>
            <a:ext cx="2037717" cy="5492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2980430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17146" y="42545"/>
            <a:ext cx="10515600" cy="1132498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 lang="en-US" sz="48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Encoder Odometry with PI Speed Control</a:t>
            </a:r>
            <a:endParaRPr/>
          </a:p>
        </p:txBody>
      </p:sp>
      <p:sp>
        <p:nvSpPr>
          <p:cNvPr id="1112934913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117146" y="1014958"/>
            <a:ext cx="11299472" cy="5605696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Flowchart</a:t>
            </a:r>
            <a:endParaRPr sz="2800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>
              <a:defRPr/>
            </a:pPr>
            <a:endParaRPr/>
          </a:p>
        </p:txBody>
      </p:sp>
      <p:pic>
        <p:nvPicPr>
          <p:cNvPr id="1620374533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1" y="156099"/>
            <a:ext cx="2037717" cy="549226"/>
          </a:xfrm>
          <a:prstGeom prst="rect">
            <a:avLst/>
          </a:prstGeom>
        </p:spPr>
      </p:pic>
      <p:pic>
        <p:nvPicPr>
          <p:cNvPr id="143695875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201680" y="1347474"/>
            <a:ext cx="2009774" cy="510141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8467365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17146" y="42545"/>
            <a:ext cx="10515600" cy="1132498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 lang="en-US" sz="48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Encoder Odometry with PI Speed Control</a:t>
            </a:r>
            <a:endParaRPr/>
          </a:p>
        </p:txBody>
      </p:sp>
      <p:sp>
        <p:nvSpPr>
          <p:cNvPr id="1976926556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117146" y="1014958"/>
            <a:ext cx="11657975" cy="5746229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0000" lnSpcReduction="4000"/>
          </a:bodyPr>
          <a:lstStyle/>
          <a:p>
            <a:pPr>
              <a:defRPr/>
            </a:pPr>
            <a:r>
              <a:rPr sz="24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Test Procedure (Laboratory Method)</a:t>
            </a:r>
            <a:endParaRPr sz="24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4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Step-by-Step Testing</a:t>
            </a:r>
            <a:endParaRPr sz="24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4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Hardware Setup</a:t>
            </a:r>
            <a:endParaRPr sz="24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Flat floor, ≥ 1.5 m space</a:t>
            </a:r>
            <a:endParaRPr sz="24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Encoder A → D2 (Left), D3 (Right)</a:t>
            </a:r>
            <a:endParaRPr sz="24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OLED address 0x3C</a:t>
            </a:r>
            <a:endParaRPr sz="24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4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Safety Test</a:t>
            </a:r>
            <a:endParaRPr sz="24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Lift robot (wheels free)</a:t>
            </a:r>
            <a:endParaRPr sz="24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Power ON</a:t>
            </a:r>
            <a:endParaRPr sz="24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Wheels rotate forward</a:t>
            </a:r>
            <a:endParaRPr sz="24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OLED distance increases</a:t>
            </a:r>
            <a:endParaRPr sz="24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4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Ground Test</a:t>
            </a:r>
            <a:endParaRPr sz="24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Place robot at marked start</a:t>
            </a:r>
            <a:endParaRPr sz="24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Power ON</a:t>
            </a:r>
            <a:endParaRPr sz="24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Measure stopping distance</a:t>
            </a:r>
            <a:endParaRPr sz="24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Observe OLED values</a:t>
            </a:r>
            <a:endParaRPr sz="2800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>
              <a:defRPr/>
            </a:pPr>
            <a:endParaRPr/>
          </a:p>
        </p:txBody>
      </p:sp>
      <p:pic>
        <p:nvPicPr>
          <p:cNvPr id="2094186983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1" y="156099"/>
            <a:ext cx="2037717" cy="5492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9667033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17146" y="42545"/>
            <a:ext cx="10515600" cy="1132498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 lang="en-US" sz="48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Encoder Odometry with PI Speed Control</a:t>
            </a:r>
            <a:endParaRPr/>
          </a:p>
        </p:txBody>
      </p:sp>
      <p:sp>
        <p:nvSpPr>
          <p:cNvPr id="1352403602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117146" y="1014958"/>
            <a:ext cx="11657975" cy="5746229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Expected Results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What Students Should Observe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Robot moves forward ~1 m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Stops smoothly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x</a:t>
            </a: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increases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y</a:t>
            </a: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≈</a:t>
            </a: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0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θ</a:t>
            </a: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≈</a:t>
            </a: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0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Left/right speeds close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PWM values slightly different</a:t>
            </a:r>
            <a:endParaRPr sz="2800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marL="0" indent="0">
              <a:buFont typeface="Arial"/>
              <a:buNone/>
              <a:defRPr/>
            </a:pP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Small PWM difference = healthy control.</a:t>
            </a:r>
            <a:endParaRPr/>
          </a:p>
        </p:txBody>
      </p:sp>
      <p:pic>
        <p:nvPicPr>
          <p:cNvPr id="1881054434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1" y="156099"/>
            <a:ext cx="2037717" cy="5492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2493080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17146" y="42545"/>
            <a:ext cx="10515600" cy="1132498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 lang="en-US" sz="48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Encoder Odometry with PI Speed Control</a:t>
            </a:r>
            <a:endParaRPr/>
          </a:p>
        </p:txBody>
      </p:sp>
      <p:sp>
        <p:nvSpPr>
          <p:cNvPr id="1274293103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117146" y="1014958"/>
            <a:ext cx="11657975" cy="5746229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5000" lnSpcReduction="3000"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Applications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Where This Is Used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Mobile robot localization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Autonomous ground vehicles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Warehouse AGVs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Robotics research platforms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Same principles scale to industry systems.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FINAL SLIDE — Key Takeaway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Big Picture Message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Motors create motion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Encoders create information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Control creates stability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Odometry creates awareness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This experiment is the foundation of autonomous navigation</a:t>
            </a:r>
            <a:r>
              <a:rPr sz="2800" b="1" i="0" u="none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.</a:t>
            </a:r>
            <a:endParaRPr/>
          </a:p>
        </p:txBody>
      </p:sp>
      <p:pic>
        <p:nvPicPr>
          <p:cNvPr id="1834002328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1" y="156099"/>
            <a:ext cx="2037717" cy="5492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8586980" name="Title 1"/>
          <p:cNvSpPr>
            <a:spLocks noGrp="1"/>
          </p:cNvSpPr>
          <p:nvPr>
            <p:ph type="title"/>
          </p:nvPr>
        </p:nvSpPr>
        <p:spPr bwMode="auto">
          <a:xfrm>
            <a:off x="197113" y="156098"/>
            <a:ext cx="10515600" cy="1325559"/>
          </a:xfrm>
        </p:spPr>
        <p:txBody>
          <a:bodyPr/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Encoder Odometry with PI Speed Control</a:t>
            </a:r>
            <a:endParaRPr/>
          </a:p>
        </p:txBody>
      </p:sp>
      <p:sp>
        <p:nvSpPr>
          <p:cNvPr id="422722371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197113" y="1530681"/>
            <a:ext cx="11196689" cy="5982711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1" i="0" u="none">
                <a:solidFill>
                  <a:schemeClr val="accent5"/>
                </a:solidFill>
                <a:latin typeface="Aptos Display"/>
                <a:ea typeface="Aptos Display"/>
                <a:cs typeface="Aptos Display"/>
              </a:rPr>
              <a:t>Critical Programming Setup</a:t>
            </a: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MANDATORY Switch Settings Before Uploading Code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Before connecting USB and uploading program: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2">
              <a:defRPr/>
            </a:pPr>
            <a:r>
              <a:rPr sz="2800" b="1" i="1" u="none">
                <a:solidFill>
                  <a:schemeClr val="accent5"/>
                </a:solidFill>
                <a:latin typeface="Aptos Display"/>
                <a:ea typeface="Aptos Display"/>
                <a:cs typeface="Aptos Display"/>
              </a:rPr>
              <a:t>“Motor Driver ON/OFF”  Switch</a:t>
            </a: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3">
              <a:defRPr/>
            </a:pPr>
            <a:r>
              <a:rPr sz="2800" b="0" i="0" u="none">
                <a:solidFill>
                  <a:schemeClr val="accent4">
                    <a:lumMod val="75000"/>
                  </a:schemeClr>
                </a:solidFill>
                <a:latin typeface="Aptos Display"/>
                <a:ea typeface="Aptos Display"/>
                <a:cs typeface="Aptos Display"/>
              </a:rPr>
              <a:t>⚠️ MUST BE SET TO: OFF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2"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Why?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3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Prevents motors from running during code upload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3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Avoids car moving unexpectedly on desk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3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Protects USB connection from power surges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</p:txBody>
      </p:sp>
      <p:pic>
        <p:nvPicPr>
          <p:cNvPr id="753390539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3" y="156099"/>
            <a:ext cx="2037717" cy="549226"/>
          </a:xfrm>
          <a:prstGeom prst="rect">
            <a:avLst/>
          </a:prstGeom>
        </p:spPr>
      </p:pic>
      <p:sp>
        <p:nvSpPr>
          <p:cNvPr id="201499758" name=""/>
          <p:cNvSpPr txBox="1"/>
          <p:nvPr/>
        </p:nvSpPr>
        <p:spPr bwMode="auto">
          <a:xfrm flipH="0" flipV="0">
            <a:off x="6004378" y="3246120"/>
            <a:ext cx="183240" cy="36575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endParaRPr/>
          </a:p>
        </p:txBody>
      </p:sp>
      <p:pic>
        <p:nvPicPr>
          <p:cNvPr id="26959324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9126493" y="3479257"/>
            <a:ext cx="2545290" cy="28001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1314132" name="Title 1"/>
          <p:cNvSpPr>
            <a:spLocks noGrp="1"/>
          </p:cNvSpPr>
          <p:nvPr>
            <p:ph type="title"/>
          </p:nvPr>
        </p:nvSpPr>
        <p:spPr bwMode="auto">
          <a:xfrm>
            <a:off x="295032" y="-10865"/>
            <a:ext cx="10515600" cy="1325559"/>
          </a:xfrm>
        </p:spPr>
        <p:txBody>
          <a:bodyPr/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Encoder Odometry with PI Speed Control</a:t>
            </a:r>
            <a:endParaRPr/>
          </a:p>
        </p:txBody>
      </p:sp>
      <p:sp>
        <p:nvSpPr>
          <p:cNvPr id="239303705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194068" y="1210214"/>
            <a:ext cx="11620618" cy="5982711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During Programming (Code Upload):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1: Connect USB cable to computer</a:t>
            </a:r>
            <a:endParaRPr sz="28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2: Set Switch “</a:t>
            </a:r>
            <a:r>
              <a:rPr lang="en-US" sz="2400" b="1" i="1" u="none" strike="noStrike" cap="none" spc="0">
                <a:solidFill>
                  <a:schemeClr val="accent5"/>
                </a:solidFill>
                <a:latin typeface="Aptos Display"/>
                <a:ea typeface="Aptos Display"/>
                <a:cs typeface="Aptos Display"/>
              </a:rPr>
              <a:t>Motor Driver ON/OFF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” → OFF</a:t>
            </a:r>
            <a:endParaRPr sz="28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lang="en-US" sz="2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3: Set Switch “</a:t>
            </a:r>
            <a:r>
              <a:rPr lang="en-US" sz="2400" b="1" i="0" u="none" strike="noStrike" cap="none" spc="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</a:rPr>
              <a:t>Battery ON/OFF </a:t>
            </a:r>
            <a:r>
              <a:rPr lang="en-US" sz="2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” → OFF -&gt;for batter power</a:t>
            </a:r>
            <a:endParaRPr sz="28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4: Upload your the respective program</a:t>
            </a:r>
            <a:endParaRPr sz="28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5: Wait for "Upload Complete" message</a:t>
            </a:r>
            <a:endParaRPr sz="28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6: Disconnect USB cable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Before Testing (Running the Robot):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1: Place robot on the ground. No obstacle as this test for basic movements </a:t>
            </a:r>
            <a:endParaRPr sz="24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2: Set Switch </a:t>
            </a:r>
            <a:r>
              <a:rPr lang="en-US" sz="2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“</a:t>
            </a:r>
            <a:r>
              <a:rPr lang="en-US" sz="2400" b="1" i="1" u="none" strike="noStrike" cap="none" spc="0">
                <a:solidFill>
                  <a:schemeClr val="accent5"/>
                </a:solidFill>
                <a:latin typeface="Aptos Display"/>
                <a:ea typeface="Aptos Display"/>
                <a:cs typeface="Aptos Display"/>
              </a:rPr>
              <a:t>Motor Driver ON/OFF</a:t>
            </a:r>
            <a:r>
              <a:rPr lang="en-US" sz="2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”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-&gt;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ON (  motor driver</a:t>
            </a:r>
            <a:r>
              <a:rPr lang="en-US" sz="2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ON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)</a:t>
            </a:r>
            <a:endParaRPr sz="24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lang="en-US" sz="2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3: Set Switch “</a:t>
            </a:r>
            <a:r>
              <a:rPr lang="en-US" sz="2800" b="1" i="0" u="none" strike="noStrike" cap="none" spc="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</a:rPr>
              <a:t>Battery ON/OFF</a:t>
            </a:r>
            <a:r>
              <a:rPr lang="en-US" sz="2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” → ON -&gt; for batter power</a:t>
            </a:r>
            <a:endParaRPr sz="24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4: Monitor the Robot car-3 Movements &amp; OLED , Monitior the functionality according to the program</a:t>
            </a:r>
            <a:endParaRPr sz="24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</p:txBody>
      </p:sp>
      <p:pic>
        <p:nvPicPr>
          <p:cNvPr id="1310018308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3" y="156099"/>
            <a:ext cx="2037717" cy="549226"/>
          </a:xfrm>
          <a:prstGeom prst="rect">
            <a:avLst/>
          </a:prstGeom>
        </p:spPr>
      </p:pic>
      <p:sp>
        <p:nvSpPr>
          <p:cNvPr id="1986964867" name=""/>
          <p:cNvSpPr txBox="1"/>
          <p:nvPr/>
        </p:nvSpPr>
        <p:spPr bwMode="auto">
          <a:xfrm flipH="0" flipV="0">
            <a:off x="6004378" y="3246120"/>
            <a:ext cx="183240" cy="36575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endParaRPr/>
          </a:p>
        </p:txBody>
      </p:sp>
      <p:sp>
        <p:nvSpPr>
          <p:cNvPr id="278522215" name=""/>
          <p:cNvSpPr txBox="1"/>
          <p:nvPr/>
        </p:nvSpPr>
        <p:spPr bwMode="auto">
          <a:xfrm flipH="0" flipV="0">
            <a:off x="495643" y="6493988"/>
            <a:ext cx="2862434" cy="3657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Lesson Code – GitHub URL:</a:t>
            </a:r>
            <a:endParaRPr/>
          </a:p>
        </p:txBody>
      </p:sp>
      <p:sp>
        <p:nvSpPr>
          <p:cNvPr id="1893529986" name=""/>
          <p:cNvSpPr txBox="1"/>
          <p:nvPr/>
        </p:nvSpPr>
        <p:spPr bwMode="auto">
          <a:xfrm flipH="0" flipV="0">
            <a:off x="4351745" y="6173767"/>
            <a:ext cx="7276086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>
                <a:solidFill>
                  <a:schemeClr val="bg1"/>
                </a:solidFill>
              </a:rPr>
              <a:t>https://github.com/info-zas/zas-robotics-car-3-encoders-imu-gps/tree/main/01_FoundationProjects/10_Car-3_Sine_Trajectory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6644224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8" y="365124"/>
            <a:ext cx="10515600" cy="2536884"/>
          </a:xfrm>
        </p:spPr>
        <p:txBody>
          <a:bodyPr/>
          <a:lstStyle/>
          <a:p>
            <a:pPr>
              <a:defRPr/>
            </a:pPr>
            <a:r>
              <a:rPr lang="en-GB">
                <a:solidFill>
                  <a:schemeClr val="bg1"/>
                </a:solidFill>
              </a:rPr>
              <a:t>Q&amp;A</a:t>
            </a:r>
            <a:endParaRPr/>
          </a:p>
        </p:txBody>
      </p:sp>
      <p:sp>
        <p:nvSpPr>
          <p:cNvPr id="21305686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endParaRPr sz="2800" b="0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Invite Questions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: Encourage the audience to ask questions for further clarification or discussion.</a:t>
            </a:r>
            <a:endParaRPr sz="2800" b="0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endParaRPr lang="en-GB">
              <a:solidFill>
                <a:schemeClr val="bg1"/>
              </a:solidFill>
            </a:endParaRPr>
          </a:p>
        </p:txBody>
      </p:sp>
      <p:pic>
        <p:nvPicPr>
          <p:cNvPr id="1904699621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4" y="156102"/>
            <a:ext cx="2037720" cy="54922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1_Office Theme">
  <a:themeElements>
    <a:clrScheme name="ZASRobotics">
      <a:dk1>
        <a:sysClr val="windowText" lastClr="000000"/>
      </a:dk1>
      <a:lt1>
        <a:sysClr val="window" lastClr="FFFFFF"/>
      </a:lt1>
      <a:dk2>
        <a:srgbClr val="0E2841"/>
      </a:dk2>
      <a:lt2>
        <a:srgbClr val="8ECAE6"/>
      </a:lt2>
      <a:accent1>
        <a:srgbClr val="219EBC"/>
      </a:accent1>
      <a:accent2>
        <a:srgbClr val="8ECAE6"/>
      </a:accent2>
      <a:accent3>
        <a:srgbClr val="023047"/>
      </a:accent3>
      <a:accent4>
        <a:srgbClr val="FF715B"/>
      </a:accent4>
      <a:accent5>
        <a:srgbClr val="F9CB4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1_Office Theme">
  <a:themeElements>
    <a:clrScheme name="ZASRobotics">
      <a:dk1>
        <a:sysClr val="windowText" lastClr="000000"/>
      </a:dk1>
      <a:lt1>
        <a:sysClr val="window" lastClr="FFFFFF"/>
      </a:lt1>
      <a:dk2>
        <a:srgbClr val="0E2841"/>
      </a:dk2>
      <a:lt2>
        <a:srgbClr val="8ECAE6"/>
      </a:lt2>
      <a:accent1>
        <a:srgbClr val="219EBC"/>
      </a:accent1>
      <a:accent2>
        <a:srgbClr val="8ECAE6"/>
      </a:accent2>
      <a:accent3>
        <a:srgbClr val="023047"/>
      </a:accent3>
      <a:accent4>
        <a:srgbClr val="FF715B"/>
      </a:accent4>
      <a:accent5>
        <a:srgbClr val="F9CB40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ONLYOFFICE/8.3.3.21</Application>
  <PresentationFormat>On-screen Show (4:3)</PresentationFormat>
  <Paragraphs>0</Paragraphs>
  <Slides>22</Slides>
  <Notes>22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Fakruddin Mohammed</dc:creator>
  <cp:lastModifiedBy/>
  <cp:revision>18</cp:revision>
  <dcterms:created xsi:type="dcterms:W3CDTF">2025-11-29T15:09:33Z</dcterms:created>
  <dcterms:modified xsi:type="dcterms:W3CDTF">2026-01-17T22:56:52Z</dcterms:modified>
</cp:coreProperties>
</file>