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5.xml" ContentType="application/vnd.openxmlformats-officedocument.presentationml.notesSlide+xml"/>
  <Override PartName="/ppt/slideLayouts/slideLayout2.xml" ContentType="application/vnd.openxmlformats-officedocument.presentationml.slideLayout+xml"/>
  <Override PartName="/ppt/notesSlides/notesSlide7.xml" ContentType="application/vnd.openxmlformats-officedocument.presentationml.notesSlide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8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2.xml" ContentType="application/vnd.openxmlformats-officedocument.presentationml.slide+xml"/>
  <Override PartName="/ppt/notesSlides/notesSlide17.xml" ContentType="application/vnd.openxmlformats-officedocument.presentationml.notesSlide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slides/slide21.xml" ContentType="application/vnd.openxmlformats-officedocument.presentationml.slide+xml"/>
  <Override PartName="/docProps/core.xml" ContentType="application/vnd.openxmlformats-package.core-properties+xml"/>
  <Override PartName="/ppt/slides/slide19.xml" ContentType="application/vnd.openxmlformats-officedocument.presentationml.slide+xml"/>
  <Override PartName="/ppt/viewProps.xml" ContentType="application/vnd.openxmlformats-officedocument.presentationml.viewProps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notesSlides/notesSlide19.xml" ContentType="application/vnd.openxmlformats-officedocument.presentationml.notes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 /><Relationship Id="rId30" Type="http://schemas.openxmlformats.org/officeDocument/2006/relationships/tableStyles" Target="tableStyles.xml" /><Relationship Id="rId3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40613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48932650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66301795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6171234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12252363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29224764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1822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33757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7470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34816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63896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119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4FDE1-3F0C-4337-9D7C-1B70B7216FD1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00406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2320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1739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2697BB-424E-5718-8107-6BD576F420E8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8418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75333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3527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D98CCE-FE2C-5CA1-EAE1-2C238298F207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021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5804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1341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008127-2428-34D8-A16B-C4CCA32AFAF9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57502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033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142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C92967-D3B8-3593-3002-C9C2CD98AF3F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51295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8484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1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A1F989-E042-9C57-84DB-46BEDD8C295E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3789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6172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3574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92CDA7-F30E-01A4-8D9E-8DD6CF3E8B7C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4904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40956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3552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29C0BF-D5C8-4209-972E-D3A8C8BFF8B3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8866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51038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0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D4A0DB-7BA5-FE0E-8545-FD5BAC9C800B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6323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7851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5322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BD2B82-E452-9945-0478-D5B027D87ACE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9739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3308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832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1F02C7-66EF-9298-1637-34F11E67DF66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7866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44271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3153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97D102-083D-4227-7887-7586DD412EB6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25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7137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98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08EA2D-6B47-7419-5E9D-09CACAFCA9BE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0652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2802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8994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98B37C-71D4-B5E4-1529-50BBDA733E75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49167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71639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3415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3F3C90-E6E5-3CAC-9DF6-C786B42DCDC7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7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6283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4100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ACBD03-6531-1035-48C0-B10690455162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157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7930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667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1B827A-A340-72F5-3CC1-2751C20721E2}" type="slidenum">
              <a:rPr/>
              <a:t/>
            </a:fld>
            <a:endParaRPr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3101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92783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58742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C99DED-E246-C65E-8EA2-A5241D0A683D}" type="slidenum">
              <a:rPr/>
              <a:t/>
            </a:fld>
            <a:endParaRPr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612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12679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1992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5CE2C0D-6683-D3E1-FABE-9E0749403957}" type="slidenum">
              <a:rPr/>
              <a:t/>
            </a:fld>
            <a:endParaRPr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99987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3332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87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4D1FE8-A3A0-A1F5-7A90-3F800231A06B}" type="slidenum">
              <a:rPr/>
              <a:t/>
            </a:fld>
            <a:endParaRPr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51074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86824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5670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6AE28-1750-FB0A-13D1-D80273FFDC97}" type="slidenum">
              <a:rPr/>
              <a:t/>
            </a:fld>
            <a:endParaRPr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76646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6024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193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/>
            </a:fld>
            <a:endParaRPr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0828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23663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84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32420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4312303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21226139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58912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270617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8295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5598581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0779296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576385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758136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735193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2525284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6220662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280793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328203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712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3949316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3984150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3685780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897551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47093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67988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711540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4809392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1816914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737262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6477813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72043372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2257846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1497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669584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11860619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94906888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61099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8809364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7671418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07887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38384876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5640237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721611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1481540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6189628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74901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1907242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12709106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230159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5904178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2845465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0391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441105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690764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846214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4386580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11960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5494012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862394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89769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41256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74225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4157612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708599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30902671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6891457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743441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655036727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8" y="3602036"/>
            <a:ext cx="9144000" cy="27219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Robot Car-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3</a:t>
            </a: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 (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Advanced Autonomy)</a:t>
            </a: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0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Sine Wave Trajectory Tracking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(</a:t>
            </a:r>
            <a:r>
              <a:rPr sz="20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Using Encoder Odometry &amp; Pure Pursuit Steering</a:t>
            </a:r>
            <a:r>
              <a:rPr lang="en-US"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49058193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45152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7" y="42546"/>
            <a:ext cx="10515600" cy="11324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Sine Wave Trajectory Tracking</a:t>
            </a:r>
            <a:endParaRPr/>
          </a:p>
        </p:txBody>
      </p:sp>
      <p:sp>
        <p:nvSpPr>
          <p:cNvPr id="190095276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5" y="1299671"/>
            <a:ext cx="11023515" cy="514528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Experiment Objective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Objective of This Experiment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goal of this experiment is to: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Make the robot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follow a predefined curved path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feedback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estimate robot position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Continuously adjust steering using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logic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Demonstrate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trajectory tracking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 not just motion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914400" lvl="2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This experiment answers: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“How does a robot follow a path, not just move?”</a:t>
            </a:r>
            <a:endParaRPr/>
          </a:p>
        </p:txBody>
      </p:sp>
      <p:pic>
        <p:nvPicPr>
          <p:cNvPr id="130296578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35925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4" y="-35461"/>
            <a:ext cx="10515600" cy="110368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Sine Wave Trajectory Tracking</a:t>
            </a:r>
            <a:endParaRPr/>
          </a:p>
        </p:txBody>
      </p:sp>
      <p:sp>
        <p:nvSpPr>
          <p:cNvPr id="198672300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50" y="961401"/>
            <a:ext cx="11643644" cy="57951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Car-3 -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87232441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pic>
        <p:nvPicPr>
          <p:cNvPr id="26817171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26121" y="1554661"/>
            <a:ext cx="4557756" cy="5014917"/>
          </a:xfrm>
          <a:prstGeom prst="rect">
            <a:avLst/>
          </a:prstGeom>
        </p:spPr>
      </p:pic>
      <p:sp>
        <p:nvSpPr>
          <p:cNvPr id="1445399726" name=""/>
          <p:cNvSpPr/>
          <p:nvPr/>
        </p:nvSpPr>
        <p:spPr bwMode="auto">
          <a:xfrm flipH="0" flipV="0">
            <a:off x="3819812" y="3302593"/>
            <a:ext cx="2020724" cy="195841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85568180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40537" y="1495513"/>
            <a:ext cx="5287710" cy="51274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33769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5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58400335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5" y="1299671"/>
            <a:ext cx="11023515" cy="514528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Prerequisites (What Students Should Know)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this experiment, students should understand: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motor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Incremental encoders (ticks)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Basic trigonometry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Cartesian coordinates 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(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x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y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Differential drive concept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lab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builds on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earlier straight-line and distance-control experiments.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79350384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96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94140555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Learning Outcomes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After This Experiment, Students Can: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Understand trajectory tracking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 encoders for localization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Implement pure pursuit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Connect math with real robot motion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Explain how autonomy is built step-by-step</a:t>
            </a:r>
            <a:endParaRPr/>
          </a:p>
        </p:txBody>
      </p:sp>
      <p:pic>
        <p:nvPicPr>
          <p:cNvPr id="110278456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8757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58021486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What Is New in This Experiment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Learning Upgrade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Earlier experiments taught: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Go forward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Stop at distance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Turn left / right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experiment teaches: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Follow a continuous curve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Steer smoothly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Correct motion in real time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This is the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entry point to autonomous navigation</a:t>
            </a:r>
            <a:endParaRPr/>
          </a:p>
        </p:txBody>
      </p:sp>
      <p:pic>
        <p:nvPicPr>
          <p:cNvPr id="205481375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46196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75565151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This Experiment Matters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Trajectory Tracking Is Important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can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move straight using simple logic.</a:t>
            </a:r>
            <a:b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But real autonomy requires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trajectory tracking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Following a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planned path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Adjusting steering continuously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Estimating position using sensors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Correcting errors during motion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experiment teaches the transition: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From </a:t>
            </a:r>
            <a:r>
              <a:rPr sz="2400" b="0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basic motion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→ to </a:t>
            </a:r>
            <a:r>
              <a:rPr sz="2400" b="0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path-following control</a:t>
            </a:r>
            <a:endParaRPr/>
          </a:p>
        </p:txBody>
      </p:sp>
      <p:pic>
        <p:nvPicPr>
          <p:cNvPr id="206244753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66977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40832032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Path Definition (Mathematical Model)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Reference Path: Sine Wave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desired path is defined as: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Where: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= amplitude (sideways swing)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λ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= wavelength (distance per cycle)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 sine path is smooth, continuous, and ideal for learning steering control.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6816442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115847270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5366044" y="2412406"/>
            <a:ext cx="2600325" cy="9429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73479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85051992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Coordinate System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Pose Definition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robot state is represented as: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x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forward position (meters)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y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sideways position (meters)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θ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heading angle (radians)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is called the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pose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The robot estimates its pose using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odometry</a:t>
            </a:r>
            <a:endParaRPr/>
          </a:p>
        </p:txBody>
      </p:sp>
      <p:pic>
        <p:nvPicPr>
          <p:cNvPr id="22285396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188814297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594394" y="4424228"/>
            <a:ext cx="1771650" cy="571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056286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9734557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Role in This Experiment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Encoders Are Critical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Encoders provide: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Wheel rotation → distance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Left vs right difference → turning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Continuous feedback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Encoders enable: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Position estimation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Heading estimation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Closed-loop motion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Without encoders, the robot is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blind</a:t>
            </a:r>
            <a:endParaRPr/>
          </a:p>
        </p:txBody>
      </p:sp>
      <p:pic>
        <p:nvPicPr>
          <p:cNvPr id="41196725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1583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28926729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Distance From Encoder Ticks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Distance Calculation Formula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 code:</a:t>
            </a:r>
            <a:endParaRPr/>
          </a:p>
        </p:txBody>
      </p:sp>
      <p:pic>
        <p:nvPicPr>
          <p:cNvPr id="22790408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75639190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851588" y="2261074"/>
            <a:ext cx="3609974" cy="438149"/>
          </a:xfrm>
          <a:prstGeom prst="rect">
            <a:avLst/>
          </a:prstGeom>
        </p:spPr>
      </p:pic>
      <p:pic>
        <p:nvPicPr>
          <p:cNvPr id="58440189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851588" y="3169065"/>
            <a:ext cx="3905249" cy="790574"/>
          </a:xfrm>
          <a:prstGeom prst="rect">
            <a:avLst/>
          </a:prstGeom>
        </p:spPr>
      </p:pic>
      <p:sp>
        <p:nvSpPr>
          <p:cNvPr id="920034930" name=""/>
          <p:cNvSpPr/>
          <p:nvPr/>
        </p:nvSpPr>
        <p:spPr bwMode="auto">
          <a:xfrm flipH="0" flipV="0">
            <a:off x="616132" y="4432489"/>
            <a:ext cx="7050007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Converts raw pulses into real-world motion.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18001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8385125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Odometry Update Equations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Pose Update Model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Pose update: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This is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classical differential drive odometry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209237454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198802622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541875" y="2243270"/>
            <a:ext cx="2124074" cy="1581149"/>
          </a:xfrm>
          <a:prstGeom prst="rect">
            <a:avLst/>
          </a:prstGeom>
        </p:spPr>
      </p:pic>
      <p:pic>
        <p:nvPicPr>
          <p:cNvPr id="106460855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3541875" y="4593364"/>
            <a:ext cx="1971675" cy="8477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29042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82676508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4" y="1299670"/>
            <a:ext cx="11023515" cy="51452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Steering Problem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Core Question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At every moment, the robot must decide: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How much should I turn?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Left or right?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How strongly?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This is solved using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Pure Pursuit Control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Pure Pursuit Concept (Intuition)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Pure Pursuit Explained Simply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Look ahead a short distance on the path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Aim the robot toward that point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Continuously repeat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Like a human walking while looking a few steps ahea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d.</a:t>
            </a:r>
            <a:endParaRPr/>
          </a:p>
        </p:txBody>
      </p:sp>
      <p:pic>
        <p:nvPicPr>
          <p:cNvPr id="93972157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89230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3190659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Lookahead Point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Lookahead Geometry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Where: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2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=  lookahead distance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 lookahead smooths steering and prevents oscillation.</a:t>
            </a:r>
            <a:endParaRPr sz="24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Heading Error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Steering Error Calculation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400"/>
          </a:p>
          <a:p>
            <a:pPr>
              <a:defRPr/>
            </a:pPr>
            <a:endParaRPr sz="2400"/>
          </a:p>
          <a:p>
            <a:pPr marL="0" indent="0">
              <a:buFont typeface="Arial"/>
              <a:buNone/>
              <a:defRPr/>
            </a:pPr>
            <a:endParaRPr sz="2400"/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📌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This error drives steering correction.</a:t>
            </a:r>
            <a:endParaRPr/>
          </a:p>
        </p:txBody>
      </p:sp>
      <p:pic>
        <p:nvPicPr>
          <p:cNvPr id="109993590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103535020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059252" y="1860490"/>
            <a:ext cx="1466849" cy="1066799"/>
          </a:xfrm>
          <a:prstGeom prst="rect">
            <a:avLst/>
          </a:prstGeom>
        </p:spPr>
      </p:pic>
      <p:pic>
        <p:nvPicPr>
          <p:cNvPr id="99271228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4059252" y="4753598"/>
            <a:ext cx="2876549" cy="1476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028730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33196753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From Error to Motor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Differential PWM Steering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Larger error → stronger turn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Smaller error → gentle correction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This is continuous steering control.</a:t>
            </a:r>
            <a:endParaRPr/>
          </a:p>
        </p:txBody>
      </p:sp>
      <p:pic>
        <p:nvPicPr>
          <p:cNvPr id="84616757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202601989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501425" y="2320360"/>
            <a:ext cx="2800349" cy="11620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84857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29585850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Algorithm (Step-by-Step)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Overall Algorithm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Read encoder ticks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Update odometry 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(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x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y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θ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Compute reference path value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Find lookahead target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Compute heading error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Adjust PWM differentially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Repeat until target distance</a:t>
            </a:r>
            <a:endParaRPr/>
          </a:p>
        </p:txBody>
      </p:sp>
      <p:pic>
        <p:nvPicPr>
          <p:cNvPr id="14390667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544942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89141908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Flowchart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endParaRPr/>
          </a:p>
        </p:txBody>
      </p:sp>
      <p:pic>
        <p:nvPicPr>
          <p:cNvPr id="28085734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  <p:pic>
        <p:nvPicPr>
          <p:cNvPr id="54146118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448013" y="1477708"/>
            <a:ext cx="2647949" cy="50028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53090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1794009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Code Highlights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Sections to Study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 interrupts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Odometry update function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Sine reference function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Pure pursuit steering logic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saturation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Students should trace data flow, not memorize code.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endParaRPr/>
          </a:p>
        </p:txBody>
      </p:sp>
      <p:pic>
        <p:nvPicPr>
          <p:cNvPr id="114333981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45398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37274954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Applications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Where This Is Used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Lane keeping in autonomous cars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AGV navigation in factories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Delivery robots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Mobile robot research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Robotics competitions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Same principles scale to high-end robots.</a:t>
            </a:r>
            <a:endParaRPr/>
          </a:p>
        </p:txBody>
      </p:sp>
      <p:pic>
        <p:nvPicPr>
          <p:cNvPr id="13275401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760148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8244" y="42544"/>
            <a:ext cx="10515600" cy="113249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55630815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4322" y="1299670"/>
            <a:ext cx="11362297" cy="548355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Takeaway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Big Picture Message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Straight motion is a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skill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Path tracking is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Encoders turn motion into information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turns information into intelligence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experiment is the bridge from motion to navigation</a:t>
            </a:r>
            <a:endParaRPr/>
          </a:p>
        </p:txBody>
      </p:sp>
      <p:pic>
        <p:nvPicPr>
          <p:cNvPr id="102524746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0" y="156098"/>
            <a:ext cx="2037717" cy="5492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150225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06165" y="-1976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69576357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3105" y="1175045"/>
            <a:ext cx="11023516" cy="551915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Key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Terms</a:t>
            </a:r>
            <a:endParaRPr/>
          </a:p>
        </p:txBody>
      </p:sp>
      <p:pic>
        <p:nvPicPr>
          <p:cNvPr id="44102581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9"/>
            <a:ext cx="2037717" cy="549226"/>
          </a:xfrm>
          <a:prstGeom prst="rect">
            <a:avLst/>
          </a:prstGeom>
        </p:spPr>
      </p:pic>
      <p:graphicFrame>
        <p:nvGraphicFramePr>
          <p:cNvPr id="880251176" name=""/>
          <p:cNvGraphicFramePr>
            <a:graphicFrameLocks xmlns:a="http://schemas.openxmlformats.org/drawingml/2006/main"/>
          </p:cNvGraphicFramePr>
          <p:nvPr/>
        </p:nvGraphicFramePr>
        <p:xfrm>
          <a:off x="2000566" y="920246"/>
          <a:ext cx="8989602" cy="5773957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880000"/>
                <a:gridCol w="6096902"/>
              </a:tblGrid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Term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Meaning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5275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Tick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One digital pulse generated by the encoder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(Incremental)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 that outputs ticks proportional to shaft rotation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PPR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Number of ticks per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shaft revolution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Gear Ratio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Ratio of motor rotations to one wheel rotation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ΔTicks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Change in encoder ticks between two measurements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dt (Sampling Time)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Time interval between two control updates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Measured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Wheel speed computed as Δticks / dt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Target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Desired wheel speed set by the program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Difference between target speed and measured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KP (Proportional Gain)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Gain that reacts to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current 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KI (Integral Gain)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Gain that reacts to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accumulated 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Integral Term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Sum of error over time (controller memory)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8630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 (Pulse Width Modulation)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Method to control motor voltage/speed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 Loop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Repeating cycle of measure → compute → act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01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Closed-Loop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 system using feedback from sensors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3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Feedback control using Proportional + Integral terms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983429" name="Title 1"/>
          <p:cNvSpPr>
            <a:spLocks noGrp="1"/>
          </p:cNvSpPr>
          <p:nvPr>
            <p:ph type="title"/>
          </p:nvPr>
        </p:nvSpPr>
        <p:spPr bwMode="auto">
          <a:xfrm>
            <a:off x="197113" y="156098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209267675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7113" y="1530681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“Motor Driver ON/OFF” 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OFF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</p:txBody>
      </p:sp>
      <p:pic>
        <p:nvPicPr>
          <p:cNvPr id="181892563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22966354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pic>
        <p:nvPicPr>
          <p:cNvPr id="186937392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9126493" y="3479257"/>
            <a:ext cx="2545290" cy="2800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878268" name="Title 1"/>
          <p:cNvSpPr>
            <a:spLocks noGrp="1"/>
          </p:cNvSpPr>
          <p:nvPr>
            <p:ph type="title"/>
          </p:nvPr>
        </p:nvSpPr>
        <p:spPr bwMode="auto">
          <a:xfrm>
            <a:off x="295033" y="4254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Encoder-Based Constant Speed Control using PI</a:t>
            </a:r>
            <a:endParaRPr/>
          </a:p>
        </p:txBody>
      </p:sp>
      <p:sp>
        <p:nvSpPr>
          <p:cNvPr id="79351017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4068" y="1210214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Upload your the respective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8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 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Monitor the Robot car-3 Movements &amp; OLED , Monitior the functionality according to the program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21072082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192051433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720415093" name=""/>
          <p:cNvSpPr txBox="1"/>
          <p:nvPr/>
        </p:nvSpPr>
        <p:spPr bwMode="auto">
          <a:xfrm flipH="0" flipV="0">
            <a:off x="495643" y="6493988"/>
            <a:ext cx="2862434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Lesson Code – GitHub URL: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406056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2536884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194440105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132582160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17</cp:revision>
  <dcterms:created xsi:type="dcterms:W3CDTF">2025-11-29T15:09:33Z</dcterms:created>
  <dcterms:modified xsi:type="dcterms:W3CDTF">2026-01-17T16:49:13Z</dcterms:modified>
</cp:coreProperties>
</file>