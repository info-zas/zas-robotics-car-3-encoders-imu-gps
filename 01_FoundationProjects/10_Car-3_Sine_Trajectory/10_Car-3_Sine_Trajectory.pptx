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17.xml" ContentType="application/vnd.openxmlformats-officedocument.presentationml.notesSlide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viewProps.xml" ContentType="application/vnd.openxmlformats-officedocument.presentationml.viewProps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notesSlides/notesSlide19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 /><Relationship Id="rId30" Type="http://schemas.openxmlformats.org/officeDocument/2006/relationships/tableStyles" Target="tableStyles.xml" /><Relationship Id="rId3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6761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5133651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0062400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80017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9632070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472351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586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5917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7519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177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2662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3323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A4FDE1-3F0C-4337-9D7C-1B70B7216FD1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1281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0922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330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2697BB-424E-5718-8107-6BD576F420E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660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8023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768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4D1FE8-A3A0-A1F5-7A90-3F800231A06B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047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6301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9320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98CCE-FE2C-5CA1-EAE1-2C238298F207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021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804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1341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008127-2428-34D8-A16B-C4CCA32AFAF9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7502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03371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142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C92967-D3B8-3593-3002-C9C2CD98AF3F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129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484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1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A1F989-E042-9C57-84DB-46BEDD8C295E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3789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617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2357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92CDA7-F30E-01A4-8D9E-8DD6CF3E8B7C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7490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40956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355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29C0BF-D5C8-4209-972E-D3A8C8BFF8B3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886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5103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0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D4A0DB-7BA5-FE0E-8545-FD5BAC9C800B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5632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785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532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BD2B82-E452-9945-0478-D5B027D87ACE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973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3308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832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1F02C7-66EF-9298-1637-34F11E67DF66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7866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4427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3153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7D102-083D-4227-7887-7586DD412EB6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25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137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98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08EA2D-6B47-7419-5E9D-09CACAFCA9BE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0652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2802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899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98B37C-71D4-B5E4-1529-50BBDA733E75}" type="slidenum">
              <a:rPr/>
              <a:t/>
            </a:fld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49167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1639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341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3F3C90-E6E5-3CAC-9DF6-C786B42DCDC7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71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283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4100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ACBD03-6531-1035-48C0-B10690455162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157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930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667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1B827A-A340-72F5-3CC1-2751C20721E2}" type="slidenum">
              <a:rPr/>
              <a:t/>
            </a:fld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3101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927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587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C99DED-E246-C65E-8EA2-A5241D0A683D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3612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1267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1992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E2C0D-6683-D3E1-FABE-9E0749403957}" type="slidenum">
              <a:rPr/>
              <a:t/>
            </a:fld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8510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8445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4662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96AE28-1750-FB0A-13D1-D80273FFDC97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8820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937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14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401278-5463-3FBB-39EC-EA3E47386B1E}" type="slidenum">
              <a:rPr/>
              <a:t/>
            </a:fld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07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29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091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817505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0716653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59010890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525839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8557036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3720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768070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7745190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1138155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043046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87247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341290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11700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342609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259379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717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387141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1307984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3887340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5838100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7031737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930251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342467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9730773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51738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892312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4589315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1959034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7961081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7343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113374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54556271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7241145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8294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4463332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3065602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29011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5863830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2425226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227944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23080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80497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80659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4959345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06945252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4152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7678202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7289665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4416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8484176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910458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374126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450932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3695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2337756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6801134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617838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1359617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13258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511183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25039847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287400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17455441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35122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172589626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8" y="3602036"/>
            <a:ext cx="9144000" cy="27219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Robot Car-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3</a:t>
            </a:r>
            <a:r>
              <a:rPr lang="en-GB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 (</a:t>
            </a:r>
            <a:r>
              <a:rPr lang="en-US" sz="2800">
                <a:solidFill>
                  <a:schemeClr val="accent5">
                    <a:lumMod val="75000"/>
                  </a:schemeClr>
                </a:solidFill>
                <a:latin typeface="Poppins"/>
                <a:ea typeface="Poppins"/>
                <a:cs typeface="Poppins"/>
              </a:rPr>
              <a:t>Advanced Autonomy)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0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Using Encoder Odometry &amp; Pure Pursuit Steering</a:t>
            </a:r>
            <a:r>
              <a:rPr lang="en-US"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190915645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4857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17147" y="42546"/>
            <a:ext cx="10515600" cy="113249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185004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Experiment Objective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Objective of This Experiment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goal of this experiment is to: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Make the robot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follow a predefined curved path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feedback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to estimate robot position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Continuously adjust steering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Demonstrate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trajectory tracking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 not just motion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914400" lvl="2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This experiment answers: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“How does a robot follow a path, not just move?”</a:t>
            </a:r>
            <a:endParaRPr/>
          </a:p>
        </p:txBody>
      </p:sp>
      <p:pic>
        <p:nvPicPr>
          <p:cNvPr id="187310853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100"/>
            <a:ext cx="2037718" cy="549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22241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3284" y="-35461"/>
            <a:ext cx="10515600" cy="1103685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91695198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7850" y="961401"/>
            <a:ext cx="11643644" cy="57951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Car-3 -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43150614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17172405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6121" y="1554661"/>
            <a:ext cx="4557756" cy="5014917"/>
          </a:xfrm>
          <a:prstGeom prst="rect">
            <a:avLst/>
          </a:prstGeom>
        </p:spPr>
      </p:pic>
      <p:sp>
        <p:nvSpPr>
          <p:cNvPr id="219064765" name=""/>
          <p:cNvSpPr/>
          <p:nvPr/>
        </p:nvSpPr>
        <p:spPr bwMode="auto">
          <a:xfrm flipH="0" flipV="0">
            <a:off x="3819812" y="3302593"/>
            <a:ext cx="2020724" cy="195841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8752417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40537" y="1495513"/>
            <a:ext cx="5287710" cy="5127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53572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206165" y="-1976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50879054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175045"/>
            <a:ext cx="11023516" cy="551915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Key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Terms</a:t>
            </a:r>
            <a:endParaRPr/>
          </a:p>
        </p:txBody>
      </p:sp>
      <p:pic>
        <p:nvPicPr>
          <p:cNvPr id="84500610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9"/>
            <a:ext cx="2037717" cy="549226"/>
          </a:xfrm>
          <a:prstGeom prst="rect">
            <a:avLst/>
          </a:prstGeom>
        </p:spPr>
      </p:pic>
      <p:graphicFrame>
        <p:nvGraphicFramePr>
          <p:cNvPr id="1009058466" name=""/>
          <p:cNvGraphicFramePr>
            <a:graphicFrameLocks xmlns:a="http://schemas.openxmlformats.org/drawingml/2006/main"/>
          </p:cNvGraphicFramePr>
          <p:nvPr/>
        </p:nvGraphicFramePr>
        <p:xfrm>
          <a:off x="2000566" y="920246"/>
          <a:ext cx="8989602" cy="5773957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880000"/>
                <a:gridCol w="6096902"/>
              </a:tblGrid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Meaning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5275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Tick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One digital pulse generated by the encoder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(Incremental)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that outputs ticks proportional to shaft rotation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Encoder PPR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Number of ticks per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motor shaft revolution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Gear Ratio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Ratio of motor rotations to one wheel rotation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ΔTicks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Change in encoder ticks between two measurements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dt (Sampling Time)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Time interval between two control updates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Measured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Wheel speed computed as Δticks / dt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Target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Desired wheel speed set by the program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Difference between target speed and measured 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KP (Proportional Gain)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Gain that reacts to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current 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KI (Integral Gain)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Gain that reacts to </a:t>
                      </a: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accumulated error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Integral Term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Sum of error over time (controller memory)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48630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PWM (Pulse Width Modulation)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Method to control motor voltage/speed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Loop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Repeating cycle of measure → compute → act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012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Closed-Loop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Control system using feedback from sensors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165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PI Control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Feedback control using Proportional + Integral terms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16824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5" y="42545"/>
            <a:ext cx="10515600" cy="113249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207050977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5" y="1299671"/>
            <a:ext cx="11023515" cy="514528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Prerequisites (What Students Should Know)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this experiment, students should understand: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motor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Incremental encoders (ticks)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Basic trigonometry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Cartesian coordinates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457200" lvl="1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 drive concept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lab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builds on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earlier straight-line and distance-control experiments.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85586412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1" y="156099"/>
            <a:ext cx="2037717" cy="549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9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9414055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Learning Outcomes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After This Experiment, Students Can: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Understand trajectory tracking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Use encoders for localization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Implement pure pursuit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Connect math with real robot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Explain how autonomy is built step-by-step</a:t>
            </a:r>
            <a:endParaRPr/>
          </a:p>
        </p:txBody>
      </p:sp>
      <p:pic>
        <p:nvPicPr>
          <p:cNvPr id="110278456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8757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58021486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What Is New in This Experiment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Learning Upgrade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Earlier experiments taught: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Go forward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Stop at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Turn left / right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teaches: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Follow a continuous curve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Steer smoothly</a:t>
            </a:r>
            <a:endParaRPr sz="2800" b="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 motion in real time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is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entry point to autonomous navigation</a:t>
            </a:r>
            <a:endParaRPr/>
          </a:p>
        </p:txBody>
      </p:sp>
      <p:pic>
        <p:nvPicPr>
          <p:cNvPr id="205481375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4619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7556515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This Experiment Matters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Trajectory Tracking Is Important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can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move straight using simple logic.</a:t>
            </a:r>
            <a:b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</a:b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But real autonomy requires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trajectory tracking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Following a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planned path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Adjusting steering continuously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Estimating position using sensors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Correcting errors during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teaches the transition: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From </a:t>
            </a:r>
            <a:r>
              <a:rPr sz="24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basic motion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to </a:t>
            </a:r>
            <a:r>
              <a:rPr sz="2400" b="0" i="1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autonomous path-following control</a:t>
            </a:r>
            <a:endParaRPr/>
          </a:p>
        </p:txBody>
      </p:sp>
      <p:pic>
        <p:nvPicPr>
          <p:cNvPr id="206244753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56697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4083203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Path Definition (Mathematical Model)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Reference Path: Sine Wave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desired path is defined as: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Where: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amplitude (sideways swing)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λ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wavelength (distance per cycle)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 sine path is smooth, continuous, and ideal for learning steering control.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6816442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15847270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9807" y="2821892"/>
            <a:ext cx="2600325" cy="94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73479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85051992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Coordinate System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Pose Definition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robot state is represented as: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forward position (meters)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sideways position (meters)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 heading angle (radians)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is called the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 pose</a:t>
            </a: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The robot estimates its pose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odometry</a:t>
            </a:r>
            <a:endParaRPr/>
          </a:p>
        </p:txBody>
      </p:sp>
      <p:pic>
        <p:nvPicPr>
          <p:cNvPr id="22285396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88814297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594394" y="4424228"/>
            <a:ext cx="1771650" cy="571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56286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39734557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Role in This Experiment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Encoders Are Critical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provide: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Wheel rotation → distance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vs right difference → turning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Continuous feedback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enable: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Position estimation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Heading estimation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Closed-loop motion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Without encoders, the robot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blind</a:t>
            </a:r>
            <a:endParaRPr/>
          </a:p>
        </p:txBody>
      </p:sp>
      <p:pic>
        <p:nvPicPr>
          <p:cNvPr id="41196725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1583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28926729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Distance From Encoder Ticks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Distance Calculation Formula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 code: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22790408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75639190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294887" y="2884205"/>
            <a:ext cx="3609974" cy="438149"/>
          </a:xfrm>
          <a:prstGeom prst="rect">
            <a:avLst/>
          </a:prstGeom>
        </p:spPr>
      </p:pic>
      <p:pic>
        <p:nvPicPr>
          <p:cNvPr id="58440189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294887" y="4478690"/>
            <a:ext cx="3750392" cy="790574"/>
          </a:xfrm>
          <a:prstGeom prst="rect">
            <a:avLst/>
          </a:prstGeom>
        </p:spPr>
      </p:pic>
      <p:sp>
        <p:nvSpPr>
          <p:cNvPr id="920034930" name=""/>
          <p:cNvSpPr/>
          <p:nvPr/>
        </p:nvSpPr>
        <p:spPr bwMode="auto">
          <a:xfrm flipH="0" flipV="0">
            <a:off x="500407" y="5732162"/>
            <a:ext cx="7050007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Converts raw pulses into real-world motion.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1800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3838512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Update Equations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Pose Update Model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Pose update: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/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This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classical differential drive odometry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209237454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9880262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541875" y="2243270"/>
            <a:ext cx="2124074" cy="1581149"/>
          </a:xfrm>
          <a:prstGeom prst="rect">
            <a:avLst/>
          </a:prstGeom>
        </p:spPr>
      </p:pic>
      <p:pic>
        <p:nvPicPr>
          <p:cNvPr id="106460855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541875" y="4593364"/>
            <a:ext cx="1971675" cy="8477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2904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8267650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393104" y="1299670"/>
            <a:ext cx="11023515" cy="514527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Steering Problem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Core Question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At every moment, the robot must decide: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much should I turn?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Left or right?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How strongly?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This is solved using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Pure Pursuit Control</a:t>
            </a: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 b="1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Pure Pursuit Concept (Intuition)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Pure Pursuit Explained Simply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Look ahead a short distance on the path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Aim the robot toward that point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Continuously repeat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Like a human walking while looking a few steps ahea</a:t>
            </a:r>
            <a:r>
              <a:rPr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d.</a:t>
            </a:r>
            <a:endParaRPr/>
          </a:p>
        </p:txBody>
      </p:sp>
      <p:pic>
        <p:nvPicPr>
          <p:cNvPr id="93972157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8923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33190659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Lookahead Point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Lookahead Geometry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Where: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=  lookahead distance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The lookahead smooths steering and prevents oscillation.</a:t>
            </a:r>
            <a:endParaRPr sz="24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Heading Error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Steering Error Calculation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endParaRPr sz="2400"/>
          </a:p>
          <a:p>
            <a:pPr>
              <a:defRPr/>
            </a:pPr>
            <a:endParaRPr sz="2400"/>
          </a:p>
          <a:p>
            <a:pPr marL="0" indent="0">
              <a:buFont typeface="Arial"/>
              <a:buNone/>
              <a:defRPr/>
            </a:pPr>
            <a:endParaRPr sz="2400"/>
          </a:p>
          <a:p>
            <a:pPr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📌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This error drives steering correction.</a:t>
            </a:r>
            <a:endParaRPr/>
          </a:p>
        </p:txBody>
      </p:sp>
      <p:pic>
        <p:nvPicPr>
          <p:cNvPr id="109993590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103535020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059252" y="1860490"/>
            <a:ext cx="1466849" cy="1066799"/>
          </a:xfrm>
          <a:prstGeom prst="rect">
            <a:avLst/>
          </a:prstGeom>
        </p:spPr>
      </p:pic>
      <p:pic>
        <p:nvPicPr>
          <p:cNvPr id="99271228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059252" y="4753598"/>
            <a:ext cx="2876549" cy="14763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028730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33196753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From Error to Motor Control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Differential PWM Steering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Larger error → stronger turn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Smaller error → gentle correction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📌 This is continuous steering control.</a:t>
            </a:r>
            <a:endParaRPr/>
          </a:p>
        </p:txBody>
      </p:sp>
      <p:pic>
        <p:nvPicPr>
          <p:cNvPr id="8461675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20260198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01425" y="2320360"/>
            <a:ext cx="2800349" cy="11620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84857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29585850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Algorithm (Step-by-Step)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Overall Algorithm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Read encoder ticks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Update odometry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(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x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y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θ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reference path value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Find lookahead target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Compute heading error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Adjust PWM differentially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Repeat until target distance</a:t>
            </a:r>
            <a:endParaRPr/>
          </a:p>
        </p:txBody>
      </p:sp>
      <p:pic>
        <p:nvPicPr>
          <p:cNvPr id="14390667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4494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89141908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Flowchart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280857349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  <p:pic>
        <p:nvPicPr>
          <p:cNvPr id="54146118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48013" y="1477708"/>
            <a:ext cx="2647949" cy="50028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53090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7940092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Code Highlights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Sections to Study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 interrupts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Odometry update function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reference function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Pure pursuit steering logic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PWM saturation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Students should trace data flow, not memorize code.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>
              <a:defRPr/>
            </a:pPr>
            <a:endParaRPr/>
          </a:p>
        </p:txBody>
      </p:sp>
      <p:pic>
        <p:nvPicPr>
          <p:cNvPr id="114333981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4539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37274954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Applications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Where This Is Used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Lane keeping in autonomous cars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AGV navigation in factories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Delivery robots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Mobile robot research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Robotics competitions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Same principles scale to high-end robots.</a:t>
            </a:r>
            <a:endParaRPr/>
          </a:p>
        </p:txBody>
      </p:sp>
      <p:pic>
        <p:nvPicPr>
          <p:cNvPr id="13275401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60148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8244" y="42544"/>
            <a:ext cx="10515600" cy="1132497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5563081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54322" y="1299670"/>
            <a:ext cx="11362297" cy="5483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Key Takeaway</a:t>
            </a:r>
            <a:endParaRPr sz="2800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Big Picture Message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Straight motion is a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skill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Path tracking is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autonomy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Encoders turn motion into information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Control turns information into intelligence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This experiment is the bridge from motion to navigation</a:t>
            </a:r>
            <a:endParaRPr/>
          </a:p>
        </p:txBody>
      </p:sp>
      <p:pic>
        <p:nvPicPr>
          <p:cNvPr id="102524746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0" y="156098"/>
            <a:ext cx="2037717" cy="549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934203" name="Title 1"/>
          <p:cNvSpPr>
            <a:spLocks noGrp="1"/>
          </p:cNvSpPr>
          <p:nvPr>
            <p:ph type="title"/>
          </p:nvPr>
        </p:nvSpPr>
        <p:spPr bwMode="auto">
          <a:xfrm>
            <a:off x="197113" y="156098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113921735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7113" y="1530681"/>
            <a:ext cx="11196689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“Motor Driver ON/OFF” 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OFF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3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</p:txBody>
      </p:sp>
      <p:pic>
        <p:nvPicPr>
          <p:cNvPr id="162172805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809791061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pic>
        <p:nvPicPr>
          <p:cNvPr id="10561318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126493" y="3479257"/>
            <a:ext cx="2545290" cy="2800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91317" name="Title 1"/>
          <p:cNvSpPr>
            <a:spLocks noGrp="1"/>
          </p:cNvSpPr>
          <p:nvPr>
            <p:ph type="title"/>
          </p:nvPr>
        </p:nvSpPr>
        <p:spPr bwMode="auto">
          <a:xfrm>
            <a:off x="295032" y="-10865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Sine Wave Trajectory Tracking</a:t>
            </a:r>
            <a:endParaRPr/>
          </a:p>
        </p:txBody>
      </p:sp>
      <p:sp>
        <p:nvSpPr>
          <p:cNvPr id="5755592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94068" y="1210214"/>
            <a:ext cx="11620618" cy="598271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4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Upload your the respective program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Wait for "Upload Complete" message</a:t>
            </a:r>
            <a:endParaRPr sz="28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Disconnect USB cable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400" b="1" i="1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ON (  motor driver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8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Battery ON/OFF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 for batter power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Monitor the Robot car-3 Movements &amp; OLED , Monitior the functionality according to the program</a:t>
            </a:r>
            <a:endParaRPr sz="24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</p:txBody>
      </p:sp>
      <p:pic>
        <p:nvPicPr>
          <p:cNvPr id="133957196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sp>
        <p:nvSpPr>
          <p:cNvPr id="1573483869" name=""/>
          <p:cNvSpPr txBox="1"/>
          <p:nvPr/>
        </p:nvSpPr>
        <p:spPr bwMode="auto">
          <a:xfrm flipH="0" flipV="0">
            <a:off x="6004378" y="3246120"/>
            <a:ext cx="183240" cy="36575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  <p:sp>
        <p:nvSpPr>
          <p:cNvPr id="1874613918" name=""/>
          <p:cNvSpPr txBox="1"/>
          <p:nvPr/>
        </p:nvSpPr>
        <p:spPr bwMode="auto">
          <a:xfrm flipH="0" flipV="0">
            <a:off x="495643" y="6493988"/>
            <a:ext cx="2862434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Lesson Code – GitHub URL:</a:t>
            </a:r>
            <a:endParaRPr/>
          </a:p>
        </p:txBody>
      </p:sp>
      <p:sp>
        <p:nvSpPr>
          <p:cNvPr id="258553512" name=""/>
          <p:cNvSpPr txBox="1"/>
          <p:nvPr/>
        </p:nvSpPr>
        <p:spPr bwMode="auto">
          <a:xfrm flipH="0" flipV="0">
            <a:off x="4351745" y="6173767"/>
            <a:ext cx="72760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>
                <a:solidFill>
                  <a:schemeClr val="bg1"/>
                </a:solidFill>
              </a:rPr>
              <a:t>https://github.com/info-zas/zas-robotics-car-3-encoders-imu-gps/tree/main/01_FoundationProjects/10_Car-3_Sine_Trajectory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5818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8198" y="365124"/>
            <a:ext cx="10515600" cy="2536884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124944152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  <a:p>
            <a:pPr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Invite Questions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: Encourage the audience to ask questions for further clarification or discussion.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lang="en-GB">
              <a:solidFill>
                <a:schemeClr val="bg1"/>
              </a:solidFill>
            </a:endParaRPr>
          </a:p>
        </p:txBody>
      </p:sp>
      <p:pic>
        <p:nvPicPr>
          <p:cNvPr id="56192239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24</Slides>
  <Notes>24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17</cp:revision>
  <dcterms:created xsi:type="dcterms:W3CDTF">2025-11-29T15:09:33Z</dcterms:created>
  <dcterms:modified xsi:type="dcterms:W3CDTF">2026-01-17T17:39:39Z</dcterms:modified>
</cp:coreProperties>
</file>