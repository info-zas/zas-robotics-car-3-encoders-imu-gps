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notesSlides/notesSlide19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07054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8006594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4116491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92110928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4799234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22297030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37084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1065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31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0246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7872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673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040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4256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2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403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19242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903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D98CCE-FE2C-5CA1-EAE1-2C238298F207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021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5804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1341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008127-2428-34D8-A16B-C4CCA32AFAF9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7502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033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142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C92967-D3B8-3593-3002-C9C2CD98AF3F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51295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8484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1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A1F989-E042-9C57-84DB-46BEDD8C295E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3789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617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3574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92CDA7-F30E-01A4-8D9E-8DD6CF3E8B7C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4904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095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355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29C0BF-D5C8-4209-972E-D3A8C8BFF8B3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886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5103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0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D4A0DB-7BA5-FE0E-8545-FD5BAC9C800B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6323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7851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532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BD2B82-E452-9945-0478-D5B027D87ACE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9739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3308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832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1F02C7-66EF-9298-1637-34F11E67DF66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7866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4427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3153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97D102-083D-4227-7887-7586DD412EB6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25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7137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98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08EA2D-6B47-7419-5E9D-09CACAFCA9BE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0652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280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8994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98B37C-71D4-B5E4-1529-50BBDA733E75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9167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71639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341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3F3C90-E6E5-3CAC-9DF6-C786B42DCDC7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7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6283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410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ACBD03-6531-1035-48C0-B10690455162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157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7930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667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1B827A-A340-72F5-3CC1-2751C20721E2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310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92783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58742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C99DED-E246-C65E-8EA2-A5241D0A683D}" type="slidenum">
              <a:rPr/>
              <a:t/>
            </a:fld>
            <a:endParaRPr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61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1267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992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CE2C0D-6683-D3E1-FABE-9E0749403957}" type="slidenum">
              <a:rPr/>
              <a:t/>
            </a:fld>
            <a:endParaRPr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4977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65411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80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4D1FE8-A3A0-A1F5-7A90-3F800231A06B}" type="slidenum">
              <a:rPr/>
              <a:t/>
            </a:fld>
            <a:endParaRPr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1137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7502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29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4073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2069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5885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13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954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38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147834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7428091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916763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178373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632163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6229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341256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899666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971411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050287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02581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31709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22748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78367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369687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4932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912034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507483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670541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14647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08775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34430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22868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86127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6542305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7979143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2289170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4654012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99013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1687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7194682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7188678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03898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21396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2691711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282921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72061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7059154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000527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52664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329419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85362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3610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1359880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7493373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0907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947862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506014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1143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0826842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318220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385297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682835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61415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1480118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345361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346933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212500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34824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97181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548029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6557099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5614345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163504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82278763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602036"/>
            <a:ext cx="9144000" cy="27219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0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Using Encoder Odometry &amp; Pure Pursuit Steering</a:t>
            </a:r>
            <a:r>
              <a:rPr lang="en-US"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83205896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72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7" y="42546"/>
            <a:ext cx="10515600" cy="11324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/>
          </a:p>
        </p:txBody>
      </p:sp>
      <p:sp>
        <p:nvSpPr>
          <p:cNvPr id="172089682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Experiment Objective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Objective of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goal of this experiment is to: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Make the robot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 a predefined curved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feedback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estimate robot position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adjust steering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Demonstrate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trajectory tracking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not just motion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914400" lvl="2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experiment answers: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“How does a robot follow a path, not just move?”</a:t>
            </a:r>
            <a:endParaRPr/>
          </a:p>
        </p:txBody>
      </p:sp>
      <p:pic>
        <p:nvPicPr>
          <p:cNvPr id="110261036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06591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/>
          </a:p>
        </p:txBody>
      </p:sp>
      <p:sp>
        <p:nvSpPr>
          <p:cNvPr id="10926933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Car-3 -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03091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146674425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6121" y="1554661"/>
            <a:ext cx="4557756" cy="5014917"/>
          </a:xfrm>
          <a:prstGeom prst="rect">
            <a:avLst/>
          </a:prstGeom>
        </p:spPr>
      </p:pic>
      <p:sp>
        <p:nvSpPr>
          <p:cNvPr id="891797594" name=""/>
          <p:cNvSpPr/>
          <p:nvPr/>
        </p:nvSpPr>
        <p:spPr bwMode="auto">
          <a:xfrm flipH="0" flipV="0">
            <a:off x="3819812" y="3302593"/>
            <a:ext cx="2020724" cy="195841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702126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40537" y="1495513"/>
            <a:ext cx="5287710" cy="5127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12135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5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07414175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Prerequisites (What Students Should Know)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this experiment, students should understand: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motor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Incremental encoders (ticks)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trigonometry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Cartesian coordinates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Differential drive concept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lab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builds on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earlier straight-line and distance-control experiments.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2687977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96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94140555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After This Experiment, Students Can: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 trajectory tracking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encoders for localization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Implement pure pursuit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Connect math with real robot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Explain how autonomy is built step-by-step</a:t>
            </a:r>
            <a:endParaRPr/>
          </a:p>
        </p:txBody>
      </p:sp>
      <p:pic>
        <p:nvPicPr>
          <p:cNvPr id="110278456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875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5802148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Is New in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Learning Upgrade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Earlier experiments taught: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Go forward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Stop at distance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Turn left / right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teaches: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 a continuous curve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 smoothly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 motion in real time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This is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entry point to autonomous navigation</a:t>
            </a:r>
            <a:endParaRPr/>
          </a:p>
        </p:txBody>
      </p:sp>
      <p:pic>
        <p:nvPicPr>
          <p:cNvPr id="20548137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46196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5565151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This Experiment Matters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Trajectory Tracking Is Important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move straight using simple logic.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But real autonomy requires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trajectory tracking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Following a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planned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Adjusting steering continuously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Estimating position using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Correcting errors during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teaches the transition: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From </a:t>
            </a:r>
            <a:r>
              <a:rPr sz="24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motion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to </a:t>
            </a:r>
            <a:r>
              <a:rPr sz="24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path-following control</a:t>
            </a:r>
            <a:endParaRPr/>
          </a:p>
        </p:txBody>
      </p:sp>
      <p:pic>
        <p:nvPicPr>
          <p:cNvPr id="206244753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6697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40832032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Definition (Mathematical Model)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Reference Path: Sine Wave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desired path is defined as: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amplitude (sideways swing)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λ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wavelength (distance per cycle)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 sine path is smooth, continuous, and ideal for learning steering control.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681644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15847270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5366044" y="2412406"/>
            <a:ext cx="2600325" cy="9429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7347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5051992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Coordinate System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Pose Definition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robot state is represented as: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forward position (meters)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sideways position (meters)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θ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heading angle (radians)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is called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pose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The robot estimates its pose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odometry</a:t>
            </a:r>
            <a:endParaRPr/>
          </a:p>
        </p:txBody>
      </p:sp>
      <p:pic>
        <p:nvPicPr>
          <p:cNvPr id="2228539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88814297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594394" y="4424228"/>
            <a:ext cx="1771650" cy="571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5628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973455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Role in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Encoders Are Critical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provide: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Wheel rotation → distance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vs right difference → turning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 feedback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enable: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Position estimation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Heading estimation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Closed-loop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Without encoders, the robot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blind</a:t>
            </a:r>
            <a:endParaRPr/>
          </a:p>
        </p:txBody>
      </p:sp>
      <p:pic>
        <p:nvPicPr>
          <p:cNvPr id="4119672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1583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2892672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Distance From Encoder Ticks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Calculation Formula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 code:</a:t>
            </a:r>
            <a:endParaRPr/>
          </a:p>
        </p:txBody>
      </p:sp>
      <p:pic>
        <p:nvPicPr>
          <p:cNvPr id="22790408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75639190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851588" y="2261074"/>
            <a:ext cx="3609974" cy="438149"/>
          </a:xfrm>
          <a:prstGeom prst="rect">
            <a:avLst/>
          </a:prstGeom>
        </p:spPr>
      </p:pic>
      <p:pic>
        <p:nvPicPr>
          <p:cNvPr id="58440189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51588" y="3169065"/>
            <a:ext cx="3905249" cy="790574"/>
          </a:xfrm>
          <a:prstGeom prst="rect">
            <a:avLst/>
          </a:prstGeom>
        </p:spPr>
      </p:pic>
      <p:sp>
        <p:nvSpPr>
          <p:cNvPr id="920034930" name=""/>
          <p:cNvSpPr/>
          <p:nvPr/>
        </p:nvSpPr>
        <p:spPr bwMode="auto">
          <a:xfrm flipH="0" flipV="0">
            <a:off x="616132" y="4432489"/>
            <a:ext cx="7050007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Converts raw pulses into real-world motion.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18001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838512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Update Equations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Pose Update Model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Pose update: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classical differential drive odometry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209237454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98802622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541875" y="2243270"/>
            <a:ext cx="2124074" cy="1581149"/>
          </a:xfrm>
          <a:prstGeom prst="rect">
            <a:avLst/>
          </a:prstGeom>
        </p:spPr>
      </p:pic>
      <p:pic>
        <p:nvPicPr>
          <p:cNvPr id="106460855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541875" y="4593364"/>
            <a:ext cx="1971675" cy="8477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2904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2676508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Steering Problem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Core Question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At every moment, the robot must decide: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much should I turn?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or right?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strongly?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is solved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Control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Concept (Intuition)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Explained Simply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 ahead a short distance on the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Aim the robot toward that point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repeat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Like a human walking while looking a few steps ahea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d.</a:t>
            </a:r>
            <a:endParaRPr/>
          </a:p>
        </p:txBody>
      </p:sp>
      <p:pic>
        <p:nvPicPr>
          <p:cNvPr id="93972157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8923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3190659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Lookahead Point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Lookahead Geometry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Where: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 lookahead distance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lookahead smooths steering and prevents oscillation.</a:t>
            </a:r>
            <a:endParaRPr sz="24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Heading Error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Steering Error Calculation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400"/>
          </a:p>
          <a:p>
            <a:pPr>
              <a:defRPr/>
            </a:pPr>
            <a:endParaRPr sz="2400"/>
          </a:p>
          <a:p>
            <a:pPr marL="0" indent="0">
              <a:buFont typeface="Arial"/>
              <a:buNone/>
              <a:defRPr/>
            </a:pPr>
            <a:endParaRPr sz="2400"/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📌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This error drives steering correction.</a:t>
            </a:r>
            <a:endParaRPr/>
          </a:p>
        </p:txBody>
      </p:sp>
      <p:pic>
        <p:nvPicPr>
          <p:cNvPr id="109993590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03535020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059252" y="1860490"/>
            <a:ext cx="1466849" cy="1066799"/>
          </a:xfrm>
          <a:prstGeom prst="rect">
            <a:avLst/>
          </a:prstGeom>
        </p:spPr>
      </p:pic>
      <p:pic>
        <p:nvPicPr>
          <p:cNvPr id="99271228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059252" y="4753598"/>
            <a:ext cx="2876549" cy="1476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2873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319675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From Error to Motor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Differential PWM Steering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Larger error → stronger turn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Smaller error → gentle correction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This is continuous steering control.</a:t>
            </a:r>
            <a:endParaRPr/>
          </a:p>
        </p:txBody>
      </p:sp>
      <p:pic>
        <p:nvPicPr>
          <p:cNvPr id="8461675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202601989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501425" y="2320360"/>
            <a:ext cx="2800349" cy="11620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84857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958585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Algorithm (Step-by-Step)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Overall Algorithm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Read encoder ticks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Update odometry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θ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reference path value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Find lookahead target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heading 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 PWM differentially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Repeat until target distance</a:t>
            </a:r>
            <a:endParaRPr/>
          </a:p>
        </p:txBody>
      </p:sp>
      <p:pic>
        <p:nvPicPr>
          <p:cNvPr id="1439066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4494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8914190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Flowchart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28085734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54146118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448013" y="1477708"/>
            <a:ext cx="2647949" cy="5002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5309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94009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Code Highlights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Sections to Study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interrupts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update function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reference function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steering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saturation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Students should trace data flow, not memorize code.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11433398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4539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37274954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Applications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 This Is Used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Lane keeping in autonomous cars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AGV navigation in factories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Delivery robots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Mobile robot research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Robotics competitions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Same principles scale to high-end robots.</a:t>
            </a:r>
            <a:endParaRPr/>
          </a:p>
        </p:txBody>
      </p:sp>
      <p:pic>
        <p:nvPicPr>
          <p:cNvPr id="13275401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60148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5563081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Takeaway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Big Picture Message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Straight motion is a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skill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tracking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turn motion into information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turns information into intelligence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is the bridge from motion to navigation</a:t>
            </a:r>
            <a:endParaRPr/>
          </a:p>
        </p:txBody>
      </p:sp>
      <p:pic>
        <p:nvPicPr>
          <p:cNvPr id="10252474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3141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06165" y="-1976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6307415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175045"/>
            <a:ext cx="11023516" cy="551915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Terms</a:t>
            </a:r>
            <a:endParaRPr/>
          </a:p>
        </p:txBody>
      </p:sp>
      <p:pic>
        <p:nvPicPr>
          <p:cNvPr id="201685814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graphicFrame>
        <p:nvGraphicFramePr>
          <p:cNvPr id="649575991" name=""/>
          <p:cNvGraphicFramePr>
            <a:graphicFrameLocks xmlns:a="http://schemas.openxmlformats.org/drawingml/2006/main"/>
          </p:cNvGraphicFramePr>
          <p:nvPr/>
        </p:nvGraphicFramePr>
        <p:xfrm>
          <a:off x="2000566" y="920246"/>
          <a:ext cx="8989602" cy="577395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880000"/>
                <a:gridCol w="6096902"/>
              </a:tblGrid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5275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Tick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One digital pulse generated by the 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(Incremental)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that outputs ticks proportional to shaft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PPR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Number of ticks per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shaft revolution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Gear Ratio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Ratio of motor rotations to one wheel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ΔTicks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Change in encoder ticks between two measurements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dt (Sampling Time)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Time interval between two control updates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speed computed as Δticks / dt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Target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Desired wheel speed set by the program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Difference between target speed and 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KP (Proportional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current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KI (Integral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accumulated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Integral 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Sum of error over time (controller memory)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863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(Pulse Width Modulation)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Method to control motor voltage/speed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Loop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Repeating cycle of measure → compute → act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Closed-Loop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system using feedback from sensors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Feedback control using Proportional + Integral terms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450292" name="Title 1"/>
          <p:cNvSpPr>
            <a:spLocks noGrp="1"/>
          </p:cNvSpPr>
          <p:nvPr>
            <p:ph type="title"/>
          </p:nvPr>
        </p:nvSpPr>
        <p:spPr bwMode="auto">
          <a:xfrm>
            <a:off x="197113" y="156098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8292364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7113" y="153068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6871181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795196045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27425510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126493" y="3479257"/>
            <a:ext cx="2545290" cy="2800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508960" name="Title 1"/>
          <p:cNvSpPr>
            <a:spLocks noGrp="1"/>
          </p:cNvSpPr>
          <p:nvPr>
            <p:ph type="title"/>
          </p:nvPr>
        </p:nvSpPr>
        <p:spPr bwMode="auto">
          <a:xfrm>
            <a:off x="295033" y="4254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5751180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8" y="1210214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37569866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2046003631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341695195" name=""/>
          <p:cNvSpPr txBox="1"/>
          <p:nvPr/>
        </p:nvSpPr>
        <p:spPr bwMode="auto">
          <a:xfrm flipH="0" flipV="0">
            <a:off x="495643" y="6493988"/>
            <a:ext cx="2862434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Lesson Code – GitHub URL:</a:t>
            </a:r>
            <a:endParaRPr/>
          </a:p>
        </p:txBody>
      </p:sp>
      <p:sp>
        <p:nvSpPr>
          <p:cNvPr id="258553512" name=""/>
          <p:cNvSpPr txBox="1"/>
          <p:nvPr/>
        </p:nvSpPr>
        <p:spPr bwMode="auto">
          <a:xfrm flipH="0" flipV="0">
            <a:off x="4351745" y="6173767"/>
            <a:ext cx="72760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https://github.com/info-zas/zas-robotics-car-3-encoders-imu-gps/tree/main/01_FoundationProjects/10_Car-3_Sine_Trajectory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68843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201470103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142059705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17</cp:revision>
  <dcterms:created xsi:type="dcterms:W3CDTF">2025-11-29T15:09:33Z</dcterms:created>
  <dcterms:modified xsi:type="dcterms:W3CDTF">2026-01-17T17:01:46Z</dcterms:modified>
</cp:coreProperties>
</file>